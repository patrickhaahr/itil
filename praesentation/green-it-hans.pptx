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62" r:id="rId13"/>
    <p:sldId id="257" r:id="rId3"/>
    <p:sldId id="258" r:id="rId4"/>
    <p:sldId id="259" r:id="rId5"/>
    <p:sldId id="260" r:id="rId6"/>
    <p:sldId id="261" r:id="rId7"/>
    <p:sldId id="263" r:id="rId14"/>
    <p:sldId id="264" r:id="rId15"/>
    <p:sldId id="265" r:id="rId16"/>
    <p:sldId id="267" r:id="rId18"/>
    <p:sldId id="268" r:id="rId19"/>
    <p:sldId id="269" r:id="rId20"/>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Hans" id="{9979F881-F290-48C7-876F-30C98D1FEE6C}">
          <p14:sldIdLst>
            <p14:sldId id="256"/>
            <p14:sldId id="257"/>
            <p14:sldId id="258"/>
            <p14:sldId id="259"/>
            <p14:sldId id="260"/>
            <p14:sldId id="261"/>
          </p14:sldIdLst>
        </p14:section>
        <p14:section name="Patrick" id="{488D5A4F-A891-423E-90C7-55FAAB2ECB93}">
          <p14:sldIdLst>
            <p14:sldId id="262"/>
            <p14:sldId id="263"/>
            <p14:sldId id="264"/>
            <p14:sldId id="265"/>
            <p14:sldId id="267"/>
            <p14:sldId id="268"/>
            <p14:sldId id="269"/>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Jeg har opgave 3, 4 og 5. Først Service Value Chain, så incident og problem management, og til sidst de fire dimensioner.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Så hvad er en Service Value Chain? Det er de seks aktiviteter, der omdanner efterspørgsel og muligheder til værdi. De hedder plan, improve, engage, design og transition, obtain og build, og deliver og support.
 Det vigtige er, at aktiviteterne ikke er afdelinger. Engage sker fx både i salg og på de nye kontorer. Og fordi Green-IT er spredt ud på byen, fabrikken og snart Jylland, foreslår vi, at hver aktivitet får én ansvarlig. Så ryger der ikke opgaver ned mellem stederne.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at gøre det konkret har vi i opgaven et eksempel med en svineproducent, der vil have staldovervågning. Først finder sælgeren ud af, hvad landmanden skal bruge. Det er engage. Så tilpasser R&amp;D løsningen, og det er design og transition. Fabrikken laver sensorerne, det er obtain og build. Derefter bliver løsningen testet og overdraget til drift, og det er design og transition igen. Værkstedet installerer, det er deliver og support. Efter en måned følger sælgeren op, så er vi i engage igen. Og det, vi lærer, gør det hurtigere næste gang. Det er improve.
 Pointen med eksemplet er, at det ikke er et samlebånd. Engage og design bruges to gange, og plan bruges slet ikke, fordi man bruger aktiviteterne efter behov. En sensorfejl kan fx gå direkte fra engage til deliver og support.
 Og hver aktivitet bidrager til værdien. I engage skaber vi værdien sammen med landmanden. Design og transition tester, før noget kommer i drift, og det beskytter den stabile drift. I deliver og support mærker kunden værdien hver dag. Og improve sørger for, at fejl bliver til forbedringer.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 leder os over til opgave 4, for hvad gør man, når noget alligevel går galt? Det er incident management. En incident er en uplanlagt afbrydelse eller forringelse af en service, altså når noget går ned eller virker dårligere. Formålet er at få det op at køre igen hurtigst muligt. Incident management finder ikke årsagen. Det gør problem management, som jeg kommer til bagefter.
 Processen har fem trin: registrer, prioriter, diagnosticer, eskaler, og løs og luk. Prioriteten sættes ud fra, hvor slemt det er, og hvor meget det haster, og den bestemmer, hvor hurtigt det skal løses ifølge SLA'en. Hvis servicedesken ikke selv kan løse det, eskalerer de. L1 er servicedesken, L2 er specialisterne, og L3 er udviklerne i R&amp;D. For Green-IT er det vigtigt, at landmanden kun ringer ét sted hen, nemlig servicedesken, og at et fælles ticketsystem gør, at alle tre steder ser de samme sager.
 Vores eksempel er en kvægstald en sommernat, hvor sensorerne holder op med at sende data. Det er prioritet 1, fordi dyrene kan tage skade. L2 finder fejlen i gatewayen, altså boksen, der sender data videre, og en tekniker kører ud med en ny. Imens tjekker landmanden selv dyrene. Det er workarounden, en midlertidig løsning. Og hvis det rammer mange stalde på én gang, er det en major incident, som får sin egen leder.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 hvis den samme fejl bliver ved med at komme, er det ikke nok bare at genstarte. Så skal vi bruge problem management. Et problem er årsagen, eller den mulige årsag, til en eller flere incidents, og problem management finder den, så det ikke sker igen.
 Det sker i tre faser. Først problem identification, hvor vi finder problemet. Det kan være i incidents, der kommer igen, efter en major incident, eller før, fx fra R&amp;D's tests. Så problem control, hvor vi finder root cause, altså grundårsagen, og laver en workaround. Når vi kender årsagen, men ikke har løst den, hedder det en known error. Og til sidst error control, hvor den rigtige løsning skal igennem change control, før den kommer ud.
 Eksemplet i opgaven er en firmwareopdatering. Bagefter mister sensorerne på dyr på friland forbindelsen om natten, og det sker hos 15 kunder. Servicedesken genstarter gatewayen hver gang, men de ser mønstret og opretter et problem. R&amp;D finder så årsagen: firmwaren går i strømsparetilstand og vågner ikke ved svagt signal. Workarounden er at slå strømspar fra, og fejlen bliver registreret som en known error, så alle bruger den samme workaround. Den rettede firmware kommer så ud via change control.
 Så hvordan hænger de to sammen? Incident management får servicen op igen, og problem management fjerner årsagen. En incident kan godt lukkes, selvom problemet stadig er åbent. Og når servicedesken kender en known error, kan de løse den næste incident hurtigere.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Til sidst opgave 5, de fire dimensioner. De handler om, at det ikke er nok at have gode processer, for en service skal ses fra fire sider. Glemmer man én, går det galt. Og udenom ligger der ting udefra, som påvirker dem alle. Det hedder PESTLE, og for Green-IT er det fx GDPR, NIS2 og krav om bæredygtighed.
 Den første er organisationer og mennesker. Her er Green-ITs udfordring, at R&amp;D sidder i byen og salg sidder på fabrikken. Så kan der nemt opstå en os og dem-kultur, hvor man ikke taler sammen. Derfor skal Green-IT have klare roller og en kultur, hvor man tør sige det tidligt, når noget går galt.
 Den anden er information og teknologi. Sensordata er kernen i Green-ITs services, så det skal være klart, at landmanden ejer sine data, og at persondata er omfattet af GDPR. Og teknologien skal kunne vokse med, når de nye kontorer kommer.
 Den tredje er partnere og leverandører, fx hosting, sensorleverandører og teleselskaber. Green-IT er afhængig af dem, for når de er nede, er Green-IT også nede. Derfor skal de vigtigste dele have failover, altså en backup, der tager over.
 Den fjerde er værdistrømme og processer. Den hænger sammen med value chain fra opgave 3. Værdistrømmen går på tværs af fabrikken og byen, og det er, når sagerne skal fra det ene sted til det andet, at de ligger og venter. Faste processer sørger for, at alle steder arbejder på samme måde.
Og det var så min del. Så vil jeg give ordet videre til Patrick.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Green-IT begyndte som et smedefirma og leverer nu IT-baseret overvågning af stalde, dyr på friland og kornafgrøder. Produktion og R&amp;D ligger forskellige steder. Virksomheden overvejer også salgskontorer og værksteder i to til tre jyske byer.</a:t>
            </a:r>
          </a:p>
          <a:p>
            <a:r>
              <a:t>Flere lokationer gør koordineringen sværere. Green-IT mangler standardiserede ITSM-processer, som medarbejderne kan følge på alle lokationer.</a:t>
            </a:r>
          </a:p>
          <a:p>
            <a:r>
              <a:t>I rapporten analyserer vi, hvordan ITIL kan hjælpe Green-IT med at forbedre driften. Min del er indledningen, Change Control, Configuration Management, de syv vejledende principper og afslutningen.</a:t>
            </a:r>
          </a:p>
          <a:p>
            <a:r>
              <a:t>Casen beskriver ikke den nuværende IT-drift i detaljer. Eksemplerne er derfor vores forslag til Green-IT.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change er at tilføje, ændre eller fjerne noget, der kan påvirke en service. Change Control skal øge sandsynligheden for, at ændringen lykkes. Green-IT vurderer risikoen, får den nødvendige godkendelse og planlægger tidspunktet.</a:t>
            </a:r>
          </a:p>
          <a:p>
            <a:r>
              <a:t>Der er tre typer. Standard changes har lav risiko og et velkendt forløb, så de kan være godkendt på forhånd. I rapporten er eksemplet at oprette en ny landmand i appen. En ny firmwareversion er en normal change. Den skal vurderes af en change authority, altså den rolle eller gruppe, der må godkende ændringen. Niveauet afhænger af risikoen. En emergency change haster, fx en akut sikkerhedsrettelse. Hurtig behandling betyder stadig, at den skal godkendes.</a:t>
            </a:r>
          </a:p>
          <a:p>
            <a:r>
              <a:t>Den fælles change schedule sikrer, at ændringer ikke kolliderer eller rammer på tidspunkter, hvor kunderne især har brug for servicen. Processen skal være enkel nok til, at nødvendige rettelser faktisk kommer ud.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mit Change Control-afsnit foreslår jeg, at R&amp;D udruller ny sensorfirmware til få kunder først og derefter til resten. En fejl i opdateringen rammer så færre stalde.</a:t>
            </a:r>
          </a:p>
          <a:p>
            <a:r>
              <a:t>Green-IT vurderer risikoen og finder de berørte kunder før ændringen. Den relevante change authority godkender ændringen, og driften aftaler tidspunktet. Test og en plan for tilbagerulning skal være klar før udrulningen.</a:t>
            </a:r>
          </a:p>
          <a:p>
            <a:r>
              <a:t>Diagrammet viser en test, en udrulning til få kunder og derefter en udrulning til alle kunder. Pilen tilbage viser, at driften skal kunne rulle ændringen tilbage, hvis den fejler.</a:t>
            </a:r>
          </a:p>
          <a:p>
            <a:r>
              <a:t>De nye jyske kontorer kræver også ændringer. Netværk, adgang til ticketsystemet og forbindelse til hostingudbyderen skal sættes op som normale changes med test og tilbagerulning. De planlægges uden for de tidspunkter, hvor kunderne er mest afhængige af servicen.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Configuration Management handler om korrekt og pålidelig information om en service og de dele, den består af. Delene kaldes configuration items, eller CI'er. Det kan være hardware, software, dokumentation eller aftaler. CMDB'en er den database, hvor Green-IT samler oplysningerne.</a:t>
            </a:r>
          </a:p>
          <a:p>
            <a:r>
              <a:t>Det vigtigste er relationerne. Diagrammet viser sensoren, gatewayen, platformen og landmanden. Forbindelserne viser, hvordan delene afhænger af hinanden. De stiplede linjer samler oplysningerne i CMDB'en. Teleselskabet og firmwareversionen skal også registreres, selv om de ikke har deres egen figur på sliden. I rapporten foreslår vi at registrere sensorer, gateways, firmwareversioner, SIM-kort, teleselskab og kundens SLA.</a:t>
            </a:r>
          </a:p>
          <a:p>
            <a:r>
              <a:t>Ved en incident kan servicedesken se, hvilke kunder der er berørt. Problem Management kan finde fælles træk, fx samme firmwareversion. Før en ændring kan Change Control se, hvad ændringen påvirker.</a:t>
            </a:r>
          </a:p>
          <a:p>
            <a:r>
              <a:t>En CMDB skaber kun værdi, hvis oplysningerne er til at stole på. Derfor skal den opdateres efter ændringer og kontrolleres løbende, gerne med automatiske opdateringer, hvor det giver mening.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ITIL har syv vejledende principper. De er ikke en proces, vi følger i rækkefølge. De hjælper os med at træffe beslutninger i alle practices.</a:t>
            </a:r>
          </a:p>
          <a:p>
            <a:r>
              <a:t>Først fokus på værdi: for Green-IT er en ny funktion kun værdifuld, hvis landmanden fx får bedre dyrevelfærd eller mindre spild.</a:t>
            </a:r>
          </a:p>
          <a:p>
            <a:r>
              <a:t>Start hvor du er betyder, at vi undersøger, hvad der allerede virker. De nye kontorer bør bygge videre på de gode processer og det fælles ticketsystem.</a:t>
            </a:r>
          </a:p>
          <a:p>
            <a:r>
              <a:t>På sliden står der små skridt med feedback. Det er princippet om at gøre fremskridt iterativt med feedback. I rapporten foreslår vi ét jysk kontor først og derefter de næste. Det samme princip ses i den gradvise firmwareudrulning.</a:t>
            </a:r>
          </a:p>
          <a:p>
            <a:r>
              <a:t>Samarbejd og frem synlighed betyder, at R&amp;D, salg og drift deler viden. Et fælles ticketsystem og en CMDB gør kundernes fejl og systemernes tilstand synlig for alle, så der bliver mindre dobbeltarbejde.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 femte princip er at tænke og arbejde helhedsorienteret. En sensoropdatering kan påvirke netværket, appen og supporten. Vi skal se på hele servicen og de fire dimensioner, som Hans gennemgik.</a:t>
            </a:r>
          </a:p>
          <a:p>
            <a:r>
              <a:t>Det sjette er at holde det simpelt og praktisk. En proces skal have de trin, der hjælper os med at nå resultatet. Hvis hver lille ændring kræver et nyt møde, bliver processen for tung. Kendte ændringer med lav risiko kan i stedet være standard changes.</a:t>
            </a:r>
          </a:p>
          <a:p>
            <a:r>
              <a:t>På sliden står der optimér før du automatiserer. ITIL kalder princippet optimér og automatisér. Rækkefølgen er vigtig. Først fjerner vi spild og sikrer, at processen virker. Derefter automatiserer vi. Green-IT kan fx lade sensoralarmer oprette tickets automatisk, når incident-processen og prioriteringen er på plads.</a:t>
            </a:r>
          </a:p>
          <a:p>
            <a:r>
              <a:t>Principperne støtter hinanden: små skridt gør det lettere at få feedback, bevare fokus på kundens værdi og holde løsningen enkel.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Green-ITs services skaber værdi, når landmanden får sundere dyr og mindre spild. Det kræver stabil drift, også på de nye kontorer.</a:t>
            </a:r>
          </a:p>
          <a:p>
            <a:r>
              <a:t>I afslutningen anbefaler vi klare SLA'er, et fælles ticketsystem og en CMDB. Medarbejderne skal kende kundens aftale, kunne se de samme supportsager og finde oplysninger om kundens udstyr.</a:t>
            </a:r>
          </a:p>
          <a:p>
            <a:r>
              <a:t>Incident Management, Problem Management og Change Control skal kobles sammen, så fejl ikke gentager sig. Det er en samlet anbefaling i afslutningen.</a:t>
            </a:r>
          </a:p>
          <a:p>
            <a:r>
              <a:t>Green-IT bør indføre ændringerne trinvist, for eksempel ét jysk kontor ad gangen. Erfaringerne fra det første kontor kan bruges på de næste.</a:t>
            </a:r>
          </a:p>
          <a:p>
            <a:r>
              <a:t>Virksomheden skal samtidig tage højde for alle fire dimensioner. Anbefalingerne skal hjælpe landmanden med at få den værdi, som overvågningen skal levere.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221A"/>
        </a:solidFill>
      </p:bgPr>
    </p:bg>
    <p:spTree>
      <p:nvGrpSpPr>
        <p:cNvPr id="1" name=""/>
        <p:cNvGrpSpPr/>
        <p:nvPr/>
      </p:nvGrpSpPr>
      <p:grpSpPr>
        <a:xfrm>
          <a:off x="0" y="0"/>
          <a:ext cx="0" cy="0"/>
          <a:chOff x="0" y="0"/>
          <a:chExt cx="0" cy="0"/>
        </a:xfrm>
      </p:grpSpPr>
      <p:sp>
        <p:nvSpPr>
          <p:cNvPr id="3" name="Text 0"/>
          <p:cNvSpPr txBox="1"/>
          <p:nvPr/>
        </p:nvSpPr>
        <p:spPr>
          <a:xfrm>
            <a:off x="685800" y="1188720"/>
            <a:ext cx="6400800" cy="274320"/>
          </a:xfrm>
          <a:prstGeom prst="rect">
            <a:avLst/>
          </a:prstGeom>
          <a:noFill/>
          <a:ln/>
        </p:spPr>
        <p:txBody>
          <a:bodyPr wrap="square" lIns="0" tIns="0" rIns="0" bIns="0" rtlCol="0" anchor="t"/>
          <a:lstStyle/>
          <a:p>
            <a:pPr indent="0" marL="0">
              <a:buNone/>
            </a:pPr>
            <a:r>
              <a:rPr lang="en-US" sz="1200" b="1" spc="200" kern="0" dirty="0">
                <a:solidFill>
                  <a:srgbClr val="A9D3B0"/>
                </a:solidFill>
                <a:latin typeface="Courier New" pitchFamily="34" charset="0"/>
                <a:ea typeface="Courier New" pitchFamily="34" charset="-122"/>
                <a:cs typeface="Courier New" pitchFamily="34" charset="-120"/>
              </a:rPr>
              <a:t>ITSM 1  ·  GREEN-IT CASE</a:t>
            </a:r>
            <a:endParaRPr lang="en-US" sz="1200" dirty="0"/>
          </a:p>
        </p:txBody>
      </p:sp>
      <p:sp>
        <p:nvSpPr>
          <p:cNvPr id="4" name="Text 1"/>
          <p:cNvSpPr txBox="1"/>
          <p:nvPr/>
        </p:nvSpPr>
        <p:spPr>
          <a:xfrm>
            <a:off x="685800" y="1600200"/>
            <a:ext cx="7315200" cy="1645920"/>
          </a:xfrm>
          <a:prstGeom prst="rect">
            <a:avLst/>
          </a:prstGeom>
          <a:noFill/>
          <a:ln/>
        </p:spPr>
        <p:txBody>
          <a:bodyPr wrap="square" lIns="0" tIns="0" rIns="0" bIns="0" rtlCol="0" anchor="t"/>
          <a:lstStyle/>
          <a:p>
            <a:pPr indent="0" marL="0">
              <a:buNone/>
            </a:pPr>
            <a:r>
              <a:rPr lang="en-US" sz="4400" dirty="0">
                <a:solidFill>
                  <a:srgbClr val="F5F8F8"/>
                </a:solidFill>
                <a:latin typeface="Georgia" pitchFamily="34" charset="0"/>
                <a:ea typeface="Georgia" pitchFamily="34" charset="-122"/>
                <a:cs typeface="Georgia" pitchFamily="34" charset="-120"/>
              </a:rPr>
              <a:t>ITIL i praksis hos Green-IT</a:t>
            </a:r>
            <a:endParaRPr lang="en-US" sz="4400" dirty="0"/>
          </a:p>
        </p:txBody>
      </p:sp>
      <p:sp>
        <p:nvSpPr>
          <p:cNvPr id="5" name="Text 2"/>
          <p:cNvSpPr txBox="1"/>
          <p:nvPr/>
        </p:nvSpPr>
        <p:spPr>
          <a:xfrm>
            <a:off x="685800" y="5120640"/>
            <a:ext cx="6400800" cy="365760"/>
          </a:xfrm>
          <a:prstGeom prst="rect">
            <a:avLst/>
          </a:prstGeom>
          <a:noFill/>
          <a:ln/>
        </p:spPr>
        <p:txBody>
          <a:bodyPr wrap="square" lIns="0" tIns="0" rIns="0" bIns="0" rtlCol="0" anchor="t"/>
          <a:lstStyle/>
          <a:p>
            <a:pPr indent="0" marL="0">
              <a:buNone/>
            </a:pPr>
            <a:r>
              <a:rPr lang="en-US" sz="1800" dirty="0">
                <a:solidFill>
                  <a:srgbClr val="A9D3B0"/>
                </a:solidFill>
                <a:latin typeface="Arial" pitchFamily="34" charset="0"/>
                <a:ea typeface="Arial" pitchFamily="34" charset="-122"/>
                <a:cs typeface="Arial" pitchFamily="34" charset="-120"/>
              </a:rPr>
              <a:t>Hans Petur  ·  Patrick</a:t>
            </a:r>
            <a:endParaRPr lang="en-US" sz="1800" dirty="0"/>
          </a:p>
        </p:txBody>
      </p:sp>
      <p:sp>
        <p:nvSpPr>
          <p:cNvPr id="6" name="Shape 3"/>
          <p:cNvSpPr/>
          <p:nvPr/>
        </p:nvSpPr>
        <p:spPr>
          <a:xfrm>
            <a:off x="8412480" y="1371600"/>
            <a:ext cx="640080" cy="640080"/>
          </a:xfrm>
          <a:prstGeom prst="ellipse">
            <a:avLst/>
          </a:prstGeom>
          <a:solidFill>
            <a:srgbClr val="22302A"/>
          </a:solidFill>
          <a:ln w="12700">
            <a:solidFill>
              <a:srgbClr val="22302A"/>
            </a:solidFill>
            <a:prstDash val="solid"/>
          </a:ln>
        </p:spPr>
        <p:txBody>
          <a:bodyPr/>
          <a:p/>
        </p:txBody>
      </p:sp>
      <p:pic>
        <p:nvPicPr>
          <p:cNvPr id="7" name="Image 0" descr="preencoded.png">    </p:cNvPr>
          <p:cNvPicPr>
            <a:picLocks noChangeAspect="1"/>
          </p:cNvPicPr>
          <p:nvPr/>
        </p:nvPicPr>
        <p:blipFill>
          <a:blip r:embed="rId1"/>
          <a:stretch>
            <a:fillRect/>
          </a:stretch>
        </p:blipFill>
        <p:spPr>
          <a:xfrm>
            <a:off x="8566099" y="1525219"/>
            <a:ext cx="332842" cy="332842"/>
          </a:xfrm>
          <a:prstGeom prst="rect">
            <a:avLst/>
          </a:prstGeom>
        </p:spPr>
      </p:pic>
      <p:sp>
        <p:nvSpPr>
          <p:cNvPr id="8" name="Text 4"/>
          <p:cNvSpPr txBox="1"/>
          <p:nvPr/>
        </p:nvSpPr>
        <p:spPr>
          <a:xfrm>
            <a:off x="9235440" y="1371600"/>
            <a:ext cx="2560320" cy="274320"/>
          </a:xfrm>
          <a:prstGeom prst="rect">
            <a:avLst/>
          </a:prstGeom>
          <a:noFill/>
          <a:ln/>
        </p:spPr>
        <p:txBody>
          <a:bodyPr wrap="square" lIns="0" tIns="0" rIns="0" bIns="0" rtlCol="0" anchor="t"/>
          <a:lstStyle/>
          <a:p>
            <a:pPr indent="0" marL="0">
              <a:buNone/>
            </a:pPr>
            <a:r>
              <a:rPr lang="en-US" sz="1100" b="1" dirty="0">
                <a:solidFill>
                  <a:srgbClr val="A9D3B0"/>
                </a:solidFill>
                <a:latin typeface="Courier New" pitchFamily="34" charset="0"/>
                <a:ea typeface="Courier New" pitchFamily="34" charset="-122"/>
                <a:cs typeface="Courier New" pitchFamily="34" charset="-120"/>
              </a:rPr>
              <a:t>Opgave 3</a:t>
            </a:r>
            <a:endParaRPr lang="en-US" sz="1100" dirty="0"/>
          </a:p>
        </p:txBody>
      </p:sp>
      <p:sp>
        <p:nvSpPr>
          <p:cNvPr id="9" name="Text 5"/>
          <p:cNvSpPr txBox="1"/>
          <p:nvPr/>
        </p:nvSpPr>
        <p:spPr>
          <a:xfrm>
            <a:off x="9235440" y="1645920"/>
            <a:ext cx="2377440" cy="365760"/>
          </a:xfrm>
          <a:prstGeom prst="rect">
            <a:avLst/>
          </a:prstGeom>
          <a:noFill/>
          <a:ln/>
        </p:spPr>
        <p:txBody>
          <a:bodyPr wrap="square" lIns="0" tIns="0" rIns="0" bIns="0" rtlCol="0" anchor="t"/>
          <a:lstStyle/>
          <a:p>
            <a:pPr indent="0" marL="0">
              <a:buNone/>
            </a:pPr>
            <a:r>
              <a:rPr lang="en-US" sz="1700" dirty="0">
                <a:solidFill>
                  <a:srgbClr val="F5F8F8"/>
                </a:solidFill>
                <a:latin typeface="Arial" pitchFamily="34" charset="0"/>
                <a:ea typeface="Arial" pitchFamily="34" charset="-122"/>
                <a:cs typeface="Arial" pitchFamily="34" charset="-120"/>
              </a:rPr>
              <a:t>Service Value Chain</a:t>
            </a:r>
            <a:endParaRPr lang="en-US" sz="1700" dirty="0"/>
          </a:p>
        </p:txBody>
      </p:sp>
      <p:sp>
        <p:nvSpPr>
          <p:cNvPr id="10" name="Shape 6"/>
          <p:cNvSpPr/>
          <p:nvPr/>
        </p:nvSpPr>
        <p:spPr>
          <a:xfrm>
            <a:off x="8412480" y="2377440"/>
            <a:ext cx="640080" cy="640080"/>
          </a:xfrm>
          <a:prstGeom prst="ellipse">
            <a:avLst/>
          </a:prstGeom>
          <a:solidFill>
            <a:srgbClr val="22302A"/>
          </a:solidFill>
          <a:ln w="12700">
            <a:solidFill>
              <a:srgbClr val="22302A"/>
            </a:solidFill>
            <a:prstDash val="solid"/>
          </a:ln>
        </p:spPr>
        <p:txBody>
          <a:bodyPr/>
          <a:p/>
        </p:txBody>
      </p:sp>
      <p:pic>
        <p:nvPicPr>
          <p:cNvPr id="11" name="Image 1" descr="preencoded.png">    </p:cNvPr>
          <p:cNvPicPr>
            <a:picLocks noChangeAspect="1"/>
          </p:cNvPicPr>
          <p:nvPr/>
        </p:nvPicPr>
        <p:blipFill>
          <a:blip r:embed="rId2"/>
          <a:stretch>
            <a:fillRect/>
          </a:stretch>
        </p:blipFill>
        <p:spPr>
          <a:xfrm>
            <a:off x="8566099" y="2531059"/>
            <a:ext cx="332842" cy="332842"/>
          </a:xfrm>
          <a:prstGeom prst="rect">
            <a:avLst/>
          </a:prstGeom>
        </p:spPr>
      </p:pic>
      <p:sp>
        <p:nvSpPr>
          <p:cNvPr id="12" name="Text 7"/>
          <p:cNvSpPr txBox="1"/>
          <p:nvPr/>
        </p:nvSpPr>
        <p:spPr>
          <a:xfrm>
            <a:off x="9235440" y="2377440"/>
            <a:ext cx="2560320" cy="274320"/>
          </a:xfrm>
          <a:prstGeom prst="rect">
            <a:avLst/>
          </a:prstGeom>
          <a:noFill/>
          <a:ln/>
        </p:spPr>
        <p:txBody>
          <a:bodyPr wrap="square" lIns="0" tIns="0" rIns="0" bIns="0" rtlCol="0" anchor="t"/>
          <a:lstStyle/>
          <a:p>
            <a:pPr indent="0" marL="0">
              <a:buNone/>
            </a:pPr>
            <a:r>
              <a:rPr lang="en-US" sz="1100" b="1" dirty="0">
                <a:solidFill>
                  <a:srgbClr val="A9D3B0"/>
                </a:solidFill>
                <a:latin typeface="Courier New" pitchFamily="34" charset="0"/>
                <a:ea typeface="Courier New" pitchFamily="34" charset="-122"/>
                <a:cs typeface="Courier New" pitchFamily="34" charset="-120"/>
              </a:rPr>
              <a:t>Opgave 4</a:t>
            </a:r>
            <a:endParaRPr lang="en-US" sz="1100" dirty="0"/>
          </a:p>
        </p:txBody>
      </p:sp>
      <p:sp>
        <p:nvSpPr>
          <p:cNvPr id="13" name="Text 8"/>
          <p:cNvSpPr txBox="1"/>
          <p:nvPr/>
        </p:nvSpPr>
        <p:spPr>
          <a:xfrm>
            <a:off x="9235440" y="2651760"/>
            <a:ext cx="2377440" cy="365760"/>
          </a:xfrm>
          <a:prstGeom prst="rect">
            <a:avLst/>
          </a:prstGeom>
          <a:noFill/>
          <a:ln/>
        </p:spPr>
        <p:txBody>
          <a:bodyPr wrap="square" lIns="0" tIns="0" rIns="0" bIns="0" rtlCol="0" anchor="t"/>
          <a:lstStyle/>
          <a:p>
            <a:pPr indent="0" marL="0">
              <a:buNone/>
            </a:pPr>
            <a:r>
              <a:rPr lang="en-US" sz="1700" dirty="0">
                <a:solidFill>
                  <a:srgbClr val="F5F8F8"/>
                </a:solidFill>
                <a:latin typeface="Arial" pitchFamily="34" charset="0"/>
                <a:ea typeface="Arial" pitchFamily="34" charset="-122"/>
                <a:cs typeface="Arial" pitchFamily="34" charset="-120"/>
              </a:rPr>
              <a:t>Practices i praksis</a:t>
            </a:r>
            <a:endParaRPr lang="en-US" sz="1700" dirty="0"/>
          </a:p>
        </p:txBody>
      </p:sp>
      <p:sp>
        <p:nvSpPr>
          <p:cNvPr id="14" name="Shape 9"/>
          <p:cNvSpPr/>
          <p:nvPr/>
        </p:nvSpPr>
        <p:spPr>
          <a:xfrm>
            <a:off x="8412480" y="3383280"/>
            <a:ext cx="640080" cy="640080"/>
          </a:xfrm>
          <a:prstGeom prst="ellipse">
            <a:avLst/>
          </a:prstGeom>
          <a:solidFill>
            <a:srgbClr val="22302A"/>
          </a:solidFill>
          <a:ln w="12700">
            <a:solidFill>
              <a:srgbClr val="22302A"/>
            </a:solidFill>
            <a:prstDash val="solid"/>
          </a:ln>
        </p:spPr>
        <p:txBody>
          <a:bodyPr/>
          <a:p/>
        </p:txBody>
      </p:sp>
      <p:pic>
        <p:nvPicPr>
          <p:cNvPr id="15" name="Image 2" descr="preencoded.png">    </p:cNvPr>
          <p:cNvPicPr>
            <a:picLocks noChangeAspect="1"/>
          </p:cNvPicPr>
          <p:nvPr/>
        </p:nvPicPr>
        <p:blipFill>
          <a:blip r:embed="rId3"/>
          <a:stretch>
            <a:fillRect/>
          </a:stretch>
        </p:blipFill>
        <p:spPr>
          <a:xfrm>
            <a:off x="8566099" y="3536899"/>
            <a:ext cx="332842" cy="332842"/>
          </a:xfrm>
          <a:prstGeom prst="rect">
            <a:avLst/>
          </a:prstGeom>
        </p:spPr>
      </p:pic>
      <p:sp>
        <p:nvSpPr>
          <p:cNvPr id="16" name="Text 10"/>
          <p:cNvSpPr txBox="1"/>
          <p:nvPr/>
        </p:nvSpPr>
        <p:spPr>
          <a:xfrm>
            <a:off x="9235440" y="3383280"/>
            <a:ext cx="2560320" cy="274320"/>
          </a:xfrm>
          <a:prstGeom prst="rect">
            <a:avLst/>
          </a:prstGeom>
          <a:noFill/>
          <a:ln/>
        </p:spPr>
        <p:txBody>
          <a:bodyPr wrap="square" lIns="0" tIns="0" rIns="0" bIns="0" rtlCol="0" anchor="t"/>
          <a:lstStyle/>
          <a:p>
            <a:pPr indent="0" marL="0">
              <a:buNone/>
            </a:pPr>
            <a:r>
              <a:rPr lang="en-US" sz="1100" b="1" dirty="0">
                <a:solidFill>
                  <a:srgbClr val="A9D3B0"/>
                </a:solidFill>
                <a:latin typeface="Courier New" pitchFamily="34" charset="0"/>
                <a:ea typeface="Courier New" pitchFamily="34" charset="-122"/>
                <a:cs typeface="Courier New" pitchFamily="34" charset="-120"/>
              </a:rPr>
              <a:t>Opgave 4</a:t>
            </a:r>
            <a:endParaRPr lang="en-US" sz="1100" dirty="0"/>
          </a:p>
        </p:txBody>
      </p:sp>
      <p:sp>
        <p:nvSpPr>
          <p:cNvPr id="17" name="Text 11"/>
          <p:cNvSpPr txBox="1"/>
          <p:nvPr/>
        </p:nvSpPr>
        <p:spPr>
          <a:xfrm>
            <a:off x="9235440" y="3657600"/>
            <a:ext cx="2377440" cy="365760"/>
          </a:xfrm>
          <a:prstGeom prst="rect">
            <a:avLst/>
          </a:prstGeom>
          <a:noFill/>
          <a:ln/>
        </p:spPr>
        <p:txBody>
          <a:bodyPr wrap="square" lIns="0" tIns="0" rIns="0" bIns="0" rtlCol="0" anchor="t"/>
          <a:lstStyle/>
          <a:p>
            <a:pPr indent="0" marL="0">
              <a:buNone/>
            </a:pPr>
            <a:r>
              <a:rPr lang="en-US" sz="1400" dirty="0">
                <a:solidFill>
                  <a:srgbClr val="F5F8F8"/>
                </a:solidFill>
                <a:latin typeface="Arial" pitchFamily="34" charset="0"/>
                <a:ea typeface="Arial" pitchFamily="34" charset="-122"/>
                <a:cs typeface="Arial" pitchFamily="34" charset="-120"/>
              </a:rPr>
              <a:t>Configuration management</a:t>
            </a:r>
            <a:endParaRPr lang="en-US" sz="1700" dirty="0"/>
          </a:p>
        </p:txBody>
      </p:sp>
      <p:sp>
        <p:nvSpPr>
          <p:cNvPr id="18" name="Shape 12"/>
          <p:cNvSpPr/>
          <p:nvPr/>
        </p:nvSpPr>
        <p:spPr>
          <a:xfrm>
            <a:off x="8412480" y="4389120"/>
            <a:ext cx="640080" cy="640080"/>
          </a:xfrm>
          <a:prstGeom prst="ellipse">
            <a:avLst/>
          </a:prstGeom>
          <a:solidFill>
            <a:srgbClr val="22302A"/>
          </a:solidFill>
          <a:ln w="12700">
            <a:solidFill>
              <a:srgbClr val="22302A"/>
            </a:solidFill>
            <a:prstDash val="solid"/>
          </a:ln>
        </p:spPr>
        <p:txBody>
          <a:bodyPr/>
          <a:p/>
        </p:txBody>
      </p:sp>
      <p:pic>
        <p:nvPicPr>
          <p:cNvPr id="19" name="Image 3" descr="preencoded.png">    </p:cNvPr>
          <p:cNvPicPr>
            <a:picLocks noChangeAspect="1"/>
          </p:cNvPicPr>
          <p:nvPr/>
        </p:nvPicPr>
        <p:blipFill>
          <a:blip r:embed="rId4"/>
          <a:stretch>
            <a:fillRect/>
          </a:stretch>
        </p:blipFill>
        <p:spPr>
          <a:xfrm>
            <a:off x="8566099" y="4542739"/>
            <a:ext cx="332842" cy="332842"/>
          </a:xfrm>
          <a:prstGeom prst="rect">
            <a:avLst/>
          </a:prstGeom>
        </p:spPr>
      </p:pic>
      <p:sp>
        <p:nvSpPr>
          <p:cNvPr id="20" name="Text 13"/>
          <p:cNvSpPr txBox="1"/>
          <p:nvPr/>
        </p:nvSpPr>
        <p:spPr>
          <a:xfrm>
            <a:off x="9235440" y="4389120"/>
            <a:ext cx="2560320" cy="274320"/>
          </a:xfrm>
          <a:prstGeom prst="rect">
            <a:avLst/>
          </a:prstGeom>
          <a:noFill/>
          <a:ln/>
        </p:spPr>
        <p:txBody>
          <a:bodyPr wrap="square" lIns="0" tIns="0" rIns="0" bIns="0" rtlCol="0" anchor="t"/>
          <a:lstStyle/>
          <a:p>
            <a:pPr indent="0" marL="0">
              <a:buNone/>
            </a:pPr>
            <a:r>
              <a:rPr lang="en-US" sz="1100" b="1" dirty="0">
                <a:solidFill>
                  <a:srgbClr val="A9D3B0"/>
                </a:solidFill>
                <a:latin typeface="Courier New" pitchFamily="34" charset="0"/>
                <a:ea typeface="Courier New" pitchFamily="34" charset="-122"/>
                <a:cs typeface="Courier New" pitchFamily="34" charset="-120"/>
              </a:rPr>
              <a:t>Opgave 5</a:t>
            </a:r>
            <a:endParaRPr lang="en-US" sz="1100" dirty="0"/>
          </a:p>
        </p:txBody>
      </p:sp>
      <p:sp>
        <p:nvSpPr>
          <p:cNvPr id="21" name="Text 14"/>
          <p:cNvSpPr txBox="1"/>
          <p:nvPr/>
        </p:nvSpPr>
        <p:spPr>
          <a:xfrm>
            <a:off x="9235440" y="4663440"/>
            <a:ext cx="2377440" cy="640080"/>
          </a:xfrm>
          <a:prstGeom prst="rect">
            <a:avLst/>
          </a:prstGeom>
          <a:noFill/>
          <a:ln/>
        </p:spPr>
        <p:txBody>
          <a:bodyPr wrap="square" lIns="0" tIns="0" rIns="0" bIns="0" rtlCol="0" anchor="t"/>
          <a:lstStyle/>
          <a:p>
            <a:pPr indent="0" marL="0">
              <a:buNone/>
            </a:pPr>
            <a:r>
              <a:rPr lang="en-US" sz="1600" dirty="0">
                <a:solidFill>
                  <a:srgbClr val="F5F8F8"/>
                </a:solidFill>
                <a:latin typeface="Arial" pitchFamily="34" charset="0"/>
                <a:ea typeface="Arial" pitchFamily="34" charset="-122"/>
                <a:cs typeface="Arial" pitchFamily="34" charset="-120"/>
              </a:rPr>
              <a:t>Dimensioner og principper</a:t>
            </a:r>
            <a:endParaRPr lang="en-US" sz="1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3</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Service Value Chain</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2</a:t>
            </a:r>
            <a:endParaRPr lang="en-US" sz="1000" dirty="0"/>
          </a:p>
        </p:txBody>
      </p:sp>
      <p:sp>
        <p:nvSpPr>
          <p:cNvPr id="7" name="Text 4"/>
          <p:cNvSpPr txBox="1"/>
          <p:nvPr/>
        </p:nvSpPr>
        <p:spPr>
          <a:xfrm>
            <a:off x="548640" y="1463040"/>
            <a:ext cx="11094415" cy="411480"/>
          </a:xfrm>
          <a:prstGeom prst="rect">
            <a:avLst/>
          </a:prstGeom>
          <a:noFill/>
          <a:ln/>
        </p:spPr>
        <p:txBody>
          <a:bodyPr wrap="square" lIns="0" tIns="0" rIns="0" bIns="0" rtlCol="0" anchor="t"/>
          <a:lstStyle/>
          <a:p>
            <a:pPr indent="0" marL="0">
              <a:buNone/>
            </a:pPr>
            <a:r>
              <a:rPr lang="en-US" sz="2000" i="1" dirty="0">
                <a:solidFill>
                  <a:srgbClr val="2F6B3A"/>
                </a:solidFill>
                <a:latin typeface="Georgia" pitchFamily="34" charset="0"/>
                <a:ea typeface="Georgia" pitchFamily="34" charset="-122"/>
                <a:cs typeface="Georgia" pitchFamily="34" charset="-120"/>
              </a:rPr>
              <a:t>6 aktiviteter, der omdanner efterspørgsel og muligheder til værdi</a:t>
            </a:r>
            <a:endParaRPr lang="en-US" sz="2000" dirty="0"/>
          </a:p>
        </p:txBody>
      </p:sp>
      <p:sp>
        <p:nvSpPr>
          <p:cNvPr id="8" name="Shape 5"/>
          <p:cNvSpPr/>
          <p:nvPr/>
        </p:nvSpPr>
        <p:spPr>
          <a:xfrm>
            <a:off x="548640" y="2057400"/>
            <a:ext cx="3515258" cy="1463040"/>
          </a:xfrm>
          <a:prstGeom prst="roundRect">
            <a:avLst>
              <a:gd name="adj" fmla="val 7500"/>
            </a:avLst>
          </a:prstGeom>
          <a:solidFill>
            <a:srgbClr val="FCFDFD"/>
          </a:solidFill>
          <a:ln w="9525">
            <a:solidFill>
              <a:srgbClr val="DDE4E6"/>
            </a:solidFill>
            <a:prstDash val="solid"/>
          </a:ln>
        </p:spPr>
      </p:sp>
      <p:sp>
        <p:nvSpPr>
          <p:cNvPr id="9" name="Shape 6"/>
          <p:cNvSpPr/>
          <p:nvPr/>
        </p:nvSpPr>
        <p:spPr>
          <a:xfrm>
            <a:off x="777240" y="2286000"/>
            <a:ext cx="411480" cy="411480"/>
          </a:xfrm>
          <a:prstGeom prst="ellipse">
            <a:avLst/>
          </a:prstGeom>
          <a:solidFill>
            <a:srgbClr val="2F6B3A"/>
          </a:solidFill>
          <a:ln w="12700">
            <a:solidFill>
              <a:srgbClr val="2F6B3A"/>
            </a:solidFill>
            <a:prstDash val="solid"/>
          </a:ln>
        </p:spPr>
      </p:sp>
      <p:sp>
        <p:nvSpPr>
          <p:cNvPr id="10" name="Text 7"/>
          <p:cNvSpPr txBox="1"/>
          <p:nvPr/>
        </p:nvSpPr>
        <p:spPr>
          <a:xfrm>
            <a:off x="777240" y="22860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1" name="Text 8"/>
          <p:cNvSpPr txBox="1"/>
          <p:nvPr/>
        </p:nvSpPr>
        <p:spPr>
          <a:xfrm>
            <a:off x="1325880" y="225856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Plan</a:t>
            </a:r>
            <a:endParaRPr lang="en-US" sz="1700" dirty="0"/>
          </a:p>
        </p:txBody>
      </p:sp>
      <p:sp>
        <p:nvSpPr>
          <p:cNvPr id="12" name="Text 9"/>
          <p:cNvSpPr txBox="1"/>
          <p:nvPr/>
        </p:nvSpPr>
        <p:spPr>
          <a:xfrm>
            <a:off x="777240" y="283464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Ledelsen: hvilke byer får kontor først</a:t>
            </a:r>
            <a:endParaRPr lang="en-US" sz="1400" dirty="0"/>
          </a:p>
        </p:txBody>
      </p:sp>
      <p:sp>
        <p:nvSpPr>
          <p:cNvPr id="13" name="Shape 10"/>
          <p:cNvSpPr/>
          <p:nvPr/>
        </p:nvSpPr>
        <p:spPr>
          <a:xfrm>
            <a:off x="4338218" y="2057400"/>
            <a:ext cx="3515258" cy="1463040"/>
          </a:xfrm>
          <a:prstGeom prst="roundRect">
            <a:avLst>
              <a:gd name="adj" fmla="val 7500"/>
            </a:avLst>
          </a:prstGeom>
          <a:solidFill>
            <a:srgbClr val="FCFDFD"/>
          </a:solidFill>
          <a:ln w="9525">
            <a:solidFill>
              <a:srgbClr val="DDE4E6"/>
            </a:solidFill>
            <a:prstDash val="solid"/>
          </a:ln>
        </p:spPr>
      </p:sp>
      <p:sp>
        <p:nvSpPr>
          <p:cNvPr id="14" name="Shape 11"/>
          <p:cNvSpPr/>
          <p:nvPr/>
        </p:nvSpPr>
        <p:spPr>
          <a:xfrm>
            <a:off x="4566818" y="2286000"/>
            <a:ext cx="411480" cy="411480"/>
          </a:xfrm>
          <a:prstGeom prst="ellipse">
            <a:avLst/>
          </a:prstGeom>
          <a:solidFill>
            <a:srgbClr val="2F6B3A"/>
          </a:solidFill>
          <a:ln w="12700">
            <a:solidFill>
              <a:srgbClr val="2F6B3A"/>
            </a:solidFill>
            <a:prstDash val="solid"/>
          </a:ln>
        </p:spPr>
      </p:sp>
      <p:sp>
        <p:nvSpPr>
          <p:cNvPr id="15" name="Text 12"/>
          <p:cNvSpPr txBox="1"/>
          <p:nvPr/>
        </p:nvSpPr>
        <p:spPr>
          <a:xfrm>
            <a:off x="4566818" y="22860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6" name="Text 13"/>
          <p:cNvSpPr txBox="1"/>
          <p:nvPr/>
        </p:nvSpPr>
        <p:spPr>
          <a:xfrm>
            <a:off x="5115458" y="225856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Improve</a:t>
            </a:r>
            <a:endParaRPr lang="en-US" sz="1700" dirty="0"/>
          </a:p>
        </p:txBody>
      </p:sp>
      <p:sp>
        <p:nvSpPr>
          <p:cNvPr id="17" name="Text 14"/>
          <p:cNvSpPr txBox="1"/>
          <p:nvPr/>
        </p:nvSpPr>
        <p:spPr>
          <a:xfrm>
            <a:off x="4566818" y="283464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Gør det bedre, fx færre falske alarmer</a:t>
            </a:r>
            <a:endParaRPr lang="en-US" sz="1400" dirty="0"/>
          </a:p>
        </p:txBody>
      </p:sp>
      <p:sp>
        <p:nvSpPr>
          <p:cNvPr id="18" name="Shape 15"/>
          <p:cNvSpPr/>
          <p:nvPr/>
        </p:nvSpPr>
        <p:spPr>
          <a:xfrm>
            <a:off x="8127797" y="2057400"/>
            <a:ext cx="3515258" cy="1463040"/>
          </a:xfrm>
          <a:prstGeom prst="roundRect">
            <a:avLst>
              <a:gd name="adj" fmla="val 7500"/>
            </a:avLst>
          </a:prstGeom>
          <a:solidFill>
            <a:srgbClr val="FCFDFD"/>
          </a:solidFill>
          <a:ln w="9525">
            <a:solidFill>
              <a:srgbClr val="DDE4E6"/>
            </a:solidFill>
            <a:prstDash val="solid"/>
          </a:ln>
        </p:spPr>
      </p:sp>
      <p:sp>
        <p:nvSpPr>
          <p:cNvPr id="19" name="Shape 16"/>
          <p:cNvSpPr/>
          <p:nvPr/>
        </p:nvSpPr>
        <p:spPr>
          <a:xfrm>
            <a:off x="8356397" y="2286000"/>
            <a:ext cx="411480" cy="411480"/>
          </a:xfrm>
          <a:prstGeom prst="ellipse">
            <a:avLst/>
          </a:prstGeom>
          <a:solidFill>
            <a:srgbClr val="2F6B3A"/>
          </a:solidFill>
          <a:ln w="12700">
            <a:solidFill>
              <a:srgbClr val="2F6B3A"/>
            </a:solidFill>
            <a:prstDash val="solid"/>
          </a:ln>
        </p:spPr>
      </p:sp>
      <p:sp>
        <p:nvSpPr>
          <p:cNvPr id="20" name="Text 17"/>
          <p:cNvSpPr txBox="1"/>
          <p:nvPr/>
        </p:nvSpPr>
        <p:spPr>
          <a:xfrm>
            <a:off x="8356397" y="22860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21" name="Text 18"/>
          <p:cNvSpPr txBox="1"/>
          <p:nvPr/>
        </p:nvSpPr>
        <p:spPr>
          <a:xfrm>
            <a:off x="8905037" y="225856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Engage</a:t>
            </a:r>
            <a:endParaRPr lang="en-US" sz="1700" dirty="0"/>
          </a:p>
        </p:txBody>
      </p:sp>
      <p:sp>
        <p:nvSpPr>
          <p:cNvPr id="22" name="Text 19"/>
          <p:cNvSpPr txBox="1"/>
          <p:nvPr/>
        </p:nvSpPr>
        <p:spPr>
          <a:xfrm>
            <a:off x="8356397" y="283464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Sker både i salg og på de nye kontorer</a:t>
            </a:r>
            <a:endParaRPr lang="en-US" sz="1400" dirty="0"/>
          </a:p>
        </p:txBody>
      </p:sp>
      <p:sp>
        <p:nvSpPr>
          <p:cNvPr id="23" name="Shape 20"/>
          <p:cNvSpPr/>
          <p:nvPr/>
        </p:nvSpPr>
        <p:spPr>
          <a:xfrm>
            <a:off x="548640" y="3749040"/>
            <a:ext cx="3515258" cy="1463040"/>
          </a:xfrm>
          <a:prstGeom prst="roundRect">
            <a:avLst>
              <a:gd name="adj" fmla="val 7500"/>
            </a:avLst>
          </a:prstGeom>
          <a:solidFill>
            <a:srgbClr val="FCFDFD"/>
          </a:solidFill>
          <a:ln w="9525">
            <a:solidFill>
              <a:srgbClr val="DDE4E6"/>
            </a:solidFill>
            <a:prstDash val="solid"/>
          </a:ln>
        </p:spPr>
      </p:sp>
      <p:sp>
        <p:nvSpPr>
          <p:cNvPr id="24" name="Shape 21"/>
          <p:cNvSpPr/>
          <p:nvPr/>
        </p:nvSpPr>
        <p:spPr>
          <a:xfrm>
            <a:off x="777240" y="3977640"/>
            <a:ext cx="411480" cy="411480"/>
          </a:xfrm>
          <a:prstGeom prst="ellipse">
            <a:avLst/>
          </a:prstGeom>
          <a:solidFill>
            <a:srgbClr val="2F6B3A"/>
          </a:solidFill>
          <a:ln w="12700">
            <a:solidFill>
              <a:srgbClr val="2F6B3A"/>
            </a:solidFill>
            <a:prstDash val="solid"/>
          </a:ln>
        </p:spPr>
      </p:sp>
      <p:sp>
        <p:nvSpPr>
          <p:cNvPr id="25" name="Text 22"/>
          <p:cNvSpPr txBox="1"/>
          <p:nvPr/>
        </p:nvSpPr>
        <p:spPr>
          <a:xfrm>
            <a:off x="777240" y="39776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6" name="Text 23"/>
          <p:cNvSpPr txBox="1"/>
          <p:nvPr/>
        </p:nvSpPr>
        <p:spPr>
          <a:xfrm>
            <a:off x="1325880" y="395020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Design &amp; transition</a:t>
            </a:r>
            <a:endParaRPr lang="en-US" sz="1700" dirty="0"/>
          </a:p>
        </p:txBody>
      </p:sp>
      <p:sp>
        <p:nvSpPr>
          <p:cNvPr id="27" name="Text 24"/>
          <p:cNvSpPr txBox="1"/>
          <p:nvPr/>
        </p:nvSpPr>
        <p:spPr>
          <a:xfrm>
            <a:off x="777240" y="452628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R&amp;D designer, tester og overdrager til drift</a:t>
            </a:r>
            <a:endParaRPr lang="en-US" sz="1400" dirty="0"/>
          </a:p>
        </p:txBody>
      </p:sp>
      <p:sp>
        <p:nvSpPr>
          <p:cNvPr id="28" name="Shape 25"/>
          <p:cNvSpPr/>
          <p:nvPr/>
        </p:nvSpPr>
        <p:spPr>
          <a:xfrm>
            <a:off x="4338218" y="3749040"/>
            <a:ext cx="3515258" cy="1463040"/>
          </a:xfrm>
          <a:prstGeom prst="roundRect">
            <a:avLst>
              <a:gd name="adj" fmla="val 7500"/>
            </a:avLst>
          </a:prstGeom>
          <a:solidFill>
            <a:srgbClr val="FCFDFD"/>
          </a:solidFill>
          <a:ln w="9525">
            <a:solidFill>
              <a:srgbClr val="DDE4E6"/>
            </a:solidFill>
            <a:prstDash val="solid"/>
          </a:ln>
        </p:spPr>
      </p:sp>
      <p:sp>
        <p:nvSpPr>
          <p:cNvPr id="29" name="Shape 26"/>
          <p:cNvSpPr/>
          <p:nvPr/>
        </p:nvSpPr>
        <p:spPr>
          <a:xfrm>
            <a:off x="4566818" y="3977640"/>
            <a:ext cx="411480" cy="411480"/>
          </a:xfrm>
          <a:prstGeom prst="ellipse">
            <a:avLst/>
          </a:prstGeom>
          <a:solidFill>
            <a:srgbClr val="2F6B3A"/>
          </a:solidFill>
          <a:ln w="12700">
            <a:solidFill>
              <a:srgbClr val="2F6B3A"/>
            </a:solidFill>
            <a:prstDash val="solid"/>
          </a:ln>
        </p:spPr>
      </p:sp>
      <p:sp>
        <p:nvSpPr>
          <p:cNvPr id="30" name="Text 27"/>
          <p:cNvSpPr txBox="1"/>
          <p:nvPr/>
        </p:nvSpPr>
        <p:spPr>
          <a:xfrm>
            <a:off x="4566818" y="39776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31" name="Text 28"/>
          <p:cNvSpPr txBox="1"/>
          <p:nvPr/>
        </p:nvSpPr>
        <p:spPr>
          <a:xfrm>
            <a:off x="5115458" y="395020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Obtain/build</a:t>
            </a:r>
            <a:endParaRPr lang="en-US" sz="1700" dirty="0"/>
          </a:p>
        </p:txBody>
      </p:sp>
      <p:sp>
        <p:nvSpPr>
          <p:cNvPr id="32" name="Text 29"/>
          <p:cNvSpPr txBox="1"/>
          <p:nvPr/>
        </p:nvSpPr>
        <p:spPr>
          <a:xfrm>
            <a:off x="4566818" y="452628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Fabrikken laver sensorerne</a:t>
            </a:r>
            <a:endParaRPr lang="en-US" sz="1400" dirty="0"/>
          </a:p>
        </p:txBody>
      </p:sp>
      <p:sp>
        <p:nvSpPr>
          <p:cNvPr id="33" name="Shape 30"/>
          <p:cNvSpPr/>
          <p:nvPr/>
        </p:nvSpPr>
        <p:spPr>
          <a:xfrm>
            <a:off x="8127797" y="3749040"/>
            <a:ext cx="3515258" cy="1463040"/>
          </a:xfrm>
          <a:prstGeom prst="roundRect">
            <a:avLst>
              <a:gd name="adj" fmla="val 7500"/>
            </a:avLst>
          </a:prstGeom>
          <a:solidFill>
            <a:srgbClr val="FCFDFD"/>
          </a:solidFill>
          <a:ln w="9525">
            <a:solidFill>
              <a:srgbClr val="DDE4E6"/>
            </a:solidFill>
            <a:prstDash val="solid"/>
          </a:ln>
        </p:spPr>
      </p:sp>
      <p:sp>
        <p:nvSpPr>
          <p:cNvPr id="34" name="Shape 31"/>
          <p:cNvSpPr/>
          <p:nvPr/>
        </p:nvSpPr>
        <p:spPr>
          <a:xfrm>
            <a:off x="8356397" y="3977640"/>
            <a:ext cx="411480" cy="411480"/>
          </a:xfrm>
          <a:prstGeom prst="ellipse">
            <a:avLst/>
          </a:prstGeom>
          <a:solidFill>
            <a:srgbClr val="2F6B3A"/>
          </a:solidFill>
          <a:ln w="12700">
            <a:solidFill>
              <a:srgbClr val="2F6B3A"/>
            </a:solidFill>
            <a:prstDash val="solid"/>
          </a:ln>
        </p:spPr>
      </p:sp>
      <p:sp>
        <p:nvSpPr>
          <p:cNvPr id="35" name="Text 32"/>
          <p:cNvSpPr txBox="1"/>
          <p:nvPr/>
        </p:nvSpPr>
        <p:spPr>
          <a:xfrm>
            <a:off x="8356397" y="39776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a:t>
            </a:r>
            <a:endParaRPr lang="en-US" sz="1400" dirty="0"/>
          </a:p>
        </p:txBody>
      </p:sp>
      <p:sp>
        <p:nvSpPr>
          <p:cNvPr id="36" name="Text 33"/>
          <p:cNvSpPr txBox="1"/>
          <p:nvPr/>
        </p:nvSpPr>
        <p:spPr>
          <a:xfrm>
            <a:off x="8905037" y="3950208"/>
            <a:ext cx="2600858" cy="45720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Deliver &amp; support</a:t>
            </a:r>
            <a:endParaRPr lang="en-US" sz="1700" dirty="0"/>
          </a:p>
        </p:txBody>
      </p:sp>
      <p:sp>
        <p:nvSpPr>
          <p:cNvPr id="37" name="Text 34"/>
          <p:cNvSpPr txBox="1"/>
          <p:nvPr/>
        </p:nvSpPr>
        <p:spPr>
          <a:xfrm>
            <a:off x="8356397" y="4526280"/>
            <a:ext cx="3058058" cy="59436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Værkstedet installerer, servicedesken hjælper</a:t>
            </a:r>
            <a:endParaRPr lang="en-US" sz="1400" dirty="0"/>
          </a:p>
        </p:txBody>
      </p:sp>
      <p:sp>
        <p:nvSpPr>
          <p:cNvPr id="38" name="Shape 35"/>
          <p:cNvSpPr/>
          <p:nvPr/>
        </p:nvSpPr>
        <p:spPr>
          <a:xfrm>
            <a:off x="548640" y="5486400"/>
            <a:ext cx="11094415" cy="777240"/>
          </a:xfrm>
          <a:prstGeom prst="roundRect">
            <a:avLst>
              <a:gd name="adj" fmla="val 14118"/>
            </a:avLst>
          </a:prstGeom>
          <a:solidFill>
            <a:srgbClr val="E9F4EA"/>
          </a:solidFill>
          <a:ln w="9525">
            <a:solidFill>
              <a:srgbClr val="A9D3B0"/>
            </a:solidFill>
            <a:prstDash val="solid"/>
          </a:ln>
        </p:spPr>
      </p:sp>
      <p:sp>
        <p:nvSpPr>
          <p:cNvPr id="39" name="Text 36"/>
          <p:cNvSpPr txBox="1"/>
          <p:nvPr/>
        </p:nvSpPr>
        <p:spPr>
          <a:xfrm>
            <a:off x="822960" y="5486400"/>
            <a:ext cx="10545775" cy="777240"/>
          </a:xfrm>
          <a:prstGeom prst="rect">
            <a:avLst/>
          </a:prstGeom>
          <a:noFill/>
          <a:ln/>
        </p:spPr>
        <p:txBody>
          <a:bodyPr wrap="square" lIns="0" tIns="0" rIns="0" bIns="0" rtlCol="0" anchor="ctr"/>
          <a:lstStyle/>
          <a:p>
            <a:pPr indent="0" marL="0">
              <a:buNone/>
            </a:pPr>
            <a:r>
              <a:rPr lang="en-US" sz="1500" b="1" dirty="0">
                <a:solidFill>
                  <a:srgbClr val="1E4A26"/>
                </a:solidFill>
                <a:latin typeface="Arial" pitchFamily="34" charset="0"/>
                <a:ea typeface="Arial" pitchFamily="34" charset="-122"/>
                <a:cs typeface="Arial" pitchFamily="34" charset="-120"/>
              </a:rPr>
              <a:t>Ikke afdelinger.  </a:t>
            </a:r>
            <a:pPr indent="0" marL="0">
              <a:buNone/>
            </a:pPr>
            <a:r>
              <a:rPr lang="en-US" sz="1500" dirty="0">
                <a:solidFill>
                  <a:srgbClr val="1E4A26"/>
                </a:solidFill>
                <a:latin typeface="Arial" pitchFamily="34" charset="0"/>
                <a:ea typeface="Arial" pitchFamily="34" charset="-122"/>
                <a:cs typeface="Arial" pitchFamily="34" charset="-120"/>
              </a:rPr>
              <a:t>Forslag: én ansvarlig pr. aktivitet, så intet ryger ned mellem byen, fabrikken og Jylland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3</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Eksempel: ikke et samlebånd</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3</a:t>
            </a:r>
            <a:endParaRPr lang="en-US" sz="1000" dirty="0"/>
          </a:p>
        </p:txBody>
      </p:sp>
      <p:sp>
        <p:nvSpPr>
          <p:cNvPr id="7" name="Text 4"/>
          <p:cNvSpPr txBox="1"/>
          <p:nvPr/>
        </p:nvSpPr>
        <p:spPr>
          <a:xfrm>
            <a:off x="548640" y="1508760"/>
            <a:ext cx="11094415"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EN SVINEPRODUCENT VIL HAVE STALDOVERVÅGNING</a:t>
            </a:r>
            <a:endParaRPr lang="en-US" sz="1100" dirty="0"/>
          </a:p>
        </p:txBody>
      </p:sp>
      <p:sp>
        <p:nvSpPr>
          <p:cNvPr id="8" name="Shape 5"/>
          <p:cNvSpPr/>
          <p:nvPr/>
        </p:nvSpPr>
        <p:spPr>
          <a:xfrm>
            <a:off x="548640" y="1920240"/>
            <a:ext cx="1467351" cy="1828800"/>
          </a:xfrm>
          <a:prstGeom prst="roundRect">
            <a:avLst>
              <a:gd name="adj" fmla="val 7478"/>
            </a:avLst>
          </a:prstGeom>
          <a:solidFill>
            <a:srgbClr val="FCFDFD"/>
          </a:solidFill>
          <a:ln w="9525">
            <a:solidFill>
              <a:srgbClr val="DDE4E6"/>
            </a:solidFill>
            <a:prstDash val="solid"/>
          </a:ln>
        </p:spPr>
      </p:sp>
      <p:sp>
        <p:nvSpPr>
          <p:cNvPr id="9" name="Text 6"/>
          <p:cNvSpPr txBox="1"/>
          <p:nvPr/>
        </p:nvSpPr>
        <p:spPr>
          <a:xfrm>
            <a:off x="548640"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1</a:t>
            </a:r>
            <a:endParaRPr lang="en-US" sz="1400" dirty="0"/>
          </a:p>
        </p:txBody>
      </p:sp>
      <p:sp>
        <p:nvSpPr>
          <p:cNvPr id="10" name="Text 7"/>
          <p:cNvSpPr txBox="1"/>
          <p:nvPr/>
        </p:nvSpPr>
        <p:spPr>
          <a:xfrm>
            <a:off x="548640"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Engage</a:t>
            </a:r>
            <a:endParaRPr lang="en-US" sz="1600" dirty="0"/>
          </a:p>
        </p:txBody>
      </p:sp>
      <p:sp>
        <p:nvSpPr>
          <p:cNvPr id="11" name="Text 8"/>
          <p:cNvSpPr txBox="1"/>
          <p:nvPr/>
        </p:nvSpPr>
        <p:spPr>
          <a:xfrm>
            <a:off x="621792"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Sælgeren finder behovet</a:t>
            </a:r>
            <a:endParaRPr lang="en-US" sz="1300" dirty="0"/>
          </a:p>
        </p:txBody>
      </p:sp>
      <p:sp>
        <p:nvSpPr>
          <p:cNvPr id="12" name="Shape 9"/>
          <p:cNvSpPr/>
          <p:nvPr/>
        </p:nvSpPr>
        <p:spPr>
          <a:xfrm>
            <a:off x="2153151" y="1920240"/>
            <a:ext cx="1467351" cy="1828800"/>
          </a:xfrm>
          <a:prstGeom prst="roundRect">
            <a:avLst>
              <a:gd name="adj" fmla="val 7478"/>
            </a:avLst>
          </a:prstGeom>
          <a:solidFill>
            <a:srgbClr val="FCFDFD"/>
          </a:solidFill>
          <a:ln w="9525">
            <a:solidFill>
              <a:srgbClr val="DDE4E6"/>
            </a:solidFill>
            <a:prstDash val="solid"/>
          </a:ln>
        </p:spPr>
      </p:sp>
      <p:sp>
        <p:nvSpPr>
          <p:cNvPr id="13" name="Text 10"/>
          <p:cNvSpPr txBox="1"/>
          <p:nvPr/>
        </p:nvSpPr>
        <p:spPr>
          <a:xfrm>
            <a:off x="2153151"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2</a:t>
            </a:r>
            <a:endParaRPr lang="en-US" sz="1400" dirty="0"/>
          </a:p>
        </p:txBody>
      </p:sp>
      <p:sp>
        <p:nvSpPr>
          <p:cNvPr id="14" name="Text 11"/>
          <p:cNvSpPr txBox="1"/>
          <p:nvPr/>
        </p:nvSpPr>
        <p:spPr>
          <a:xfrm>
            <a:off x="2153151"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Design</a:t>
            </a:r>
            <a:endParaRPr lang="en-US" sz="1600" dirty="0"/>
          </a:p>
        </p:txBody>
      </p:sp>
      <p:sp>
        <p:nvSpPr>
          <p:cNvPr id="15" name="Text 12"/>
          <p:cNvSpPr txBox="1"/>
          <p:nvPr/>
        </p:nvSpPr>
        <p:spPr>
          <a:xfrm>
            <a:off x="2226303"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R&amp;D tilpasser</a:t>
            </a:r>
            <a:endParaRPr lang="en-US" sz="1300" dirty="0"/>
          </a:p>
        </p:txBody>
      </p:sp>
      <p:sp>
        <p:nvSpPr>
          <p:cNvPr id="16" name="Shape 13"/>
          <p:cNvSpPr/>
          <p:nvPr/>
        </p:nvSpPr>
        <p:spPr>
          <a:xfrm>
            <a:off x="3757661" y="1920240"/>
            <a:ext cx="1467351" cy="1828800"/>
          </a:xfrm>
          <a:prstGeom prst="roundRect">
            <a:avLst>
              <a:gd name="adj" fmla="val 7478"/>
            </a:avLst>
          </a:prstGeom>
          <a:solidFill>
            <a:srgbClr val="FCFDFD"/>
          </a:solidFill>
          <a:ln w="9525">
            <a:solidFill>
              <a:srgbClr val="DDE4E6"/>
            </a:solidFill>
            <a:prstDash val="solid"/>
          </a:ln>
        </p:spPr>
      </p:sp>
      <p:sp>
        <p:nvSpPr>
          <p:cNvPr id="17" name="Text 14"/>
          <p:cNvSpPr txBox="1"/>
          <p:nvPr/>
        </p:nvSpPr>
        <p:spPr>
          <a:xfrm>
            <a:off x="3757661"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3</a:t>
            </a:r>
            <a:endParaRPr lang="en-US" sz="1400" dirty="0"/>
          </a:p>
        </p:txBody>
      </p:sp>
      <p:sp>
        <p:nvSpPr>
          <p:cNvPr id="18" name="Text 15"/>
          <p:cNvSpPr txBox="1"/>
          <p:nvPr/>
        </p:nvSpPr>
        <p:spPr>
          <a:xfrm>
            <a:off x="3757661"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Build</a:t>
            </a:r>
            <a:endParaRPr lang="en-US" sz="1600" dirty="0"/>
          </a:p>
        </p:txBody>
      </p:sp>
      <p:sp>
        <p:nvSpPr>
          <p:cNvPr id="19" name="Text 16"/>
          <p:cNvSpPr txBox="1"/>
          <p:nvPr/>
        </p:nvSpPr>
        <p:spPr>
          <a:xfrm>
            <a:off x="3830813"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Fabrikken laver sensorer</a:t>
            </a:r>
            <a:endParaRPr lang="en-US" sz="1300" dirty="0"/>
          </a:p>
        </p:txBody>
      </p:sp>
      <p:sp>
        <p:nvSpPr>
          <p:cNvPr id="20" name="Shape 17"/>
          <p:cNvSpPr/>
          <p:nvPr/>
        </p:nvSpPr>
        <p:spPr>
          <a:xfrm>
            <a:off x="5362172" y="1920240"/>
            <a:ext cx="1467351" cy="1828800"/>
          </a:xfrm>
          <a:prstGeom prst="roundRect">
            <a:avLst>
              <a:gd name="adj" fmla="val 7478"/>
            </a:avLst>
          </a:prstGeom>
          <a:solidFill>
            <a:srgbClr val="E9F4EA"/>
          </a:solidFill>
          <a:ln w="9525">
            <a:solidFill>
              <a:srgbClr val="2F6B3A"/>
            </a:solidFill>
            <a:prstDash val="solid"/>
          </a:ln>
        </p:spPr>
      </p:sp>
      <p:sp>
        <p:nvSpPr>
          <p:cNvPr id="21" name="Text 18"/>
          <p:cNvSpPr txBox="1"/>
          <p:nvPr/>
        </p:nvSpPr>
        <p:spPr>
          <a:xfrm>
            <a:off x="5362172"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4</a:t>
            </a:r>
            <a:endParaRPr lang="en-US" sz="1400" dirty="0"/>
          </a:p>
        </p:txBody>
      </p:sp>
      <p:sp>
        <p:nvSpPr>
          <p:cNvPr id="22" name="Text 19"/>
          <p:cNvSpPr txBox="1"/>
          <p:nvPr/>
        </p:nvSpPr>
        <p:spPr>
          <a:xfrm>
            <a:off x="5362172"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Design</a:t>
            </a:r>
            <a:endParaRPr lang="en-US" sz="1600" dirty="0"/>
          </a:p>
        </p:txBody>
      </p:sp>
      <p:sp>
        <p:nvSpPr>
          <p:cNvPr id="23" name="Text 20"/>
          <p:cNvSpPr txBox="1"/>
          <p:nvPr/>
        </p:nvSpPr>
        <p:spPr>
          <a:xfrm>
            <a:off x="5435324"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Testes og overdrages</a:t>
            </a:r>
            <a:endParaRPr lang="en-US" sz="1300" dirty="0"/>
          </a:p>
        </p:txBody>
      </p:sp>
      <p:sp>
        <p:nvSpPr>
          <p:cNvPr id="24" name="Shape 21"/>
          <p:cNvSpPr/>
          <p:nvPr/>
        </p:nvSpPr>
        <p:spPr>
          <a:xfrm>
            <a:off x="6966683" y="1920240"/>
            <a:ext cx="1467351" cy="1828800"/>
          </a:xfrm>
          <a:prstGeom prst="roundRect">
            <a:avLst>
              <a:gd name="adj" fmla="val 7478"/>
            </a:avLst>
          </a:prstGeom>
          <a:solidFill>
            <a:srgbClr val="FCFDFD"/>
          </a:solidFill>
          <a:ln w="9525">
            <a:solidFill>
              <a:srgbClr val="DDE4E6"/>
            </a:solidFill>
            <a:prstDash val="solid"/>
          </a:ln>
        </p:spPr>
      </p:sp>
      <p:sp>
        <p:nvSpPr>
          <p:cNvPr id="25" name="Text 22"/>
          <p:cNvSpPr txBox="1"/>
          <p:nvPr/>
        </p:nvSpPr>
        <p:spPr>
          <a:xfrm>
            <a:off x="6966683"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5</a:t>
            </a:r>
            <a:endParaRPr lang="en-US" sz="1400" dirty="0"/>
          </a:p>
        </p:txBody>
      </p:sp>
      <p:sp>
        <p:nvSpPr>
          <p:cNvPr id="26" name="Text 23"/>
          <p:cNvSpPr txBox="1"/>
          <p:nvPr/>
        </p:nvSpPr>
        <p:spPr>
          <a:xfrm>
            <a:off x="6966683"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Deliver</a:t>
            </a:r>
            <a:endParaRPr lang="en-US" sz="1600" dirty="0"/>
          </a:p>
        </p:txBody>
      </p:sp>
      <p:sp>
        <p:nvSpPr>
          <p:cNvPr id="27" name="Text 24"/>
          <p:cNvSpPr txBox="1"/>
          <p:nvPr/>
        </p:nvSpPr>
        <p:spPr>
          <a:xfrm>
            <a:off x="7039835"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Værkstedet installerer</a:t>
            </a:r>
            <a:endParaRPr lang="en-US" sz="1300" dirty="0"/>
          </a:p>
        </p:txBody>
      </p:sp>
      <p:sp>
        <p:nvSpPr>
          <p:cNvPr id="28" name="Shape 25"/>
          <p:cNvSpPr/>
          <p:nvPr/>
        </p:nvSpPr>
        <p:spPr>
          <a:xfrm>
            <a:off x="8571194" y="1920240"/>
            <a:ext cx="1467351" cy="1828800"/>
          </a:xfrm>
          <a:prstGeom prst="roundRect">
            <a:avLst>
              <a:gd name="adj" fmla="val 7478"/>
            </a:avLst>
          </a:prstGeom>
          <a:solidFill>
            <a:srgbClr val="E9F4EA"/>
          </a:solidFill>
          <a:ln w="9525">
            <a:solidFill>
              <a:srgbClr val="2F6B3A"/>
            </a:solidFill>
            <a:prstDash val="solid"/>
          </a:ln>
        </p:spPr>
      </p:sp>
      <p:sp>
        <p:nvSpPr>
          <p:cNvPr id="29" name="Text 26"/>
          <p:cNvSpPr txBox="1"/>
          <p:nvPr/>
        </p:nvSpPr>
        <p:spPr>
          <a:xfrm>
            <a:off x="8571194"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6</a:t>
            </a:r>
            <a:endParaRPr lang="en-US" sz="1400" dirty="0"/>
          </a:p>
        </p:txBody>
      </p:sp>
      <p:sp>
        <p:nvSpPr>
          <p:cNvPr id="30" name="Text 27"/>
          <p:cNvSpPr txBox="1"/>
          <p:nvPr/>
        </p:nvSpPr>
        <p:spPr>
          <a:xfrm>
            <a:off x="8571194"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Engage</a:t>
            </a:r>
            <a:endParaRPr lang="en-US" sz="1600" dirty="0"/>
          </a:p>
        </p:txBody>
      </p:sp>
      <p:sp>
        <p:nvSpPr>
          <p:cNvPr id="31" name="Text 28"/>
          <p:cNvSpPr txBox="1"/>
          <p:nvPr/>
        </p:nvSpPr>
        <p:spPr>
          <a:xfrm>
            <a:off x="8644346"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Opfølgning efter en måned</a:t>
            </a:r>
            <a:endParaRPr lang="en-US" sz="1300" dirty="0"/>
          </a:p>
        </p:txBody>
      </p:sp>
      <p:sp>
        <p:nvSpPr>
          <p:cNvPr id="32" name="Shape 29"/>
          <p:cNvSpPr/>
          <p:nvPr/>
        </p:nvSpPr>
        <p:spPr>
          <a:xfrm>
            <a:off x="10175704" y="1920240"/>
            <a:ext cx="1467351" cy="1828800"/>
          </a:xfrm>
          <a:prstGeom prst="roundRect">
            <a:avLst>
              <a:gd name="adj" fmla="val 7478"/>
            </a:avLst>
          </a:prstGeom>
          <a:solidFill>
            <a:srgbClr val="FCFDFD"/>
          </a:solidFill>
          <a:ln w="9525">
            <a:solidFill>
              <a:srgbClr val="DDE4E6"/>
            </a:solidFill>
            <a:prstDash val="solid"/>
          </a:ln>
        </p:spPr>
      </p:sp>
      <p:sp>
        <p:nvSpPr>
          <p:cNvPr id="33" name="Text 30"/>
          <p:cNvSpPr txBox="1"/>
          <p:nvPr/>
        </p:nvSpPr>
        <p:spPr>
          <a:xfrm>
            <a:off x="10175704" y="2011680"/>
            <a:ext cx="1467351" cy="320040"/>
          </a:xfrm>
          <a:prstGeom prst="rect">
            <a:avLst/>
          </a:prstGeom>
          <a:noFill/>
          <a:ln/>
        </p:spPr>
        <p:txBody>
          <a:bodyPr wrap="square" lIns="0" tIns="0" rIns="0" bIns="0" rtlCol="0" anchor="t"/>
          <a:lstStyle/>
          <a:p>
            <a:pPr algn="ctr" indent="0" marL="0">
              <a:buNone/>
            </a:pPr>
            <a:r>
              <a:rPr lang="en-US" sz="1400" b="1" dirty="0">
                <a:solidFill>
                  <a:srgbClr val="2F6B3A"/>
                </a:solidFill>
                <a:latin typeface="Courier New" pitchFamily="34" charset="0"/>
                <a:ea typeface="Courier New" pitchFamily="34" charset="-122"/>
                <a:cs typeface="Courier New" pitchFamily="34" charset="-120"/>
              </a:rPr>
              <a:t>7</a:t>
            </a:r>
            <a:endParaRPr lang="en-US" sz="1400" dirty="0"/>
          </a:p>
        </p:txBody>
      </p:sp>
      <p:sp>
        <p:nvSpPr>
          <p:cNvPr id="34" name="Text 31"/>
          <p:cNvSpPr txBox="1"/>
          <p:nvPr/>
        </p:nvSpPr>
        <p:spPr>
          <a:xfrm>
            <a:off x="10175704" y="2331720"/>
            <a:ext cx="1467351" cy="457200"/>
          </a:xfrm>
          <a:prstGeom prst="rect">
            <a:avLst/>
          </a:prstGeom>
          <a:noFill/>
          <a:ln/>
        </p:spPr>
        <p:txBody>
          <a:bodyPr wrap="square" lIns="0" tIns="0" rIns="0" bIns="0" rtlCol="0" anchor="ctr"/>
          <a:lstStyle/>
          <a:p>
            <a:pPr algn="ctr" indent="0" marL="0">
              <a:buNone/>
            </a:pPr>
            <a:r>
              <a:rPr lang="en-US" sz="1600" b="1" dirty="0">
                <a:solidFill>
                  <a:srgbClr val="17221A"/>
                </a:solidFill>
                <a:latin typeface="Arial" pitchFamily="34" charset="0"/>
                <a:ea typeface="Arial" pitchFamily="34" charset="-122"/>
                <a:cs typeface="Arial" pitchFamily="34" charset="-120"/>
              </a:rPr>
              <a:t>Improve</a:t>
            </a:r>
            <a:endParaRPr lang="en-US" sz="1600" dirty="0"/>
          </a:p>
        </p:txBody>
      </p:sp>
      <p:sp>
        <p:nvSpPr>
          <p:cNvPr id="35" name="Text 32"/>
          <p:cNvSpPr txBox="1"/>
          <p:nvPr/>
        </p:nvSpPr>
        <p:spPr>
          <a:xfrm>
            <a:off x="10248856" y="2834640"/>
            <a:ext cx="1321047" cy="822960"/>
          </a:xfrm>
          <a:prstGeom prst="rect">
            <a:avLst/>
          </a:prstGeom>
          <a:noFill/>
          <a:ln/>
        </p:spPr>
        <p:txBody>
          <a:bodyPr wrap="square" lIns="0" tIns="0" rIns="0" bIns="0" rtlCol="0" anchor="t"/>
          <a:lstStyle/>
          <a:p>
            <a:pPr algn="ctr" indent="0" marL="0">
              <a:buNone/>
            </a:pPr>
            <a:r>
              <a:rPr lang="en-US" sz="1300" dirty="0">
                <a:solidFill>
                  <a:srgbClr val="526066"/>
                </a:solidFill>
                <a:latin typeface="Arial" pitchFamily="34" charset="0"/>
                <a:ea typeface="Arial" pitchFamily="34" charset="-122"/>
                <a:cs typeface="Arial" pitchFamily="34" charset="-120"/>
              </a:rPr>
              <a:t>Næste gang hurtigere</a:t>
            </a:r>
            <a:endParaRPr lang="en-US" sz="1300" dirty="0"/>
          </a:p>
        </p:txBody>
      </p:sp>
      <p:sp>
        <p:nvSpPr>
          <p:cNvPr id="36" name="Shape 33"/>
          <p:cNvSpPr/>
          <p:nvPr/>
        </p:nvSpPr>
        <p:spPr>
          <a:xfrm>
            <a:off x="548640" y="4069080"/>
            <a:ext cx="5387188" cy="2011680"/>
          </a:xfrm>
          <a:prstGeom prst="roundRect">
            <a:avLst>
              <a:gd name="adj" fmla="val 5455"/>
            </a:avLst>
          </a:prstGeom>
          <a:solidFill>
            <a:srgbClr val="FCFDFD"/>
          </a:solidFill>
          <a:ln w="9525">
            <a:solidFill>
              <a:srgbClr val="DDE4E6"/>
            </a:solidFill>
            <a:prstDash val="solid"/>
          </a:ln>
        </p:spPr>
      </p:sp>
      <p:sp>
        <p:nvSpPr>
          <p:cNvPr id="37" name="Text 34"/>
          <p:cNvSpPr txBox="1"/>
          <p:nvPr/>
        </p:nvSpPr>
        <p:spPr>
          <a:xfrm>
            <a:off x="868680" y="4206240"/>
            <a:ext cx="4747108" cy="411480"/>
          </a:xfrm>
          <a:prstGeom prst="rect">
            <a:avLst/>
          </a:prstGeom>
          <a:noFill/>
          <a:ln/>
        </p:spPr>
        <p:txBody>
          <a:bodyPr wrap="square" lIns="0" tIns="0" rIns="0" bIns="0" rtlCol="0" anchor="t"/>
          <a:lstStyle/>
          <a:p>
            <a:pPr indent="0" marL="0">
              <a:buNone/>
            </a:pPr>
            <a:r>
              <a:rPr lang="en-US" sz="2100" dirty="0">
                <a:solidFill>
                  <a:srgbClr val="17221A"/>
                </a:solidFill>
                <a:latin typeface="Georgia" pitchFamily="34" charset="0"/>
                <a:ea typeface="Georgia" pitchFamily="34" charset="-122"/>
                <a:cs typeface="Georgia" pitchFamily="34" charset="-120"/>
              </a:rPr>
              <a:t>Ikke et samlebånd</a:t>
            </a:r>
            <a:endParaRPr lang="en-US" sz="2100" dirty="0"/>
          </a:p>
        </p:txBody>
      </p:sp>
      <p:sp>
        <p:nvSpPr>
          <p:cNvPr id="38" name="Text 35"/>
          <p:cNvSpPr txBox="1"/>
          <p:nvPr/>
        </p:nvSpPr>
        <p:spPr>
          <a:xfrm>
            <a:off x="868680" y="4663440"/>
            <a:ext cx="4747108" cy="132588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Engage og design bruges to gange</a:t>
            </a:r>
            <a:endParaRPr lang="en-US" sz="1600" dirty="0"/>
          </a:p>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Plan bruges slet ikke</a:t>
            </a:r>
            <a:endParaRPr lang="en-US" sz="1600" dirty="0"/>
          </a:p>
          <a:p>
            <a:pPr marL="342900" indent="-342900">
              <a:spcAft>
                <a:spcPts val="400"/>
              </a:spcAft>
              <a:buSzPct val="100000"/>
              <a:buChar char="•"/>
            </a:pPr>
            <a:r>
              <a:rPr lang="en-US" sz="1600" dirty="0">
                <a:solidFill>
                  <a:srgbClr val="526066"/>
                </a:solidFill>
                <a:latin typeface="Arial" pitchFamily="34" charset="0"/>
                <a:ea typeface="Arial" pitchFamily="34" charset="-122"/>
                <a:cs typeface="Arial" pitchFamily="34" charset="-120"/>
              </a:rPr>
              <a:t>Kundens behov styrer rækkefølgen</a:t>
            </a:r>
            <a:endParaRPr lang="en-US" sz="1600" dirty="0"/>
          </a:p>
        </p:txBody>
      </p:sp>
      <p:sp>
        <p:nvSpPr>
          <p:cNvPr id="39" name="Shape 36"/>
          <p:cNvSpPr/>
          <p:nvPr/>
        </p:nvSpPr>
        <p:spPr>
          <a:xfrm>
            <a:off x="6255868" y="4069080"/>
            <a:ext cx="5387188" cy="2011680"/>
          </a:xfrm>
          <a:prstGeom prst="roundRect">
            <a:avLst>
              <a:gd name="adj" fmla="val 5455"/>
            </a:avLst>
          </a:prstGeom>
          <a:solidFill>
            <a:srgbClr val="E9F4EA"/>
          </a:solidFill>
          <a:ln w="9525">
            <a:solidFill>
              <a:srgbClr val="A9D3B0"/>
            </a:solidFill>
            <a:prstDash val="solid"/>
          </a:ln>
        </p:spPr>
      </p:sp>
      <p:sp>
        <p:nvSpPr>
          <p:cNvPr id="40" name="Text 37"/>
          <p:cNvSpPr txBox="1"/>
          <p:nvPr/>
        </p:nvSpPr>
        <p:spPr>
          <a:xfrm>
            <a:off x="6575908" y="4206240"/>
            <a:ext cx="4747108" cy="411480"/>
          </a:xfrm>
          <a:prstGeom prst="rect">
            <a:avLst/>
          </a:prstGeom>
          <a:noFill/>
          <a:ln/>
        </p:spPr>
        <p:txBody>
          <a:bodyPr wrap="square" lIns="0" tIns="0" rIns="0" bIns="0" rtlCol="0" anchor="t"/>
          <a:lstStyle/>
          <a:p>
            <a:pPr indent="0" marL="0">
              <a:buNone/>
            </a:pPr>
            <a:r>
              <a:rPr lang="en-US" sz="2100" dirty="0">
                <a:solidFill>
                  <a:srgbClr val="1E4A26"/>
                </a:solidFill>
                <a:latin typeface="Georgia" pitchFamily="34" charset="0"/>
                <a:ea typeface="Georgia" pitchFamily="34" charset="-122"/>
                <a:cs typeface="Georgia" pitchFamily="34" charset="-120"/>
              </a:rPr>
              <a:t>Hver aktivitet bidrager</a:t>
            </a:r>
            <a:endParaRPr lang="en-US" sz="2100" dirty="0"/>
          </a:p>
        </p:txBody>
      </p:sp>
      <p:sp>
        <p:nvSpPr>
          <p:cNvPr id="41" name="Text 38"/>
          <p:cNvSpPr txBox="1"/>
          <p:nvPr/>
        </p:nvSpPr>
        <p:spPr>
          <a:xfrm>
            <a:off x="6575908" y="4663440"/>
            <a:ext cx="4747108" cy="132588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Engage: værdi skabt sammen med landmanden</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Design: testes før drift, stabil drift</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Deliver og support: værdi hver dag</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Improve: fejl bliver forbedringer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4</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Incident management</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4</a:t>
            </a:r>
            <a:endParaRPr lang="en-US" sz="1000" dirty="0"/>
          </a:p>
        </p:txBody>
      </p:sp>
      <p:sp>
        <p:nvSpPr>
          <p:cNvPr id="7" name="Shape 4"/>
          <p:cNvSpPr/>
          <p:nvPr/>
        </p:nvSpPr>
        <p:spPr>
          <a:xfrm>
            <a:off x="548640" y="1463040"/>
            <a:ext cx="11094415" cy="685800"/>
          </a:xfrm>
          <a:prstGeom prst="roundRect">
            <a:avLst>
              <a:gd name="adj" fmla="val 16000"/>
            </a:avLst>
          </a:prstGeom>
          <a:solidFill>
            <a:srgbClr val="E9F4EA"/>
          </a:solidFill>
          <a:ln w="9525">
            <a:solidFill>
              <a:srgbClr val="A9D3B0"/>
            </a:solidFill>
            <a:prstDash val="solid"/>
          </a:ln>
        </p:spPr>
      </p:sp>
      <p:sp>
        <p:nvSpPr>
          <p:cNvPr id="8" name="Text 5"/>
          <p:cNvSpPr txBox="1"/>
          <p:nvPr/>
        </p:nvSpPr>
        <p:spPr>
          <a:xfrm>
            <a:off x="822960" y="1463040"/>
            <a:ext cx="10545775" cy="685800"/>
          </a:xfrm>
          <a:prstGeom prst="rect">
            <a:avLst/>
          </a:prstGeom>
          <a:noFill/>
          <a:ln/>
        </p:spPr>
        <p:txBody>
          <a:bodyPr wrap="square" lIns="0" tIns="0" rIns="0" bIns="0" rtlCol="0" anchor="ctr"/>
          <a:lstStyle/>
          <a:p>
            <a:pPr indent="0" marL="0">
              <a:buNone/>
            </a:pPr>
            <a:r>
              <a:rPr lang="en-US" sz="1500" b="1" dirty="0">
                <a:solidFill>
                  <a:srgbClr val="1E4A26"/>
                </a:solidFill>
                <a:latin typeface="Arial" pitchFamily="34" charset="0"/>
                <a:ea typeface="Arial" pitchFamily="34" charset="-122"/>
                <a:cs typeface="Arial" pitchFamily="34" charset="-120"/>
              </a:rPr>
              <a:t>Incident:  </a:t>
            </a:r>
            <a:pPr indent="0" marL="0">
              <a:buNone/>
            </a:pPr>
            <a:r>
              <a:rPr lang="en-US" sz="1500" dirty="0">
                <a:solidFill>
                  <a:srgbClr val="1E4A26"/>
                </a:solidFill>
                <a:latin typeface="Arial" pitchFamily="34" charset="0"/>
                <a:ea typeface="Arial" pitchFamily="34" charset="-122"/>
                <a:cs typeface="Arial" pitchFamily="34" charset="-120"/>
              </a:rPr>
              <a:t>uplanlagt afbrydelse eller forringelse.  </a:t>
            </a:r>
            <a:pPr indent="0" marL="0">
              <a:buNone/>
            </a:pPr>
            <a:r>
              <a:rPr lang="en-US" sz="1500" b="1" dirty="0">
                <a:solidFill>
                  <a:srgbClr val="1E4A26"/>
                </a:solidFill>
                <a:latin typeface="Arial" pitchFamily="34" charset="0"/>
                <a:ea typeface="Arial" pitchFamily="34" charset="-122"/>
                <a:cs typeface="Arial" pitchFamily="34" charset="-120"/>
              </a:rPr>
              <a:t>Formål:  </a:t>
            </a:r>
            <a:pPr indent="0" marL="0">
              <a:buNone/>
            </a:pPr>
            <a:r>
              <a:rPr lang="en-US" sz="1500" dirty="0">
                <a:solidFill>
                  <a:srgbClr val="1E4A26"/>
                </a:solidFill>
                <a:latin typeface="Arial" pitchFamily="34" charset="0"/>
                <a:ea typeface="Arial" pitchFamily="34" charset="-122"/>
                <a:cs typeface="Arial" pitchFamily="34" charset="-120"/>
              </a:rPr>
              <a:t>op igen hurtigst muligt. Årsagen: problem.</a:t>
            </a:r>
            <a:endParaRPr lang="en-US" sz="1500" dirty="0"/>
          </a:p>
        </p:txBody>
      </p:sp>
      <p:sp>
        <p:nvSpPr>
          <p:cNvPr id="9" name="Shape 6"/>
          <p:cNvSpPr/>
          <p:nvPr/>
        </p:nvSpPr>
        <p:spPr>
          <a:xfrm>
            <a:off x="548640" y="2377440"/>
            <a:ext cx="2036003" cy="777240"/>
          </a:xfrm>
          <a:prstGeom prst="roundRect">
            <a:avLst>
              <a:gd name="adj" fmla="val 14118"/>
            </a:avLst>
          </a:prstGeom>
          <a:solidFill>
            <a:srgbClr val="2F6B3A"/>
          </a:solidFill>
          <a:ln w="9525">
            <a:solidFill>
              <a:srgbClr val="2F6B3A"/>
            </a:solidFill>
            <a:prstDash val="solid"/>
          </a:ln>
        </p:spPr>
      </p:sp>
      <p:sp>
        <p:nvSpPr>
          <p:cNvPr id="10" name="Text 7"/>
          <p:cNvSpPr txBox="1"/>
          <p:nvPr/>
        </p:nvSpPr>
        <p:spPr>
          <a:xfrm>
            <a:off x="548640"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Registrer</a:t>
            </a:r>
            <a:endParaRPr lang="en-US" sz="1700" dirty="0"/>
          </a:p>
        </p:txBody>
      </p:sp>
      <p:sp>
        <p:nvSpPr>
          <p:cNvPr id="11" name="Shape 8"/>
          <p:cNvSpPr/>
          <p:nvPr/>
        </p:nvSpPr>
        <p:spPr>
          <a:xfrm>
            <a:off x="2602931" y="2761488"/>
            <a:ext cx="192024" cy="914"/>
          </a:xfrm>
          <a:prstGeom prst="line">
            <a:avLst/>
          </a:prstGeom>
          <a:noFill/>
          <a:ln w="19050">
            <a:solidFill>
              <a:srgbClr val="6E7C81"/>
            </a:solidFill>
            <a:prstDash val="solid"/>
            <a:tailEnd type="triangle"/>
          </a:ln>
        </p:spPr>
      </p:sp>
      <p:sp>
        <p:nvSpPr>
          <p:cNvPr id="12" name="Shape 9"/>
          <p:cNvSpPr/>
          <p:nvPr/>
        </p:nvSpPr>
        <p:spPr>
          <a:xfrm>
            <a:off x="2813243" y="2377440"/>
            <a:ext cx="2036003" cy="777240"/>
          </a:xfrm>
          <a:prstGeom prst="roundRect">
            <a:avLst>
              <a:gd name="adj" fmla="val 14118"/>
            </a:avLst>
          </a:prstGeom>
          <a:solidFill>
            <a:srgbClr val="2F6B3A"/>
          </a:solidFill>
          <a:ln w="9525">
            <a:solidFill>
              <a:srgbClr val="2F6B3A"/>
            </a:solidFill>
            <a:prstDash val="solid"/>
          </a:ln>
        </p:spPr>
      </p:sp>
      <p:sp>
        <p:nvSpPr>
          <p:cNvPr id="13" name="Text 10"/>
          <p:cNvSpPr txBox="1"/>
          <p:nvPr/>
        </p:nvSpPr>
        <p:spPr>
          <a:xfrm>
            <a:off x="2813243"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Prioriter</a:t>
            </a:r>
            <a:endParaRPr lang="en-US" sz="1700" dirty="0"/>
          </a:p>
        </p:txBody>
      </p:sp>
      <p:sp>
        <p:nvSpPr>
          <p:cNvPr id="14" name="Shape 11"/>
          <p:cNvSpPr/>
          <p:nvPr/>
        </p:nvSpPr>
        <p:spPr>
          <a:xfrm>
            <a:off x="4867534" y="2761488"/>
            <a:ext cx="192024" cy="914"/>
          </a:xfrm>
          <a:prstGeom prst="line">
            <a:avLst/>
          </a:prstGeom>
          <a:noFill/>
          <a:ln w="19050">
            <a:solidFill>
              <a:srgbClr val="6E7C81"/>
            </a:solidFill>
            <a:prstDash val="solid"/>
            <a:tailEnd type="triangle"/>
          </a:ln>
        </p:spPr>
      </p:sp>
      <p:sp>
        <p:nvSpPr>
          <p:cNvPr id="15" name="Shape 12"/>
          <p:cNvSpPr/>
          <p:nvPr/>
        </p:nvSpPr>
        <p:spPr>
          <a:xfrm>
            <a:off x="5077846" y="2377440"/>
            <a:ext cx="2036003" cy="777240"/>
          </a:xfrm>
          <a:prstGeom prst="roundRect">
            <a:avLst>
              <a:gd name="adj" fmla="val 14118"/>
            </a:avLst>
          </a:prstGeom>
          <a:solidFill>
            <a:srgbClr val="2F6B3A"/>
          </a:solidFill>
          <a:ln w="9525">
            <a:solidFill>
              <a:srgbClr val="2F6B3A"/>
            </a:solidFill>
            <a:prstDash val="solid"/>
          </a:ln>
        </p:spPr>
      </p:sp>
      <p:sp>
        <p:nvSpPr>
          <p:cNvPr id="16" name="Text 13"/>
          <p:cNvSpPr txBox="1"/>
          <p:nvPr/>
        </p:nvSpPr>
        <p:spPr>
          <a:xfrm>
            <a:off x="5077846"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Diagnosticer</a:t>
            </a:r>
            <a:endParaRPr lang="en-US" sz="1700" dirty="0"/>
          </a:p>
        </p:txBody>
      </p:sp>
      <p:sp>
        <p:nvSpPr>
          <p:cNvPr id="17" name="Shape 14"/>
          <p:cNvSpPr/>
          <p:nvPr/>
        </p:nvSpPr>
        <p:spPr>
          <a:xfrm>
            <a:off x="7132137" y="2761488"/>
            <a:ext cx="192024" cy="914"/>
          </a:xfrm>
          <a:prstGeom prst="line">
            <a:avLst/>
          </a:prstGeom>
          <a:noFill/>
          <a:ln w="19050">
            <a:solidFill>
              <a:srgbClr val="6E7C81"/>
            </a:solidFill>
            <a:prstDash val="solid"/>
            <a:tailEnd type="triangle"/>
          </a:ln>
        </p:spPr>
      </p:sp>
      <p:sp>
        <p:nvSpPr>
          <p:cNvPr id="18" name="Shape 15"/>
          <p:cNvSpPr/>
          <p:nvPr/>
        </p:nvSpPr>
        <p:spPr>
          <a:xfrm>
            <a:off x="7342449" y="2377440"/>
            <a:ext cx="2036003" cy="777240"/>
          </a:xfrm>
          <a:prstGeom prst="roundRect">
            <a:avLst>
              <a:gd name="adj" fmla="val 14118"/>
            </a:avLst>
          </a:prstGeom>
          <a:solidFill>
            <a:srgbClr val="2F6B3A"/>
          </a:solidFill>
          <a:ln w="9525">
            <a:solidFill>
              <a:srgbClr val="2F6B3A"/>
            </a:solidFill>
            <a:prstDash val="solid"/>
          </a:ln>
        </p:spPr>
      </p:sp>
      <p:sp>
        <p:nvSpPr>
          <p:cNvPr id="19" name="Text 16"/>
          <p:cNvSpPr txBox="1"/>
          <p:nvPr/>
        </p:nvSpPr>
        <p:spPr>
          <a:xfrm>
            <a:off x="7342449"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Eskaler</a:t>
            </a:r>
            <a:endParaRPr lang="en-US" sz="1700" dirty="0"/>
          </a:p>
        </p:txBody>
      </p:sp>
      <p:sp>
        <p:nvSpPr>
          <p:cNvPr id="20" name="Shape 17"/>
          <p:cNvSpPr/>
          <p:nvPr/>
        </p:nvSpPr>
        <p:spPr>
          <a:xfrm>
            <a:off x="9396740" y="2761488"/>
            <a:ext cx="192024" cy="914"/>
          </a:xfrm>
          <a:prstGeom prst="line">
            <a:avLst/>
          </a:prstGeom>
          <a:noFill/>
          <a:ln w="19050">
            <a:solidFill>
              <a:srgbClr val="6E7C81"/>
            </a:solidFill>
            <a:prstDash val="solid"/>
            <a:tailEnd type="triangle"/>
          </a:ln>
        </p:spPr>
      </p:sp>
      <p:sp>
        <p:nvSpPr>
          <p:cNvPr id="21" name="Shape 18"/>
          <p:cNvSpPr/>
          <p:nvPr/>
        </p:nvSpPr>
        <p:spPr>
          <a:xfrm>
            <a:off x="9607052" y="2377440"/>
            <a:ext cx="2036003" cy="777240"/>
          </a:xfrm>
          <a:prstGeom prst="roundRect">
            <a:avLst>
              <a:gd name="adj" fmla="val 14118"/>
            </a:avLst>
          </a:prstGeom>
          <a:solidFill>
            <a:srgbClr val="2F6B3A"/>
          </a:solidFill>
          <a:ln w="9525">
            <a:solidFill>
              <a:srgbClr val="2F6B3A"/>
            </a:solidFill>
            <a:prstDash val="solid"/>
          </a:ln>
        </p:spPr>
      </p:sp>
      <p:sp>
        <p:nvSpPr>
          <p:cNvPr id="22" name="Text 19"/>
          <p:cNvSpPr txBox="1"/>
          <p:nvPr/>
        </p:nvSpPr>
        <p:spPr>
          <a:xfrm>
            <a:off x="9607052" y="2377440"/>
            <a:ext cx="2036003" cy="777240"/>
          </a:xfrm>
          <a:prstGeom prst="rect">
            <a:avLst/>
          </a:prstGeom>
          <a:noFill/>
          <a:ln/>
        </p:spPr>
        <p:txBody>
          <a:bodyPr wrap="square" lIns="0" tIns="0" rIns="0" bIns="0" rtlCol="0" anchor="ctr"/>
          <a:lstStyle/>
          <a:p>
            <a:pPr algn="ctr" indent="0" marL="0">
              <a:buNone/>
            </a:pPr>
            <a:r>
              <a:rPr lang="en-US" sz="1700" b="1" dirty="0">
                <a:solidFill>
                  <a:srgbClr val="FFFFFF"/>
                </a:solidFill>
                <a:latin typeface="Arial" pitchFamily="34" charset="0"/>
                <a:ea typeface="Arial" pitchFamily="34" charset="-122"/>
                <a:cs typeface="Arial" pitchFamily="34" charset="-120"/>
              </a:rPr>
              <a:t>Løs og luk</a:t>
            </a:r>
            <a:endParaRPr lang="en-US" sz="1700" dirty="0"/>
          </a:p>
        </p:txBody>
      </p:sp>
      <p:sp>
        <p:nvSpPr>
          <p:cNvPr id="23" name="Shape 20"/>
          <p:cNvSpPr/>
          <p:nvPr/>
        </p:nvSpPr>
        <p:spPr>
          <a:xfrm>
            <a:off x="548640" y="3383280"/>
            <a:ext cx="5387188" cy="2743200"/>
          </a:xfrm>
          <a:prstGeom prst="roundRect">
            <a:avLst>
              <a:gd name="adj" fmla="val 4000"/>
            </a:avLst>
          </a:prstGeom>
          <a:solidFill>
            <a:srgbClr val="FCFDFD"/>
          </a:solidFill>
          <a:ln w="9525">
            <a:solidFill>
              <a:srgbClr val="DDE4E6"/>
            </a:solidFill>
            <a:prstDash val="solid"/>
          </a:ln>
        </p:spPr>
      </p:sp>
      <p:sp>
        <p:nvSpPr>
          <p:cNvPr id="24" name="Text 21"/>
          <p:cNvSpPr txBox="1"/>
          <p:nvPr/>
        </p:nvSpPr>
        <p:spPr>
          <a:xfrm>
            <a:off x="868680" y="3520440"/>
            <a:ext cx="4747108" cy="411480"/>
          </a:xfrm>
          <a:prstGeom prst="rect">
            <a:avLst/>
          </a:prstGeom>
          <a:noFill/>
          <a:ln/>
        </p:spPr>
        <p:txBody>
          <a:bodyPr wrap="square" lIns="0" tIns="0" rIns="0" bIns="0" rtlCol="0" anchor="t"/>
          <a:lstStyle/>
          <a:p>
            <a:pPr indent="0" marL="0">
              <a:buNone/>
            </a:pPr>
            <a:r>
              <a:rPr lang="en-US" sz="2000" dirty="0">
                <a:solidFill>
                  <a:srgbClr val="17221A"/>
                </a:solidFill>
                <a:latin typeface="Georgia" pitchFamily="34" charset="0"/>
                <a:ea typeface="Georgia" pitchFamily="34" charset="-122"/>
                <a:cs typeface="Georgia" pitchFamily="34" charset="-120"/>
              </a:rPr>
              <a:t>Hvem gør hvad</a:t>
            </a:r>
            <a:endParaRPr lang="en-US" sz="2000" dirty="0"/>
          </a:p>
        </p:txBody>
      </p:sp>
      <p:sp>
        <p:nvSpPr>
          <p:cNvPr id="25" name="Text 22"/>
          <p:cNvSpPr txBox="1"/>
          <p:nvPr/>
        </p:nvSpPr>
        <p:spPr>
          <a:xfrm>
            <a:off x="868680" y="3977640"/>
            <a:ext cx="4747108" cy="201168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Prioritet: hvor slemt og hvor hastende, styrer SLA'en</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Eskaler: L1 servicedesk, L2 specialister, L3 R&amp;D</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Servicedesken: landmandens ene indgang</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Fælles ticketsystem, alle tre steder</a:t>
            </a:r>
            <a:endParaRPr lang="en-US" sz="1500" dirty="0"/>
          </a:p>
        </p:txBody>
      </p:sp>
      <p:sp>
        <p:nvSpPr>
          <p:cNvPr id="26" name="Shape 23"/>
          <p:cNvSpPr/>
          <p:nvPr/>
        </p:nvSpPr>
        <p:spPr>
          <a:xfrm>
            <a:off x="6255868" y="3383280"/>
            <a:ext cx="5387188" cy="2743200"/>
          </a:xfrm>
          <a:prstGeom prst="roundRect">
            <a:avLst>
              <a:gd name="adj" fmla="val 4000"/>
            </a:avLst>
          </a:prstGeom>
          <a:solidFill>
            <a:srgbClr val="FCFDFD"/>
          </a:solidFill>
          <a:ln w="9525">
            <a:solidFill>
              <a:srgbClr val="DDE4E6"/>
            </a:solidFill>
            <a:prstDash val="solid"/>
          </a:ln>
        </p:spPr>
      </p:sp>
      <p:sp>
        <p:nvSpPr>
          <p:cNvPr id="27" name="Shape 24"/>
          <p:cNvSpPr/>
          <p:nvPr/>
        </p:nvSpPr>
        <p:spPr>
          <a:xfrm>
            <a:off x="6530188" y="3520440"/>
            <a:ext cx="457200" cy="457200"/>
          </a:xfrm>
          <a:prstGeom prst="ellipse">
            <a:avLst/>
          </a:prstGeom>
          <a:solidFill>
            <a:srgbClr val="B93A32"/>
          </a:solidFill>
          <a:ln w="12700">
            <a:solidFill>
              <a:srgbClr val="B93A32"/>
            </a:solidFill>
            <a:prstDash val="solid"/>
          </a:ln>
        </p:spPr>
      </p:sp>
      <p:pic>
        <p:nvPicPr>
          <p:cNvPr id="28" name="Image 0" descr="preencoded.png">    </p:cNvPr>
          <p:cNvPicPr>
            <a:picLocks noChangeAspect="1"/>
          </p:cNvPicPr>
          <p:nvPr/>
        </p:nvPicPr>
        <p:blipFill>
          <a:blip r:embed="rId1"/>
          <a:stretch>
            <a:fillRect/>
          </a:stretch>
        </p:blipFill>
        <p:spPr>
          <a:xfrm>
            <a:off x="6639916" y="3630168"/>
            <a:ext cx="237744" cy="237744"/>
          </a:xfrm>
          <a:prstGeom prst="rect">
            <a:avLst/>
          </a:prstGeom>
        </p:spPr>
      </p:pic>
      <p:sp>
        <p:nvSpPr>
          <p:cNvPr id="29" name="Text 25"/>
          <p:cNvSpPr txBox="1"/>
          <p:nvPr/>
        </p:nvSpPr>
        <p:spPr>
          <a:xfrm>
            <a:off x="7124548" y="3520440"/>
            <a:ext cx="4289908" cy="457200"/>
          </a:xfrm>
          <a:prstGeom prst="rect">
            <a:avLst/>
          </a:prstGeom>
          <a:noFill/>
          <a:ln/>
        </p:spPr>
        <p:txBody>
          <a:bodyPr wrap="square" lIns="0" tIns="0" rIns="0" bIns="0" rtlCol="0" anchor="ctr"/>
          <a:lstStyle/>
          <a:p>
            <a:pPr indent="0" marL="0">
              <a:buNone/>
            </a:pPr>
            <a:r>
              <a:rPr lang="en-US" sz="2000" dirty="0">
                <a:solidFill>
                  <a:srgbClr val="17221A"/>
                </a:solidFill>
                <a:latin typeface="Georgia" pitchFamily="34" charset="0"/>
                <a:ea typeface="Georgia" pitchFamily="34" charset="-122"/>
                <a:cs typeface="Georgia" pitchFamily="34" charset="-120"/>
              </a:rPr>
              <a:t>Kvægstald, sommernat</a:t>
            </a:r>
            <a:endParaRPr lang="en-US" sz="2000" dirty="0"/>
          </a:p>
        </p:txBody>
      </p:sp>
      <p:sp>
        <p:nvSpPr>
          <p:cNvPr id="30" name="Text 26"/>
          <p:cNvSpPr txBox="1"/>
          <p:nvPr/>
        </p:nvSpPr>
        <p:spPr>
          <a:xfrm>
            <a:off x="6575908" y="4069080"/>
            <a:ext cx="4747108" cy="1920240"/>
          </a:xfrm>
          <a:prstGeom prst="rect">
            <a:avLst/>
          </a:prstGeom>
          <a:noFill/>
          <a:ln/>
        </p:spPr>
        <p:txBody>
          <a:bodyPr wrap="square" lIns="0" tIns="0" rIns="0" bIns="0" rtlCol="0" anchor="t"/>
          <a:lstStyle/>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Sensorerne sender ikke data: prioritet 1</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L2: fejl i gatewayen, tekniker med en ny</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Workaround: landmanden tjekker selv dyrene</a:t>
            </a:r>
            <a:endParaRPr lang="en-US" sz="1500" dirty="0"/>
          </a:p>
          <a:p>
            <a:pPr marL="342900" indent="-342900">
              <a:spcAft>
                <a:spcPts val="500"/>
              </a:spcAft>
              <a:buSzPct val="100000"/>
              <a:buChar char="•"/>
            </a:pPr>
            <a:r>
              <a:rPr lang="en-US" sz="1500" dirty="0">
                <a:solidFill>
                  <a:srgbClr val="526066"/>
                </a:solidFill>
                <a:latin typeface="Arial" pitchFamily="34" charset="0"/>
                <a:ea typeface="Arial" pitchFamily="34" charset="-122"/>
                <a:cs typeface="Arial" pitchFamily="34" charset="-120"/>
              </a:rPr>
              <a:t>Mange stalde: major incident med én leder</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4</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Problem management</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5</a:t>
            </a:r>
            <a:endParaRPr lang="en-US" sz="1000" dirty="0"/>
          </a:p>
        </p:txBody>
      </p:sp>
      <p:sp>
        <p:nvSpPr>
          <p:cNvPr id="7" name="Shape 4"/>
          <p:cNvSpPr/>
          <p:nvPr/>
        </p:nvSpPr>
        <p:spPr>
          <a:xfrm>
            <a:off x="548640" y="1463040"/>
            <a:ext cx="11094415" cy="685800"/>
          </a:xfrm>
          <a:prstGeom prst="roundRect">
            <a:avLst>
              <a:gd name="adj" fmla="val 16000"/>
            </a:avLst>
          </a:prstGeom>
          <a:solidFill>
            <a:srgbClr val="E9F4EA"/>
          </a:solidFill>
          <a:ln w="9525">
            <a:solidFill>
              <a:srgbClr val="A9D3B0"/>
            </a:solidFill>
            <a:prstDash val="solid"/>
          </a:ln>
        </p:spPr>
      </p:sp>
      <p:sp>
        <p:nvSpPr>
          <p:cNvPr id="8" name="Text 5"/>
          <p:cNvSpPr txBox="1"/>
          <p:nvPr/>
        </p:nvSpPr>
        <p:spPr>
          <a:xfrm>
            <a:off x="822960" y="1463040"/>
            <a:ext cx="10545775" cy="685800"/>
          </a:xfrm>
          <a:prstGeom prst="rect">
            <a:avLst/>
          </a:prstGeom>
          <a:noFill/>
          <a:ln/>
        </p:spPr>
        <p:txBody>
          <a:bodyPr wrap="square" lIns="0" tIns="0" rIns="0" bIns="0" rtlCol="0" anchor="ctr"/>
          <a:lstStyle/>
          <a:p>
            <a:pPr indent="0" marL="0">
              <a:buNone/>
            </a:pPr>
            <a:r>
              <a:rPr lang="en-US" sz="1500" b="1" dirty="0">
                <a:solidFill>
                  <a:srgbClr val="1E4A26"/>
                </a:solidFill>
                <a:latin typeface="Arial" pitchFamily="34" charset="0"/>
                <a:ea typeface="Arial" pitchFamily="34" charset="-122"/>
                <a:cs typeface="Arial" pitchFamily="34" charset="-120"/>
              </a:rPr>
              <a:t>Problem:  </a:t>
            </a:r>
            <a:pPr indent="0" marL="0">
              <a:buNone/>
            </a:pPr>
            <a:r>
              <a:rPr lang="en-US" sz="1500" dirty="0">
                <a:solidFill>
                  <a:srgbClr val="1E4A26"/>
                </a:solidFill>
                <a:latin typeface="Arial" pitchFamily="34" charset="0"/>
                <a:ea typeface="Arial" pitchFamily="34" charset="-122"/>
                <a:cs typeface="Arial" pitchFamily="34" charset="-120"/>
              </a:rPr>
              <a:t>årsagen, eller den mulige årsag, til incidents.  </a:t>
            </a:r>
            <a:pPr indent="0" marL="0">
              <a:buNone/>
            </a:pPr>
            <a:r>
              <a:rPr lang="en-US" sz="1500" b="1" dirty="0">
                <a:solidFill>
                  <a:srgbClr val="1E4A26"/>
                </a:solidFill>
                <a:latin typeface="Arial" pitchFamily="34" charset="0"/>
                <a:ea typeface="Arial" pitchFamily="34" charset="-122"/>
                <a:cs typeface="Arial" pitchFamily="34" charset="-120"/>
              </a:rPr>
              <a:t>Formål:  </a:t>
            </a:r>
            <a:pPr indent="0" marL="0">
              <a:buNone/>
            </a:pPr>
            <a:r>
              <a:rPr lang="en-US" sz="1500" dirty="0">
                <a:solidFill>
                  <a:srgbClr val="1E4A26"/>
                </a:solidFill>
                <a:latin typeface="Arial" pitchFamily="34" charset="0"/>
                <a:ea typeface="Arial" pitchFamily="34" charset="-122"/>
                <a:cs typeface="Arial" pitchFamily="34" charset="-120"/>
              </a:rPr>
              <a:t>så det ikke sker igen.</a:t>
            </a:r>
            <a:endParaRPr lang="en-US" sz="1500" dirty="0"/>
          </a:p>
        </p:txBody>
      </p:sp>
      <p:sp>
        <p:nvSpPr>
          <p:cNvPr id="9" name="Shape 6"/>
          <p:cNvSpPr/>
          <p:nvPr/>
        </p:nvSpPr>
        <p:spPr>
          <a:xfrm>
            <a:off x="548640" y="2377440"/>
            <a:ext cx="3515258" cy="1325880"/>
          </a:xfrm>
          <a:prstGeom prst="roundRect">
            <a:avLst>
              <a:gd name="adj" fmla="val 8276"/>
            </a:avLst>
          </a:prstGeom>
          <a:solidFill>
            <a:srgbClr val="FCFDFD"/>
          </a:solidFill>
          <a:ln w="9525">
            <a:solidFill>
              <a:srgbClr val="DDE4E6"/>
            </a:solidFill>
            <a:prstDash val="solid"/>
          </a:ln>
        </p:spPr>
      </p:sp>
      <p:sp>
        <p:nvSpPr>
          <p:cNvPr id="10" name="Text 7"/>
          <p:cNvSpPr txBox="1"/>
          <p:nvPr/>
        </p:nvSpPr>
        <p:spPr>
          <a:xfrm>
            <a:off x="822960" y="2487168"/>
            <a:ext cx="2966618" cy="384048"/>
          </a:xfrm>
          <a:prstGeom prst="rect">
            <a:avLst/>
          </a:prstGeom>
          <a:noFill/>
          <a:ln/>
        </p:spPr>
        <p:txBody>
          <a:bodyPr wrap="square" lIns="0" tIns="0" rIns="0" bIns="0" rtlCol="0" anchor="t"/>
          <a:lstStyle/>
          <a:p>
            <a:pPr indent="0" marL="0">
              <a:buNone/>
            </a:pPr>
            <a:r>
              <a:rPr lang="en-US" sz="1800" b="1" dirty="0">
                <a:solidFill>
                  <a:srgbClr val="17221A"/>
                </a:solidFill>
                <a:latin typeface="Arial" pitchFamily="34" charset="0"/>
                <a:ea typeface="Arial" pitchFamily="34" charset="-122"/>
                <a:cs typeface="Arial" pitchFamily="34" charset="-120"/>
              </a:rPr>
              <a:t>1  Identification</a:t>
            </a:r>
            <a:endParaRPr lang="en-US" sz="1800" dirty="0"/>
          </a:p>
        </p:txBody>
      </p:sp>
      <p:sp>
        <p:nvSpPr>
          <p:cNvPr id="11" name="Text 8"/>
          <p:cNvSpPr txBox="1"/>
          <p:nvPr/>
        </p:nvSpPr>
        <p:spPr>
          <a:xfrm>
            <a:off x="822960" y="2880360"/>
            <a:ext cx="2966618" cy="73152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Gentagne incidents, efter major incident eller proaktivt</a:t>
            </a:r>
            <a:endParaRPr lang="en-US" sz="1400" dirty="0"/>
          </a:p>
        </p:txBody>
      </p:sp>
      <p:sp>
        <p:nvSpPr>
          <p:cNvPr id="12" name="Shape 9"/>
          <p:cNvSpPr/>
          <p:nvPr/>
        </p:nvSpPr>
        <p:spPr>
          <a:xfrm>
            <a:off x="4338218" y="2377440"/>
            <a:ext cx="3515258" cy="1325880"/>
          </a:xfrm>
          <a:prstGeom prst="roundRect">
            <a:avLst>
              <a:gd name="adj" fmla="val 8276"/>
            </a:avLst>
          </a:prstGeom>
          <a:solidFill>
            <a:srgbClr val="FCFDFD"/>
          </a:solidFill>
          <a:ln w="9525">
            <a:solidFill>
              <a:srgbClr val="DDE4E6"/>
            </a:solidFill>
            <a:prstDash val="solid"/>
          </a:ln>
        </p:spPr>
      </p:sp>
      <p:sp>
        <p:nvSpPr>
          <p:cNvPr id="13" name="Text 10"/>
          <p:cNvSpPr txBox="1"/>
          <p:nvPr/>
        </p:nvSpPr>
        <p:spPr>
          <a:xfrm>
            <a:off x="4612538" y="2487168"/>
            <a:ext cx="2966618" cy="384048"/>
          </a:xfrm>
          <a:prstGeom prst="rect">
            <a:avLst/>
          </a:prstGeom>
          <a:noFill/>
          <a:ln/>
        </p:spPr>
        <p:txBody>
          <a:bodyPr wrap="square" lIns="0" tIns="0" rIns="0" bIns="0" rtlCol="0" anchor="t"/>
          <a:lstStyle/>
          <a:p>
            <a:pPr indent="0" marL="0">
              <a:buNone/>
            </a:pPr>
            <a:r>
              <a:rPr lang="en-US" sz="1800" b="1" dirty="0">
                <a:solidFill>
                  <a:srgbClr val="17221A"/>
                </a:solidFill>
                <a:latin typeface="Arial" pitchFamily="34" charset="0"/>
                <a:ea typeface="Arial" pitchFamily="34" charset="-122"/>
                <a:cs typeface="Arial" pitchFamily="34" charset="-120"/>
              </a:rPr>
              <a:t>2  Problem control</a:t>
            </a:r>
            <a:endParaRPr lang="en-US" sz="1800" dirty="0"/>
          </a:p>
        </p:txBody>
      </p:sp>
      <p:sp>
        <p:nvSpPr>
          <p:cNvPr id="14" name="Text 11"/>
          <p:cNvSpPr txBox="1"/>
          <p:nvPr/>
        </p:nvSpPr>
        <p:spPr>
          <a:xfrm>
            <a:off x="4612538" y="2880360"/>
            <a:ext cx="2966618" cy="73152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Root cause og workaround. Kendt, ikke løst: known error</a:t>
            </a:r>
            <a:endParaRPr lang="en-US" sz="1400" dirty="0"/>
          </a:p>
        </p:txBody>
      </p:sp>
      <p:sp>
        <p:nvSpPr>
          <p:cNvPr id="15" name="Shape 12"/>
          <p:cNvSpPr/>
          <p:nvPr/>
        </p:nvSpPr>
        <p:spPr>
          <a:xfrm>
            <a:off x="8127797" y="2377440"/>
            <a:ext cx="3515258" cy="1325880"/>
          </a:xfrm>
          <a:prstGeom prst="roundRect">
            <a:avLst>
              <a:gd name="adj" fmla="val 8276"/>
            </a:avLst>
          </a:prstGeom>
          <a:solidFill>
            <a:srgbClr val="FCFDFD"/>
          </a:solidFill>
          <a:ln w="9525">
            <a:solidFill>
              <a:srgbClr val="DDE4E6"/>
            </a:solidFill>
            <a:prstDash val="solid"/>
          </a:ln>
        </p:spPr>
      </p:sp>
      <p:sp>
        <p:nvSpPr>
          <p:cNvPr id="16" name="Text 13"/>
          <p:cNvSpPr txBox="1"/>
          <p:nvPr/>
        </p:nvSpPr>
        <p:spPr>
          <a:xfrm>
            <a:off x="8402117" y="2487168"/>
            <a:ext cx="2966618" cy="384048"/>
          </a:xfrm>
          <a:prstGeom prst="rect">
            <a:avLst/>
          </a:prstGeom>
          <a:noFill/>
          <a:ln/>
        </p:spPr>
        <p:txBody>
          <a:bodyPr wrap="square" lIns="0" tIns="0" rIns="0" bIns="0" rtlCol="0" anchor="t"/>
          <a:lstStyle/>
          <a:p>
            <a:pPr indent="0" marL="0">
              <a:buNone/>
            </a:pPr>
            <a:r>
              <a:rPr lang="en-US" sz="1800" b="1" dirty="0">
                <a:solidFill>
                  <a:srgbClr val="17221A"/>
                </a:solidFill>
                <a:latin typeface="Arial" pitchFamily="34" charset="0"/>
                <a:ea typeface="Arial" pitchFamily="34" charset="-122"/>
                <a:cs typeface="Arial" pitchFamily="34" charset="-120"/>
              </a:rPr>
              <a:t>3  Error control</a:t>
            </a:r>
            <a:endParaRPr lang="en-US" sz="1800" dirty="0"/>
          </a:p>
        </p:txBody>
      </p:sp>
      <p:sp>
        <p:nvSpPr>
          <p:cNvPr id="17" name="Text 14"/>
          <p:cNvSpPr txBox="1"/>
          <p:nvPr/>
        </p:nvSpPr>
        <p:spPr>
          <a:xfrm>
            <a:off x="8402117" y="2880360"/>
            <a:ext cx="2966618" cy="731520"/>
          </a:xfrm>
          <a:prstGeom prst="rect">
            <a:avLst/>
          </a:prstGeom>
          <a:noFill/>
          <a:ln/>
        </p:spPr>
        <p:txBody>
          <a:bodyPr wrap="square" lIns="0" tIns="0" rIns="0" bIns="0" rtlCol="0" anchor="t"/>
          <a:lstStyle/>
          <a:p>
            <a:pPr indent="0" marL="0">
              <a:buNone/>
            </a:pPr>
            <a:r>
              <a:rPr lang="en-US" sz="1400" dirty="0">
                <a:solidFill>
                  <a:srgbClr val="526066"/>
                </a:solidFill>
                <a:latin typeface="Arial" pitchFamily="34" charset="0"/>
                <a:ea typeface="Arial" pitchFamily="34" charset="-122"/>
                <a:cs typeface="Arial" pitchFamily="34" charset="-120"/>
              </a:rPr>
              <a:t>Den rigtige løsning går til change control</a:t>
            </a:r>
            <a:endParaRPr lang="en-US" sz="1400" dirty="0"/>
          </a:p>
        </p:txBody>
      </p:sp>
      <p:sp>
        <p:nvSpPr>
          <p:cNvPr id="18" name="Shape 15"/>
          <p:cNvSpPr/>
          <p:nvPr/>
        </p:nvSpPr>
        <p:spPr>
          <a:xfrm>
            <a:off x="548640" y="3931920"/>
            <a:ext cx="5387188" cy="2194560"/>
          </a:xfrm>
          <a:prstGeom prst="roundRect">
            <a:avLst>
              <a:gd name="adj" fmla="val 5000"/>
            </a:avLst>
          </a:prstGeom>
          <a:solidFill>
            <a:srgbClr val="FCFDFD"/>
          </a:solidFill>
          <a:ln w="9525">
            <a:solidFill>
              <a:srgbClr val="DDE4E6"/>
            </a:solidFill>
            <a:prstDash val="solid"/>
          </a:ln>
        </p:spPr>
      </p:sp>
      <p:sp>
        <p:nvSpPr>
          <p:cNvPr id="19" name="Text 16"/>
          <p:cNvSpPr txBox="1"/>
          <p:nvPr/>
        </p:nvSpPr>
        <p:spPr>
          <a:xfrm>
            <a:off x="868680" y="4069080"/>
            <a:ext cx="4747108" cy="411480"/>
          </a:xfrm>
          <a:prstGeom prst="rect">
            <a:avLst/>
          </a:prstGeom>
          <a:noFill/>
          <a:ln/>
        </p:spPr>
        <p:txBody>
          <a:bodyPr wrap="square" lIns="0" tIns="0" rIns="0" bIns="0" rtlCol="0" anchor="t"/>
          <a:lstStyle/>
          <a:p>
            <a:pPr indent="0" marL="0">
              <a:buNone/>
            </a:pPr>
            <a:r>
              <a:rPr lang="en-US" sz="2000" dirty="0">
                <a:solidFill>
                  <a:srgbClr val="17221A"/>
                </a:solidFill>
                <a:latin typeface="Georgia" pitchFamily="34" charset="0"/>
                <a:ea typeface="Georgia" pitchFamily="34" charset="-122"/>
                <a:cs typeface="Georgia" pitchFamily="34" charset="-120"/>
              </a:rPr>
              <a:t>Firmwarefejlen</a:t>
            </a:r>
            <a:endParaRPr lang="en-US" sz="2000" dirty="0"/>
          </a:p>
        </p:txBody>
      </p:sp>
      <p:sp>
        <p:nvSpPr>
          <p:cNvPr id="20" name="Text 17"/>
          <p:cNvSpPr txBox="1"/>
          <p:nvPr/>
        </p:nvSpPr>
        <p:spPr>
          <a:xfrm>
            <a:off x="868680" y="4526280"/>
            <a:ext cx="4747108" cy="150876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526066"/>
                </a:solidFill>
                <a:latin typeface="Arial" pitchFamily="34" charset="0"/>
                <a:ea typeface="Arial" pitchFamily="34" charset="-122"/>
                <a:cs typeface="Arial" pitchFamily="34" charset="-120"/>
              </a:rPr>
              <a:t>Efter opdatering: friland-sensorer mister net om natten, 15 kunder</a:t>
            </a:r>
            <a:endParaRPr lang="en-US" sz="1500" dirty="0"/>
          </a:p>
          <a:p>
            <a:pPr marL="342900" indent="-342900">
              <a:spcAft>
                <a:spcPts val="300"/>
              </a:spcAft>
              <a:buSzPct val="100000"/>
              <a:buChar char="•"/>
            </a:pPr>
            <a:r>
              <a:rPr lang="en-US" sz="1500" dirty="0">
                <a:solidFill>
                  <a:srgbClr val="526066"/>
                </a:solidFill>
                <a:latin typeface="Arial" pitchFamily="34" charset="0"/>
                <a:ea typeface="Arial" pitchFamily="34" charset="-122"/>
                <a:cs typeface="Arial" pitchFamily="34" charset="-120"/>
              </a:rPr>
              <a:t>Årsag: strømspar, vågner ikke ved svagt signal</a:t>
            </a:r>
            <a:endParaRPr lang="en-US" sz="1500" dirty="0"/>
          </a:p>
          <a:p>
            <a:pPr marL="342900" indent="-342900">
              <a:spcAft>
                <a:spcPts val="300"/>
              </a:spcAft>
              <a:buSzPct val="100000"/>
              <a:buChar char="•"/>
            </a:pPr>
            <a:r>
              <a:rPr lang="en-US" sz="1500" dirty="0">
                <a:solidFill>
                  <a:srgbClr val="526066"/>
                </a:solidFill>
                <a:latin typeface="Arial" pitchFamily="34" charset="0"/>
                <a:ea typeface="Arial" pitchFamily="34" charset="-122"/>
                <a:cs typeface="Arial" pitchFamily="34" charset="-120"/>
              </a:rPr>
              <a:t>Workaround: slå strømspar fra, known error</a:t>
            </a:r>
            <a:endParaRPr lang="en-US" sz="1500" dirty="0"/>
          </a:p>
          <a:p>
            <a:pPr marL="342900" indent="-342900">
              <a:spcAft>
                <a:spcPts val="300"/>
              </a:spcAft>
              <a:buSzPct val="100000"/>
              <a:buChar char="•"/>
            </a:pPr>
            <a:r>
              <a:rPr lang="en-US" sz="1500" dirty="0">
                <a:solidFill>
                  <a:srgbClr val="526066"/>
                </a:solidFill>
                <a:latin typeface="Arial" pitchFamily="34" charset="0"/>
                <a:ea typeface="Arial" pitchFamily="34" charset="-122"/>
                <a:cs typeface="Arial" pitchFamily="34" charset="-120"/>
              </a:rPr>
              <a:t>Rettet firmware via change control</a:t>
            </a:r>
            <a:endParaRPr lang="en-US" sz="1500" dirty="0"/>
          </a:p>
        </p:txBody>
      </p:sp>
      <p:sp>
        <p:nvSpPr>
          <p:cNvPr id="21" name="Shape 18"/>
          <p:cNvSpPr/>
          <p:nvPr/>
        </p:nvSpPr>
        <p:spPr>
          <a:xfrm>
            <a:off x="6255868" y="3931920"/>
            <a:ext cx="5387188" cy="2194560"/>
          </a:xfrm>
          <a:prstGeom prst="roundRect">
            <a:avLst>
              <a:gd name="adj" fmla="val 5000"/>
            </a:avLst>
          </a:prstGeom>
          <a:solidFill>
            <a:srgbClr val="E9F4EA"/>
          </a:solidFill>
          <a:ln w="9525">
            <a:solidFill>
              <a:srgbClr val="A9D3B0"/>
            </a:solidFill>
            <a:prstDash val="solid"/>
          </a:ln>
        </p:spPr>
      </p:sp>
      <p:sp>
        <p:nvSpPr>
          <p:cNvPr id="22" name="Text 19"/>
          <p:cNvSpPr txBox="1"/>
          <p:nvPr/>
        </p:nvSpPr>
        <p:spPr>
          <a:xfrm>
            <a:off x="6575908" y="4069080"/>
            <a:ext cx="4747108" cy="411480"/>
          </a:xfrm>
          <a:prstGeom prst="rect">
            <a:avLst/>
          </a:prstGeom>
          <a:noFill/>
          <a:ln/>
        </p:spPr>
        <p:txBody>
          <a:bodyPr wrap="square" lIns="0" tIns="0" rIns="0" bIns="0" rtlCol="0" anchor="t"/>
          <a:lstStyle/>
          <a:p>
            <a:pPr indent="0" marL="0">
              <a:buNone/>
            </a:pPr>
            <a:r>
              <a:rPr lang="en-US" sz="2000" dirty="0">
                <a:solidFill>
                  <a:srgbClr val="1E4A26"/>
                </a:solidFill>
                <a:latin typeface="Georgia" pitchFamily="34" charset="0"/>
                <a:ea typeface="Georgia" pitchFamily="34" charset="-122"/>
                <a:cs typeface="Georgia" pitchFamily="34" charset="-120"/>
              </a:rPr>
              <a:t>Incident og problem</a:t>
            </a:r>
            <a:endParaRPr lang="en-US" sz="2000" dirty="0"/>
          </a:p>
        </p:txBody>
      </p:sp>
      <p:sp>
        <p:nvSpPr>
          <p:cNvPr id="23" name="Text 20"/>
          <p:cNvSpPr txBox="1"/>
          <p:nvPr/>
        </p:nvSpPr>
        <p:spPr>
          <a:xfrm>
            <a:off x="6575908" y="4526280"/>
            <a:ext cx="4747108" cy="1508760"/>
          </a:xfrm>
          <a:prstGeom prst="rect">
            <a:avLst/>
          </a:prstGeom>
          <a:noFill/>
          <a:ln/>
        </p:spPr>
        <p:txBody>
          <a:bodyPr wrap="square" lIns="0" tIns="0" rIns="0" bIns="0" rtlCol="0" anchor="t"/>
          <a:lstStyle/>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Incident får servicen op</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Problem fjerner årsagen</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Incident kan lukkes, selvom problemet er åbent</a:t>
            </a:r>
            <a:endParaRPr lang="en-US" sz="1500" dirty="0"/>
          </a:p>
          <a:p>
            <a:pPr marL="342900" indent="-342900">
              <a:spcAft>
                <a:spcPts val="300"/>
              </a:spcAft>
              <a:buSzPct val="100000"/>
              <a:buChar char="•"/>
            </a:pPr>
            <a:r>
              <a:rPr lang="en-US" sz="1500" dirty="0">
                <a:solidFill>
                  <a:srgbClr val="1E4A26"/>
                </a:solidFill>
                <a:latin typeface="Arial" pitchFamily="34" charset="0"/>
                <a:ea typeface="Arial" pitchFamily="34" charset="-122"/>
                <a:cs typeface="Arial" pitchFamily="34" charset="-120"/>
              </a:rPr>
              <a:t>Known errors: næste løses hurtigere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8"/>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t"/>
          <a:lstStyle/>
          <a:p>
            <a:pPr indent="0" marL="0">
              <a:buNone/>
            </a:pPr>
            <a:r>
              <a:rPr lang="en-US" sz="1100" b="1" spc="200" kern="0" dirty="0">
                <a:solidFill>
                  <a:srgbClr val="2F6B3A"/>
                </a:solidFill>
                <a:latin typeface="Courier New" pitchFamily="34" charset="0"/>
                <a:ea typeface="Courier New" pitchFamily="34" charset="-122"/>
                <a:cs typeface="Courier New" pitchFamily="34" charset="-120"/>
              </a:rPr>
              <a:t>OPGAVE 5</a:t>
            </a:r>
            <a:endParaRPr lang="en-US" sz="1100" dirty="0"/>
          </a:p>
        </p:txBody>
      </p:sp>
      <p:sp>
        <p:nvSpPr>
          <p:cNvPr id="3" name="Text 1"/>
          <p:cNvSpPr txBox="1"/>
          <p:nvPr/>
        </p:nvSpPr>
        <p:spPr>
          <a:xfrm>
            <a:off x="548640" y="658368"/>
            <a:ext cx="11094415" cy="731520"/>
          </a:xfrm>
          <a:prstGeom prst="rect">
            <a:avLst/>
          </a:prstGeom>
          <a:noFill/>
          <a:ln/>
        </p:spPr>
        <p:txBody>
          <a:bodyPr wrap="square" lIns="0" tIns="0" rIns="0" bIns="0" rtlCol="0" anchor="ctr"/>
          <a:lstStyle/>
          <a:p>
            <a:pPr indent="0" marL="0">
              <a:buNone/>
            </a:pPr>
            <a:r>
              <a:rPr lang="en-US" sz="3200" dirty="0">
                <a:solidFill>
                  <a:srgbClr val="17221A"/>
                </a:solidFill>
                <a:latin typeface="Georgia" pitchFamily="34" charset="0"/>
                <a:ea typeface="Georgia" pitchFamily="34" charset="-122"/>
                <a:cs typeface="Georgia" pitchFamily="34" charset="-120"/>
              </a:rPr>
              <a:t>De fire dimensioner</a:t>
            </a:r>
            <a:endParaRPr lang="en-US" sz="3200" dirty="0"/>
          </a:p>
        </p:txBody>
      </p:sp>
      <p:sp>
        <p:nvSpPr>
          <p:cNvPr id="4" name="Text 2"/>
          <p:cNvSpPr txBox="1"/>
          <p:nvPr/>
        </p:nvSpPr>
        <p:spPr>
          <a:xfrm>
            <a:off x="548640" y="6419088"/>
            <a:ext cx="5486400" cy="228600"/>
          </a:xfrm>
          <a:prstGeom prst="rect">
            <a:avLst/>
          </a:prstGeom>
          <a:noFill/>
          <a:ln/>
        </p:spPr>
        <p:txBody>
          <a:bodyPr wrap="square" lIns="0" tIns="0" rIns="0" bIns="0" rtlCol="0" anchor="t"/>
          <a:lstStyle/>
          <a:p>
            <a:pPr indent="0" marL="0">
              <a:buNone/>
            </a:pPr>
            <a:r>
              <a:rPr lang="en-US" sz="1000" dirty="0">
                <a:solidFill>
                  <a:srgbClr val="526066"/>
                </a:solidFill>
                <a:latin typeface="Arial" pitchFamily="34" charset="0"/>
                <a:ea typeface="Arial" pitchFamily="34" charset="-122"/>
                <a:cs typeface="Arial" pitchFamily="34" charset="-120"/>
              </a:rPr>
              <a:t>Hans Petur  ·  Green-IT  ·  ITSM 1</a:t>
            </a:r>
            <a:endParaRPr lang="en-US" sz="1000" dirty="0"/>
          </a:p>
        </p:txBody>
      </p:sp>
      <p:sp>
        <p:nvSpPr>
          <p:cNvPr id="5" name="Text 3"/>
          <p:cNvSpPr txBox="1"/>
          <p:nvPr/>
        </p:nvSpPr>
        <p:spPr>
          <a:xfrm>
            <a:off x="10728655" y="6419088"/>
            <a:ext cx="914400" cy="228600"/>
          </a:xfrm>
          <a:prstGeom prst="rect">
            <a:avLst/>
          </a:prstGeom>
          <a:noFill/>
          <a:ln/>
        </p:spPr>
        <p:txBody>
          <a:bodyPr wrap="square" lIns="0" tIns="0" rIns="0" bIns="0" rtlCol="0" anchor="t"/>
          <a:lstStyle/>
          <a:p>
            <a:pPr algn="r" indent="0" marL="0">
              <a:buNone/>
            </a:pPr>
            <a:r>
              <a:rPr lang="en-US" sz="1000" dirty="0">
                <a:solidFill>
                  <a:srgbClr val="526066"/>
                </a:solidFill>
                <a:latin typeface="Arial" pitchFamily="34" charset="0"/>
                <a:ea typeface="Arial" pitchFamily="34" charset="-122"/>
                <a:cs typeface="Arial" pitchFamily="34" charset="-120"/>
              </a:rPr>
              <a:t>6</a:t>
            </a:r>
            <a:endParaRPr lang="en-US" sz="1000" dirty="0"/>
          </a:p>
        </p:txBody>
      </p:sp>
      <p:sp>
        <p:nvSpPr>
          <p:cNvPr id="7" name="Text 4"/>
          <p:cNvSpPr txBox="1"/>
          <p:nvPr/>
        </p:nvSpPr>
        <p:spPr>
          <a:xfrm>
            <a:off x="548640" y="1463040"/>
            <a:ext cx="11094415" cy="411480"/>
          </a:xfrm>
          <a:prstGeom prst="rect">
            <a:avLst/>
          </a:prstGeom>
          <a:noFill/>
          <a:ln/>
        </p:spPr>
        <p:txBody>
          <a:bodyPr wrap="square" lIns="0" tIns="0" rIns="0" bIns="0" rtlCol="0" anchor="t"/>
          <a:lstStyle/>
          <a:p>
            <a:pPr indent="0" marL="0">
              <a:buNone/>
            </a:pPr>
            <a:r>
              <a:rPr lang="en-US" sz="1900" i="1" dirty="0">
                <a:solidFill>
                  <a:srgbClr val="2F6B3A"/>
                </a:solidFill>
                <a:latin typeface="Georgia" pitchFamily="34" charset="0"/>
                <a:ea typeface="Georgia" pitchFamily="34" charset="-122"/>
                <a:cs typeface="Georgia" pitchFamily="34" charset="-120"/>
              </a:rPr>
              <a:t>En service skal ses fra fire sider. Mangler én, går det galt.</a:t>
            </a:r>
            <a:endParaRPr lang="en-US" sz="1900" dirty="0"/>
          </a:p>
        </p:txBody>
      </p:sp>
      <p:sp>
        <p:nvSpPr>
          <p:cNvPr id="8" name="Shape 5"/>
          <p:cNvSpPr/>
          <p:nvPr/>
        </p:nvSpPr>
        <p:spPr>
          <a:xfrm>
            <a:off x="548640" y="2011680"/>
            <a:ext cx="5387188" cy="1600200"/>
          </a:xfrm>
          <a:prstGeom prst="roundRect">
            <a:avLst>
              <a:gd name="adj" fmla="val 6857"/>
            </a:avLst>
          </a:prstGeom>
          <a:solidFill>
            <a:srgbClr val="FCFDFD"/>
          </a:solidFill>
          <a:ln w="9525">
            <a:solidFill>
              <a:srgbClr val="DDE4E6"/>
            </a:solidFill>
            <a:prstDash val="solid"/>
          </a:ln>
        </p:spPr>
      </p:sp>
      <p:sp>
        <p:nvSpPr>
          <p:cNvPr id="9" name="Shape 6"/>
          <p:cNvSpPr/>
          <p:nvPr/>
        </p:nvSpPr>
        <p:spPr>
          <a:xfrm>
            <a:off x="777240" y="2240280"/>
            <a:ext cx="502920" cy="502920"/>
          </a:xfrm>
          <a:prstGeom prst="ellipse">
            <a:avLst/>
          </a:prstGeom>
          <a:solidFill>
            <a:srgbClr val="2F6B3A"/>
          </a:solidFill>
          <a:ln w="12700">
            <a:solidFill>
              <a:srgbClr val="2F6B3A"/>
            </a:solidFill>
            <a:prstDash val="solid"/>
          </a:ln>
        </p:spPr>
      </p:sp>
      <p:pic>
        <p:nvPicPr>
          <p:cNvPr id="10" name="Image 0" descr="preencoded.png">    </p:cNvPr>
          <p:cNvPicPr>
            <a:picLocks noChangeAspect="1"/>
          </p:cNvPicPr>
          <p:nvPr/>
        </p:nvPicPr>
        <p:blipFill>
          <a:blip r:embed="rId1"/>
          <a:stretch>
            <a:fillRect/>
          </a:stretch>
        </p:blipFill>
        <p:spPr>
          <a:xfrm>
            <a:off x="897941" y="2360981"/>
            <a:ext cx="261518" cy="261518"/>
          </a:xfrm>
          <a:prstGeom prst="rect">
            <a:avLst/>
          </a:prstGeom>
        </p:spPr>
      </p:pic>
      <p:sp>
        <p:nvSpPr>
          <p:cNvPr id="11" name="Text 7"/>
          <p:cNvSpPr txBox="1"/>
          <p:nvPr/>
        </p:nvSpPr>
        <p:spPr>
          <a:xfrm>
            <a:off x="1417320" y="2212848"/>
            <a:ext cx="4335628" cy="54864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Organisationer og mennesker</a:t>
            </a:r>
            <a:endParaRPr lang="en-US" sz="1700" dirty="0"/>
          </a:p>
        </p:txBody>
      </p:sp>
      <p:sp>
        <p:nvSpPr>
          <p:cNvPr id="12" name="Text 8"/>
          <p:cNvSpPr txBox="1"/>
          <p:nvPr/>
        </p:nvSpPr>
        <p:spPr>
          <a:xfrm>
            <a:off x="822960" y="2834640"/>
            <a:ext cx="4884268" cy="7315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R&amp;D i byen, salg på fabrikken: os og dem</a:t>
            </a:r>
            <a:endParaRPr lang="en-US" sz="1400" dirty="0"/>
          </a:p>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Klare roller, sig det tidligt, når noget går galt</a:t>
            </a:r>
            <a:endParaRPr lang="en-US" sz="1400" dirty="0"/>
          </a:p>
        </p:txBody>
      </p:sp>
      <p:sp>
        <p:nvSpPr>
          <p:cNvPr id="13" name="Shape 9"/>
          <p:cNvSpPr/>
          <p:nvPr/>
        </p:nvSpPr>
        <p:spPr>
          <a:xfrm>
            <a:off x="6255868" y="2011680"/>
            <a:ext cx="5387188" cy="1600200"/>
          </a:xfrm>
          <a:prstGeom prst="roundRect">
            <a:avLst>
              <a:gd name="adj" fmla="val 6857"/>
            </a:avLst>
          </a:prstGeom>
          <a:solidFill>
            <a:srgbClr val="FCFDFD"/>
          </a:solidFill>
          <a:ln w="9525">
            <a:solidFill>
              <a:srgbClr val="DDE4E6"/>
            </a:solidFill>
            <a:prstDash val="solid"/>
          </a:ln>
        </p:spPr>
      </p:sp>
      <p:sp>
        <p:nvSpPr>
          <p:cNvPr id="14" name="Shape 10"/>
          <p:cNvSpPr/>
          <p:nvPr/>
        </p:nvSpPr>
        <p:spPr>
          <a:xfrm>
            <a:off x="6484468" y="2240280"/>
            <a:ext cx="502920" cy="502920"/>
          </a:xfrm>
          <a:prstGeom prst="ellipse">
            <a:avLst/>
          </a:prstGeom>
          <a:solidFill>
            <a:srgbClr val="2F6B3A"/>
          </a:solidFill>
          <a:ln w="12700">
            <a:solidFill>
              <a:srgbClr val="2F6B3A"/>
            </a:solidFill>
            <a:prstDash val="solid"/>
          </a:ln>
        </p:spPr>
      </p:sp>
      <p:pic>
        <p:nvPicPr>
          <p:cNvPr id="15" name="Image 1" descr="preencoded.png">    </p:cNvPr>
          <p:cNvPicPr>
            <a:picLocks noChangeAspect="1"/>
          </p:cNvPicPr>
          <p:nvPr/>
        </p:nvPicPr>
        <p:blipFill>
          <a:blip r:embed="rId2"/>
          <a:stretch>
            <a:fillRect/>
          </a:stretch>
        </p:blipFill>
        <p:spPr>
          <a:xfrm>
            <a:off x="6605168" y="2360981"/>
            <a:ext cx="261518" cy="261518"/>
          </a:xfrm>
          <a:prstGeom prst="rect">
            <a:avLst/>
          </a:prstGeom>
        </p:spPr>
      </p:pic>
      <p:sp>
        <p:nvSpPr>
          <p:cNvPr id="16" name="Text 11"/>
          <p:cNvSpPr txBox="1"/>
          <p:nvPr/>
        </p:nvSpPr>
        <p:spPr>
          <a:xfrm>
            <a:off x="7124548" y="2212848"/>
            <a:ext cx="4335628" cy="54864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Information og teknologi</a:t>
            </a:r>
            <a:endParaRPr lang="en-US" sz="1700" dirty="0"/>
          </a:p>
        </p:txBody>
      </p:sp>
      <p:sp>
        <p:nvSpPr>
          <p:cNvPr id="17" name="Text 12"/>
          <p:cNvSpPr txBox="1"/>
          <p:nvPr/>
        </p:nvSpPr>
        <p:spPr>
          <a:xfrm>
            <a:off x="6530188" y="2834640"/>
            <a:ext cx="4884268" cy="7315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Sensordata er kernen, landmanden ejer dem</a:t>
            </a:r>
            <a:endParaRPr lang="en-US" sz="1400" dirty="0"/>
          </a:p>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Persondata: GDPR. Skal kunne vokse</a:t>
            </a:r>
            <a:endParaRPr lang="en-US" sz="1400" dirty="0"/>
          </a:p>
        </p:txBody>
      </p:sp>
      <p:sp>
        <p:nvSpPr>
          <p:cNvPr id="18" name="Shape 13"/>
          <p:cNvSpPr/>
          <p:nvPr/>
        </p:nvSpPr>
        <p:spPr>
          <a:xfrm>
            <a:off x="548640" y="3794760"/>
            <a:ext cx="5387188" cy="1600200"/>
          </a:xfrm>
          <a:prstGeom prst="roundRect">
            <a:avLst>
              <a:gd name="adj" fmla="val 6857"/>
            </a:avLst>
          </a:prstGeom>
          <a:solidFill>
            <a:srgbClr val="FCFDFD"/>
          </a:solidFill>
          <a:ln w="9525">
            <a:solidFill>
              <a:srgbClr val="DDE4E6"/>
            </a:solidFill>
            <a:prstDash val="solid"/>
          </a:ln>
        </p:spPr>
      </p:sp>
      <p:sp>
        <p:nvSpPr>
          <p:cNvPr id="19" name="Shape 14"/>
          <p:cNvSpPr/>
          <p:nvPr/>
        </p:nvSpPr>
        <p:spPr>
          <a:xfrm>
            <a:off x="777240" y="4023360"/>
            <a:ext cx="502920" cy="502920"/>
          </a:xfrm>
          <a:prstGeom prst="ellipse">
            <a:avLst/>
          </a:prstGeom>
          <a:solidFill>
            <a:srgbClr val="2F6B3A"/>
          </a:solidFill>
          <a:ln w="12700">
            <a:solidFill>
              <a:srgbClr val="2F6B3A"/>
            </a:solidFill>
            <a:prstDash val="solid"/>
          </a:ln>
        </p:spPr>
      </p:sp>
      <p:pic>
        <p:nvPicPr>
          <p:cNvPr id="20" name="Image 2" descr="preencoded.png">    </p:cNvPr>
          <p:cNvPicPr>
            <a:picLocks noChangeAspect="1"/>
          </p:cNvPicPr>
          <p:nvPr/>
        </p:nvPicPr>
        <p:blipFill>
          <a:blip r:embed="rId3"/>
          <a:stretch>
            <a:fillRect/>
          </a:stretch>
        </p:blipFill>
        <p:spPr>
          <a:xfrm>
            <a:off x="897941" y="4144061"/>
            <a:ext cx="261518" cy="261518"/>
          </a:xfrm>
          <a:prstGeom prst="rect">
            <a:avLst/>
          </a:prstGeom>
        </p:spPr>
      </p:pic>
      <p:sp>
        <p:nvSpPr>
          <p:cNvPr id="21" name="Text 15"/>
          <p:cNvSpPr txBox="1"/>
          <p:nvPr/>
        </p:nvSpPr>
        <p:spPr>
          <a:xfrm>
            <a:off x="1417320" y="3995928"/>
            <a:ext cx="4335628" cy="54864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Partnere og leverandører</a:t>
            </a:r>
            <a:endParaRPr lang="en-US" sz="1700" dirty="0"/>
          </a:p>
        </p:txBody>
      </p:sp>
      <p:sp>
        <p:nvSpPr>
          <p:cNvPr id="22" name="Text 16"/>
          <p:cNvSpPr txBox="1"/>
          <p:nvPr/>
        </p:nvSpPr>
        <p:spPr>
          <a:xfrm>
            <a:off x="822960" y="4617720"/>
            <a:ext cx="4884268" cy="7315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Hosting, sensorleverandører, teleselskaber</a:t>
            </a:r>
            <a:endParaRPr lang="en-US" sz="1400" dirty="0"/>
          </a:p>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Er de nede, er Green-IT nede: failover</a:t>
            </a:r>
            <a:endParaRPr lang="en-US" sz="1400" dirty="0"/>
          </a:p>
        </p:txBody>
      </p:sp>
      <p:sp>
        <p:nvSpPr>
          <p:cNvPr id="23" name="Shape 17"/>
          <p:cNvSpPr/>
          <p:nvPr/>
        </p:nvSpPr>
        <p:spPr>
          <a:xfrm>
            <a:off x="6255868" y="3794760"/>
            <a:ext cx="5387188" cy="1600200"/>
          </a:xfrm>
          <a:prstGeom prst="roundRect">
            <a:avLst>
              <a:gd name="adj" fmla="val 6857"/>
            </a:avLst>
          </a:prstGeom>
          <a:solidFill>
            <a:srgbClr val="FCFDFD"/>
          </a:solidFill>
          <a:ln w="9525">
            <a:solidFill>
              <a:srgbClr val="DDE4E6"/>
            </a:solidFill>
            <a:prstDash val="solid"/>
          </a:ln>
        </p:spPr>
      </p:sp>
      <p:sp>
        <p:nvSpPr>
          <p:cNvPr id="24" name="Shape 18"/>
          <p:cNvSpPr/>
          <p:nvPr/>
        </p:nvSpPr>
        <p:spPr>
          <a:xfrm>
            <a:off x="6484468" y="4023360"/>
            <a:ext cx="502920" cy="502920"/>
          </a:xfrm>
          <a:prstGeom prst="ellipse">
            <a:avLst/>
          </a:prstGeom>
          <a:solidFill>
            <a:srgbClr val="2F6B3A"/>
          </a:solidFill>
          <a:ln w="12700">
            <a:solidFill>
              <a:srgbClr val="2F6B3A"/>
            </a:solidFill>
            <a:prstDash val="solid"/>
          </a:ln>
        </p:spPr>
      </p:sp>
      <p:pic>
        <p:nvPicPr>
          <p:cNvPr id="25" name="Image 3" descr="preencoded.png">    </p:cNvPr>
          <p:cNvPicPr>
            <a:picLocks noChangeAspect="1"/>
          </p:cNvPicPr>
          <p:nvPr/>
        </p:nvPicPr>
        <p:blipFill>
          <a:blip r:embed="rId4"/>
          <a:stretch>
            <a:fillRect/>
          </a:stretch>
        </p:blipFill>
        <p:spPr>
          <a:xfrm>
            <a:off x="6605168" y="4144061"/>
            <a:ext cx="261518" cy="261518"/>
          </a:xfrm>
          <a:prstGeom prst="rect">
            <a:avLst/>
          </a:prstGeom>
        </p:spPr>
      </p:pic>
      <p:sp>
        <p:nvSpPr>
          <p:cNvPr id="26" name="Text 19"/>
          <p:cNvSpPr txBox="1"/>
          <p:nvPr/>
        </p:nvSpPr>
        <p:spPr>
          <a:xfrm>
            <a:off x="7124548" y="3995928"/>
            <a:ext cx="4335628" cy="548640"/>
          </a:xfrm>
          <a:prstGeom prst="rect">
            <a:avLst/>
          </a:prstGeom>
          <a:noFill/>
          <a:ln/>
        </p:spPr>
        <p:txBody>
          <a:bodyPr wrap="square" lIns="0" tIns="0" rIns="0" bIns="0" rtlCol="0" anchor="ctr"/>
          <a:lstStyle/>
          <a:p>
            <a:pPr indent="0" marL="0">
              <a:buNone/>
            </a:pPr>
            <a:r>
              <a:rPr lang="en-US" sz="1700" b="1" dirty="0">
                <a:solidFill>
                  <a:srgbClr val="17221A"/>
                </a:solidFill>
                <a:latin typeface="Arial" pitchFamily="34" charset="0"/>
                <a:ea typeface="Arial" pitchFamily="34" charset="-122"/>
                <a:cs typeface="Arial" pitchFamily="34" charset="-120"/>
              </a:rPr>
              <a:t>Værdistrømme og processer</a:t>
            </a:r>
            <a:endParaRPr lang="en-US" sz="1700" dirty="0"/>
          </a:p>
        </p:txBody>
      </p:sp>
      <p:sp>
        <p:nvSpPr>
          <p:cNvPr id="27" name="Text 20"/>
          <p:cNvSpPr txBox="1"/>
          <p:nvPr/>
        </p:nvSpPr>
        <p:spPr>
          <a:xfrm>
            <a:off x="6530188" y="4617720"/>
            <a:ext cx="4884268" cy="73152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Går på tværs af fabrikken og byen</a:t>
            </a:r>
            <a:endParaRPr lang="en-US" sz="1400" dirty="0"/>
          </a:p>
          <a:p>
            <a:pPr marL="342900" indent="-342900">
              <a:spcAft>
                <a:spcPts val="300"/>
              </a:spcAft>
              <a:buSzPct val="100000"/>
              <a:buChar char="•"/>
            </a:pPr>
            <a:r>
              <a:rPr lang="en-US" sz="1400" dirty="0">
                <a:solidFill>
                  <a:srgbClr val="526066"/>
                </a:solidFill>
                <a:latin typeface="Arial" pitchFamily="34" charset="0"/>
                <a:ea typeface="Arial" pitchFamily="34" charset="-122"/>
                <a:cs typeface="Arial" pitchFamily="34" charset="-120"/>
              </a:rPr>
              <a:t>Sager venter i overgangene, faste processer</a:t>
            </a:r>
            <a:endParaRPr lang="en-US" sz="1400" dirty="0"/>
          </a:p>
        </p:txBody>
      </p:sp>
      <p:sp>
        <p:nvSpPr>
          <p:cNvPr id="28" name="Shape 21"/>
          <p:cNvSpPr/>
          <p:nvPr/>
        </p:nvSpPr>
        <p:spPr>
          <a:xfrm>
            <a:off x="548640" y="5669280"/>
            <a:ext cx="11094415" cy="548640"/>
          </a:xfrm>
          <a:prstGeom prst="roundRect">
            <a:avLst>
              <a:gd name="adj" fmla="val 20000"/>
            </a:avLst>
          </a:prstGeom>
          <a:solidFill>
            <a:srgbClr val="E9F4EA"/>
          </a:solidFill>
          <a:ln w="9525">
            <a:solidFill>
              <a:srgbClr val="A9D3B0"/>
            </a:solidFill>
            <a:prstDash val="solid"/>
          </a:ln>
        </p:spPr>
      </p:sp>
      <p:sp>
        <p:nvSpPr>
          <p:cNvPr id="29" name="Text 22"/>
          <p:cNvSpPr txBox="1"/>
          <p:nvPr/>
        </p:nvSpPr>
        <p:spPr>
          <a:xfrm>
            <a:off x="822960" y="5669280"/>
            <a:ext cx="10545775" cy="548640"/>
          </a:xfrm>
          <a:prstGeom prst="rect">
            <a:avLst/>
          </a:prstGeom>
          <a:noFill/>
          <a:ln/>
        </p:spPr>
        <p:txBody>
          <a:bodyPr wrap="square" lIns="0" tIns="0" rIns="0" bIns="0" rtlCol="0" anchor="ctr"/>
          <a:lstStyle/>
          <a:p>
            <a:pPr indent="0" marL="0">
              <a:buNone/>
            </a:pPr>
            <a:r>
              <a:rPr lang="en-US" sz="1500" b="1" dirty="0">
                <a:solidFill>
                  <a:srgbClr val="1E4A26"/>
                </a:solidFill>
                <a:latin typeface="Arial" pitchFamily="34" charset="0"/>
                <a:ea typeface="Arial" pitchFamily="34" charset="-122"/>
                <a:cs typeface="Arial" pitchFamily="34" charset="-120"/>
              </a:rPr>
              <a:t>Udefra (PESTLE)  </a:t>
            </a:r>
            <a:pPr indent="0" marL="0">
              <a:buNone/>
            </a:pPr>
            <a:r>
              <a:rPr lang="en-US" sz="1500" dirty="0">
                <a:solidFill>
                  <a:srgbClr val="1E4A26"/>
                </a:solidFill>
                <a:latin typeface="Arial" pitchFamily="34" charset="0"/>
                <a:ea typeface="Arial" pitchFamily="34" charset="-122"/>
                <a:cs typeface="Arial" pitchFamily="34" charset="-120"/>
              </a:rPr>
              <a:t>GDPR, NIS2 og krav om bæredygtighed</a:t>
            </a:r>
            <a:endParaRPr lang="en-US" sz="15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640080"/>
            <a:ext cx="11000232" cy="685800"/>
          </a:xfrm>
          <a:prstGeom prst="rect">
            <a:avLst/>
          </a:prstGeom>
          <a:noFill/>
        </p:spPr>
        <p:txBody>
          <a:bodyPr wrap="none" lIns="0" rIns="0" tIns="0" bIns="0" anchor="ctr">
            <a:noAutofit/>
          </a:bodyPr>
          <a:lstStyle/>
          <a:p>
            <a:pPr algn="l"/>
            <a:r>
              <a:rPr sz="3600" lang="da-DK">
                <a:solidFill>
                  <a:srgbClr val="17221A"/>
                </a:solidFill>
                <a:latin typeface="Georgia"/>
              </a:rPr>
              <a:t>Green-IT vokser</a:t>
            </a:r>
          </a:p>
        </p:txBody>
      </p:sp>
      <p:sp>
        <p:nvSpPr>
          <p:cNvPr id="3" name="Rounded Rectangle 2"/>
          <p:cNvSpPr/>
          <p:nvPr/>
        </p:nvSpPr>
        <p:spPr>
          <a:xfrm>
            <a:off x="594360" y="1993392"/>
            <a:ext cx="2651760" cy="315468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169663" y="1993392"/>
            <a:ext cx="2743200" cy="315468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836408" y="1993392"/>
            <a:ext cx="3749039" cy="315468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24128" y="2834640"/>
            <a:ext cx="1737360" cy="1280160"/>
          </a:xfrm>
          <a:prstGeom prst="rect">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79576" y="2459736"/>
            <a:ext cx="274320" cy="374904"/>
          </a:xfrm>
          <a:prstGeom prst="rect">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655064" y="2249424"/>
            <a:ext cx="274320" cy="585216"/>
          </a:xfrm>
          <a:prstGeom prst="rect">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243584" y="3145536"/>
            <a:ext cx="219456" cy="329184"/>
          </a:xfrm>
          <a:prstGeom prst="rect">
            <a:avLst/>
          </a:prstGeom>
          <a:solidFill>
            <a:srgbClr val="FFFFFF"/>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73936" y="3145536"/>
            <a:ext cx="219456" cy="329184"/>
          </a:xfrm>
          <a:prstGeom prst="rect">
            <a:avLst/>
          </a:prstGeom>
          <a:solidFill>
            <a:srgbClr val="FFFFFF"/>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304288" y="3145536"/>
            <a:ext cx="219456" cy="329184"/>
          </a:xfrm>
          <a:prstGeom prst="rect">
            <a:avLst/>
          </a:prstGeom>
          <a:solidFill>
            <a:srgbClr val="FFFFFF"/>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26280" y="2834640"/>
            <a:ext cx="581558" cy="920800"/>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700747" y="3009107"/>
            <a:ext cx="232623" cy="232623"/>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681362" y="3474354"/>
            <a:ext cx="271394"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817059" y="2572938"/>
            <a:ext cx="0" cy="193853"/>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577840" y="3227832"/>
            <a:ext cx="747064" cy="471830"/>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695797" y="3503066"/>
            <a:ext cx="55046" cy="55046"/>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68802" y="3503066"/>
            <a:ext cx="55046" cy="55046"/>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041806" y="3503066"/>
            <a:ext cx="55046" cy="55046"/>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5719389" y="3007644"/>
            <a:ext cx="0" cy="220188"/>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175491" y="3007644"/>
            <a:ext cx="0" cy="220188"/>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5148072" y="3547872"/>
            <a:ext cx="374904"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247888" y="2889504"/>
            <a:ext cx="764438" cy="965606"/>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392728" y="3050438"/>
            <a:ext cx="136794" cy="136794"/>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666317" y="3050438"/>
            <a:ext cx="136794" cy="136794"/>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92728" y="3299886"/>
            <a:ext cx="136794" cy="136794"/>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666317" y="3299886"/>
            <a:ext cx="136794" cy="136794"/>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561710" y="3589568"/>
            <a:ext cx="136794" cy="265541"/>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665208" y="2633472"/>
            <a:ext cx="573328" cy="724204"/>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773838" y="2754172"/>
            <a:ext cx="102595" cy="102595"/>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979030" y="2754172"/>
            <a:ext cx="102595" cy="102595"/>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9773838" y="2941259"/>
            <a:ext cx="102595" cy="102595"/>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79030" y="2941259"/>
            <a:ext cx="102595" cy="102595"/>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900574" y="3158520"/>
            <a:ext cx="102595" cy="199156"/>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0543032" y="3547872"/>
            <a:ext cx="503834" cy="636422"/>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10638495" y="3653942"/>
            <a:ext cx="90159" cy="90159"/>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10818815" y="3653942"/>
            <a:ext cx="90159" cy="90159"/>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0638495" y="3818351"/>
            <a:ext cx="90159" cy="90159"/>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818815" y="3818351"/>
            <a:ext cx="90159" cy="90159"/>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749869" y="4009278"/>
            <a:ext cx="90159" cy="175016"/>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flipV="1">
            <a:off x="9052560" y="3099816"/>
            <a:ext cx="612648" cy="274320"/>
          </a:xfrm>
          <a:prstGeom prst="line">
            <a:avLst/>
          </a:prstGeom>
          <a:ln w="25400">
            <a:solidFill>
              <a:srgbClr val="A9D3B0"/>
            </a:solidFill>
            <a:prstDash val="dash"/>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052560" y="3630168"/>
            <a:ext cx="1490472" cy="283464"/>
          </a:xfrm>
          <a:prstGeom prst="line">
            <a:avLst/>
          </a:prstGeom>
          <a:ln w="25400">
            <a:solidFill>
              <a:srgbClr val="A9D3B0"/>
            </a:solidFill>
            <a:prstDash val="dash"/>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3355848" y="3584448"/>
            <a:ext cx="658367"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059168" y="3584448"/>
            <a:ext cx="603504"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594360" y="4407408"/>
            <a:ext cx="2651760" cy="594360"/>
          </a:xfrm>
          <a:prstGeom prst="rect">
            <a:avLst/>
          </a:prstGeom>
          <a:noFill/>
        </p:spPr>
        <p:txBody>
          <a:bodyPr wrap="none" lIns="0" rIns="0" tIns="0" bIns="0" anchor="ctr">
            <a:noAutofit/>
          </a:bodyPr>
          <a:lstStyle/>
          <a:p>
            <a:pPr algn="ctr"/>
            <a:r>
              <a:rPr sz="2700" lang="da-DK">
                <a:solidFill>
                  <a:srgbClr val="17221A"/>
                </a:solidFill>
                <a:latin typeface="Arial"/>
              </a:rPr>
              <a:t>Smedefirma</a:t>
            </a:r>
          </a:p>
        </p:txBody>
      </p:sp>
      <p:sp>
        <p:nvSpPr>
          <p:cNvPr id="46" name="TextBox 45"/>
          <p:cNvSpPr txBox="1"/>
          <p:nvPr/>
        </p:nvSpPr>
        <p:spPr>
          <a:xfrm>
            <a:off x="4169663" y="4407408"/>
            <a:ext cx="2743200" cy="594360"/>
          </a:xfrm>
          <a:prstGeom prst="rect">
            <a:avLst/>
          </a:prstGeom>
          <a:noFill/>
        </p:spPr>
        <p:txBody>
          <a:bodyPr wrap="none" lIns="0" rIns="0" tIns="0" bIns="0" anchor="ctr">
            <a:noAutofit/>
          </a:bodyPr>
          <a:lstStyle/>
          <a:p>
            <a:pPr algn="ctr"/>
            <a:r>
              <a:rPr sz="2700" lang="da-DK">
                <a:solidFill>
                  <a:srgbClr val="17221A"/>
                </a:solidFill>
                <a:latin typeface="Arial"/>
              </a:rPr>
              <a:t>Overvågning</a:t>
            </a:r>
          </a:p>
        </p:txBody>
      </p:sp>
      <p:sp>
        <p:nvSpPr>
          <p:cNvPr id="47" name="TextBox 46"/>
          <p:cNvSpPr txBox="1"/>
          <p:nvPr/>
        </p:nvSpPr>
        <p:spPr>
          <a:xfrm>
            <a:off x="7836408" y="4407408"/>
            <a:ext cx="3749039" cy="594360"/>
          </a:xfrm>
          <a:prstGeom prst="rect">
            <a:avLst/>
          </a:prstGeom>
          <a:noFill/>
        </p:spPr>
        <p:txBody>
          <a:bodyPr wrap="none" lIns="0" rIns="0" tIns="0" bIns="0" anchor="ctr">
            <a:noAutofit/>
          </a:bodyPr>
          <a:lstStyle/>
          <a:p>
            <a:pPr algn="ctr"/>
            <a:r>
              <a:rPr sz="2700" lang="da-DK">
                <a:solidFill>
                  <a:srgbClr val="17221A"/>
                </a:solidFill>
                <a:latin typeface="Arial"/>
              </a:rPr>
              <a:t>Nye kontorer</a:t>
            </a:r>
          </a:p>
        </p:txBody>
      </p:sp>
      <p:sp>
        <p:nvSpPr>
          <p:cNvPr id="48" name="Rounded Rectangle 47"/>
          <p:cNvSpPr/>
          <p:nvPr/>
        </p:nvSpPr>
        <p:spPr>
          <a:xfrm>
            <a:off x="594360" y="5541264"/>
            <a:ext cx="11000232" cy="777240"/>
          </a:xfrm>
          <a:prstGeom prst="roundRect">
            <a:avLst>
              <a:gd name="adj" fmla="val 10000"/>
            </a:avLst>
          </a:prstGeom>
          <a:solidFill>
            <a:srgbClr val="E8F4E9"/>
          </a:solidFill>
          <a:ln w="12700">
            <a:solidFill>
              <a:srgbClr val="BDDFC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4360" y="5641848"/>
            <a:ext cx="11000232" cy="548640"/>
          </a:xfrm>
          <a:prstGeom prst="rect">
            <a:avLst/>
          </a:prstGeom>
          <a:noFill/>
        </p:spPr>
        <p:txBody>
          <a:bodyPr wrap="none" lIns="0" rIns="0" tIns="0" bIns="0" anchor="ctr">
            <a:noAutofit/>
          </a:bodyPr>
          <a:lstStyle/>
          <a:p>
            <a:pPr algn="ctr"/>
            <a:r>
              <a:rPr sz="2700" lang="da-DK">
                <a:solidFill>
                  <a:srgbClr val="1E4A26"/>
                </a:solidFill>
                <a:latin typeface="Georgia"/>
              </a:rPr>
              <a:t>Fælles processer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640080"/>
            <a:ext cx="11000232" cy="685800"/>
          </a:xfrm>
          <a:prstGeom prst="rect">
            <a:avLst/>
          </a:prstGeom>
          <a:noFill/>
        </p:spPr>
        <p:txBody>
          <a:bodyPr wrap="none" lIns="0" rIns="0" tIns="0" bIns="0" anchor="ctr">
            <a:noAutofit/>
          </a:bodyPr>
          <a:lstStyle/>
          <a:p>
            <a:pPr algn="l"/>
            <a:r>
              <a:rPr sz="3600" lang="da-DK">
                <a:solidFill>
                  <a:srgbClr val="17221A"/>
                </a:solidFill>
                <a:latin typeface="Georgia"/>
              </a:rPr>
              <a:t>Change Control</a:t>
            </a:r>
          </a:p>
        </p:txBody>
      </p:sp>
      <p:sp>
        <p:nvSpPr>
          <p:cNvPr id="3" name="Rounded Rectangle 2"/>
          <p:cNvSpPr/>
          <p:nvPr/>
        </p:nvSpPr>
        <p:spPr>
          <a:xfrm>
            <a:off x="932688" y="1975104"/>
            <a:ext cx="2743200" cy="356616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73352" y="2423160"/>
            <a:ext cx="1261872" cy="1261872"/>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727448" y="1975104"/>
            <a:ext cx="2743200" cy="356616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468112" y="2423160"/>
            <a:ext cx="1261872" cy="1261872"/>
          </a:xfrm>
          <a:prstGeom prst="ellipse">
            <a:avLst/>
          </a:prstGeom>
          <a:solidFill>
            <a:srgbClr val="F7EFDF"/>
          </a:solidFill>
          <a:ln w="25400">
            <a:solidFill>
              <a:srgbClr val="B781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522208" y="1975104"/>
            <a:ext cx="2743200" cy="356616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9262872" y="2423160"/>
            <a:ext cx="1261872" cy="1261872"/>
          </a:xfrm>
          <a:prstGeom prst="ellipse">
            <a:avLst/>
          </a:prstGeom>
          <a:solidFill>
            <a:srgbClr val="F8E9E6"/>
          </a:solidFill>
          <a:ln w="25400">
            <a:solidFill>
              <a:srgbClr val="B843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 name="Connector 8"/>
          <p:cNvCxnSpPr/>
          <p:nvPr/>
        </p:nvCxnSpPr>
        <p:spPr>
          <a:xfrm>
            <a:off x="2002536" y="3011119"/>
            <a:ext cx="185166" cy="197510"/>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2187702" y="2788920"/>
            <a:ext cx="444398" cy="419709"/>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5751576" y="2706624"/>
            <a:ext cx="713232" cy="713232"/>
          </a:xfrm>
          <a:prstGeom prst="ellipse">
            <a:avLst/>
          </a:prstGeom>
          <a:noFill/>
          <a:ln w="25400">
            <a:solidFill>
              <a:srgbClr val="B7812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6108192" y="2825496"/>
            <a:ext cx="0" cy="237744"/>
          </a:xfrm>
          <a:prstGeom prst="line">
            <a:avLst/>
          </a:prstGeom>
          <a:ln w="38100">
            <a:solidFill>
              <a:srgbClr val="B7812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108192" y="3063240"/>
            <a:ext cx="237744" cy="118872"/>
          </a:xfrm>
          <a:prstGeom prst="line">
            <a:avLst/>
          </a:prstGeom>
          <a:ln w="38100">
            <a:solidFill>
              <a:srgbClr val="B78127"/>
            </a:solidFill>
          </a:ln>
        </p:spPr>
        <p:style>
          <a:lnRef idx="2">
            <a:schemeClr val="accent1"/>
          </a:lnRef>
          <a:fillRef idx="0">
            <a:schemeClr val="accent1"/>
          </a:fillRef>
          <a:effectRef idx="1">
            <a:schemeClr val="accent1"/>
          </a:effectRef>
          <a:fontRef idx="minor">
            <a:schemeClr val="tx1"/>
          </a:fontRef>
        </p:style>
      </p:cxnSp>
      <p:sp>
        <p:nvSpPr>
          <p:cNvPr id="14" name="Isosceles Triangle 13"/>
          <p:cNvSpPr/>
          <p:nvPr/>
        </p:nvSpPr>
        <p:spPr>
          <a:xfrm>
            <a:off x="9555480" y="2724912"/>
            <a:ext cx="713232" cy="667512"/>
          </a:xfrm>
          <a:prstGeom prst="triangle">
            <a:avLst/>
          </a:prstGeom>
          <a:noFill/>
          <a:ln w="25400">
            <a:solidFill>
              <a:srgbClr val="B843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9912096" y="2880360"/>
            <a:ext cx="0" cy="246888"/>
          </a:xfrm>
          <a:prstGeom prst="line">
            <a:avLst/>
          </a:prstGeom>
          <a:ln w="38100">
            <a:solidFill>
              <a:srgbClr val="B84337"/>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9875520" y="3209544"/>
            <a:ext cx="73152" cy="73152"/>
          </a:xfrm>
          <a:prstGeom prst="ellipse">
            <a:avLst/>
          </a:prstGeom>
          <a:solidFill>
            <a:srgbClr val="B84337"/>
          </a:solidFill>
          <a:ln w="12700">
            <a:solidFill>
              <a:srgbClr val="B843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 y="4315968"/>
            <a:ext cx="2743200" cy="594360"/>
          </a:xfrm>
          <a:prstGeom prst="rect">
            <a:avLst/>
          </a:prstGeom>
          <a:noFill/>
        </p:spPr>
        <p:txBody>
          <a:bodyPr wrap="none" lIns="0" rIns="0" tIns="0" bIns="0" anchor="ctr">
            <a:noAutofit/>
          </a:bodyPr>
          <a:lstStyle/>
          <a:p>
            <a:pPr algn="ctr"/>
            <a:r>
              <a:rPr sz="3000" lang="da-DK">
                <a:solidFill>
                  <a:srgbClr val="17221A"/>
                </a:solidFill>
                <a:latin typeface="Arial"/>
              </a:rPr>
              <a:t>Standard</a:t>
            </a:r>
          </a:p>
        </p:txBody>
      </p:sp>
      <p:sp>
        <p:nvSpPr>
          <p:cNvPr id="18" name="TextBox 17"/>
          <p:cNvSpPr txBox="1"/>
          <p:nvPr/>
        </p:nvSpPr>
        <p:spPr>
          <a:xfrm>
            <a:off x="4727448" y="4315968"/>
            <a:ext cx="2743200" cy="594360"/>
          </a:xfrm>
          <a:prstGeom prst="rect">
            <a:avLst/>
          </a:prstGeom>
          <a:noFill/>
        </p:spPr>
        <p:txBody>
          <a:bodyPr wrap="none" lIns="0" rIns="0" tIns="0" bIns="0" anchor="ctr">
            <a:noAutofit/>
          </a:bodyPr>
          <a:lstStyle/>
          <a:p>
            <a:pPr algn="ctr"/>
            <a:r>
              <a:rPr sz="3000" lang="da-DK">
                <a:solidFill>
                  <a:srgbClr val="17221A"/>
                </a:solidFill>
                <a:latin typeface="Arial"/>
              </a:rPr>
              <a:t>Normal</a:t>
            </a:r>
          </a:p>
        </p:txBody>
      </p:sp>
      <p:sp>
        <p:nvSpPr>
          <p:cNvPr id="19" name="TextBox 18"/>
          <p:cNvSpPr txBox="1"/>
          <p:nvPr/>
        </p:nvSpPr>
        <p:spPr>
          <a:xfrm>
            <a:off x="8522208" y="4315968"/>
            <a:ext cx="2743200" cy="594360"/>
          </a:xfrm>
          <a:prstGeom prst="rect">
            <a:avLst/>
          </a:prstGeom>
          <a:noFill/>
        </p:spPr>
        <p:txBody>
          <a:bodyPr wrap="none" lIns="0" rIns="0" tIns="0" bIns="0" anchor="ctr">
            <a:noAutofit/>
          </a:bodyPr>
          <a:lstStyle/>
          <a:p>
            <a:pPr algn="ctr"/>
            <a:r>
              <a:rPr sz="3000" lang="da-DK">
                <a:solidFill>
                  <a:srgbClr val="17221A"/>
                </a:solidFill>
                <a:latin typeface="Arial"/>
              </a:rPr>
              <a:t>Emergency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48640" y="640080"/>
            <a:ext cx="11094720" cy="685800"/>
          </a:xfrm>
          <a:prstGeom prst="rect">
            <a:avLst/>
          </a:prstGeom>
          <a:noFill/>
        </p:spPr>
        <p:txBody>
          <a:bodyPr wrap="none" lIns="0" rIns="0" tIns="0" bIns="0" anchor="ctr">
            <a:noAutofit/>
          </a:bodyPr>
          <a:lstStyle/>
          <a:p>
            <a:pPr algn="ctr"/>
            <a:r>
              <a:rPr sz="3600" lang="da-DK">
                <a:solidFill>
                  <a:srgbClr val="17221A"/>
                </a:solidFill>
                <a:latin typeface="Georgia"/>
              </a:rPr>
              <a:t>Ny firmware</a:t>
            </a:r>
          </a:p>
        </p:txBody>
      </p:sp>
      <p:sp>
        <p:nvSpPr>
          <p:cNvPr id="3" name="Rounded Rectangle 2"/>
          <p:cNvSpPr/>
          <p:nvPr/>
        </p:nvSpPr>
        <p:spPr>
          <a:xfrm>
            <a:off x="548640" y="2084831"/>
            <a:ext cx="2194560" cy="301752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749039" y="2084831"/>
            <a:ext cx="2743200" cy="301752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98079" y="2084831"/>
            <a:ext cx="4114800" cy="301752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234440" y="2807208"/>
            <a:ext cx="822959" cy="1303019"/>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81328" y="3054096"/>
            <a:ext cx="329184" cy="329184"/>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453896" y="3712463"/>
            <a:ext cx="384048"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645920" y="2436876"/>
            <a:ext cx="0" cy="27432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029968" y="2637129"/>
            <a:ext cx="109728" cy="117043"/>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139696" y="2505456"/>
            <a:ext cx="263347" cy="248716"/>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480560" y="2857500"/>
            <a:ext cx="411479" cy="651509"/>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604004" y="2980943"/>
            <a:ext cx="164592" cy="164592"/>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590288" y="3310128"/>
            <a:ext cx="192024"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686300" y="2672333"/>
            <a:ext cx="0" cy="13716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349240" y="2857500"/>
            <a:ext cx="411479" cy="651509"/>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472684" y="2980943"/>
            <a:ext cx="164592" cy="164592"/>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5458968" y="3310128"/>
            <a:ext cx="192024"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54980" y="2672333"/>
            <a:ext cx="0" cy="13716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914900" y="3863340"/>
            <a:ext cx="411479" cy="651509"/>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5038344" y="3986784"/>
            <a:ext cx="164592" cy="164592"/>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5024628" y="4315968"/>
            <a:ext cx="192024"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5120640" y="3678174"/>
            <a:ext cx="0" cy="13716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058607" y="2651211"/>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155716" y="2748320"/>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8144926" y="3007278"/>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220455" y="2505547"/>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8726119" y="2651211"/>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823228" y="2748320"/>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8812438" y="3007278"/>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887967" y="2505547"/>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9393631" y="2651211"/>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9490740" y="2748320"/>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9479950" y="3007278"/>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555479" y="2505547"/>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10061143" y="2651211"/>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58252" y="2748320"/>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8" name="Connector 37"/>
          <p:cNvCxnSpPr/>
          <p:nvPr/>
        </p:nvCxnSpPr>
        <p:spPr>
          <a:xfrm>
            <a:off x="10147462" y="3007278"/>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222991" y="2505547"/>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10728655" y="2651211"/>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0825764" y="2748320"/>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10814974" y="3007278"/>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890503" y="2505547"/>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8058607" y="3410163"/>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8155716" y="3507272"/>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6" name="Connector 45"/>
          <p:cNvCxnSpPr/>
          <p:nvPr/>
        </p:nvCxnSpPr>
        <p:spPr>
          <a:xfrm>
            <a:off x="8144926" y="3766230"/>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220455" y="3264499"/>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8726119" y="3410163"/>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823228" y="3507272"/>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8812438" y="3766230"/>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887967" y="3264499"/>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52" name="Rounded Rectangle 51"/>
          <p:cNvSpPr/>
          <p:nvPr/>
        </p:nvSpPr>
        <p:spPr>
          <a:xfrm>
            <a:off x="9393631" y="3410163"/>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9490740" y="3507272"/>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4" name="Connector 53"/>
          <p:cNvCxnSpPr/>
          <p:nvPr/>
        </p:nvCxnSpPr>
        <p:spPr>
          <a:xfrm>
            <a:off x="9479950" y="3766230"/>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555479" y="3264499"/>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56" name="Rounded Rectangle 55"/>
          <p:cNvSpPr/>
          <p:nvPr/>
        </p:nvSpPr>
        <p:spPr>
          <a:xfrm>
            <a:off x="10061143" y="3410163"/>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0158252" y="3507272"/>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10147462" y="3766230"/>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0222991" y="3264499"/>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60" name="Rounded Rectangle 59"/>
          <p:cNvSpPr/>
          <p:nvPr/>
        </p:nvSpPr>
        <p:spPr>
          <a:xfrm>
            <a:off x="10728655" y="3410163"/>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825764" y="3507272"/>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2" name="Connector 61"/>
          <p:cNvCxnSpPr/>
          <p:nvPr/>
        </p:nvCxnSpPr>
        <p:spPr>
          <a:xfrm>
            <a:off x="10814974" y="3766230"/>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890503" y="3264499"/>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8058607" y="4169115"/>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8155716" y="4266224"/>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a:off x="8144926" y="4525182"/>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8220455" y="4023451"/>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8726119" y="4169115"/>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823228" y="4266224"/>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Connector 69"/>
          <p:cNvCxnSpPr/>
          <p:nvPr/>
        </p:nvCxnSpPr>
        <p:spPr>
          <a:xfrm>
            <a:off x="8812438" y="4525182"/>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8887967" y="4023451"/>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9393631" y="4169115"/>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9490740" y="4266224"/>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a:off x="9479950" y="4525182"/>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9555479" y="4023451"/>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76" name="Rounded Rectangle 75"/>
          <p:cNvSpPr/>
          <p:nvPr/>
        </p:nvSpPr>
        <p:spPr>
          <a:xfrm>
            <a:off x="10061143" y="4169115"/>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10158252" y="4266224"/>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Connector 77"/>
          <p:cNvCxnSpPr/>
          <p:nvPr/>
        </p:nvCxnSpPr>
        <p:spPr>
          <a:xfrm>
            <a:off x="10147462" y="4525182"/>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10222991" y="4023451"/>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80" name="Rounded Rectangle 79"/>
          <p:cNvSpPr/>
          <p:nvPr/>
        </p:nvSpPr>
        <p:spPr>
          <a:xfrm>
            <a:off x="10728655" y="4169115"/>
            <a:ext cx="323697" cy="512521"/>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825764" y="4266224"/>
            <a:ext cx="129479" cy="129479"/>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2" name="Connector 81"/>
          <p:cNvCxnSpPr/>
          <p:nvPr/>
        </p:nvCxnSpPr>
        <p:spPr>
          <a:xfrm>
            <a:off x="10814974" y="4525182"/>
            <a:ext cx="151059"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10890503" y="4023451"/>
            <a:ext cx="0" cy="1078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2852928" y="3584448"/>
            <a:ext cx="722376"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6583680" y="3584448"/>
            <a:ext cx="749808"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TextBox 85"/>
          <p:cNvSpPr txBox="1"/>
          <p:nvPr/>
        </p:nvSpPr>
        <p:spPr>
          <a:xfrm>
            <a:off x="548640" y="5321808"/>
            <a:ext cx="2194560" cy="594360"/>
          </a:xfrm>
          <a:prstGeom prst="rect">
            <a:avLst/>
          </a:prstGeom>
          <a:noFill/>
        </p:spPr>
        <p:txBody>
          <a:bodyPr wrap="none" lIns="0" rIns="0" tIns="0" bIns="0" anchor="ctr">
            <a:noAutofit/>
          </a:bodyPr>
          <a:lstStyle/>
          <a:p>
            <a:pPr algn="ctr"/>
            <a:r>
              <a:rPr sz="2800" lang="da-DK">
                <a:solidFill>
                  <a:srgbClr val="17221A"/>
                </a:solidFill>
                <a:latin typeface="Arial"/>
              </a:rPr>
              <a:t>Test</a:t>
            </a:r>
          </a:p>
        </p:txBody>
      </p:sp>
      <p:sp>
        <p:nvSpPr>
          <p:cNvPr id="87" name="TextBox 86"/>
          <p:cNvSpPr txBox="1"/>
          <p:nvPr/>
        </p:nvSpPr>
        <p:spPr>
          <a:xfrm>
            <a:off x="3749039" y="5321808"/>
            <a:ext cx="2743200" cy="594360"/>
          </a:xfrm>
          <a:prstGeom prst="rect">
            <a:avLst/>
          </a:prstGeom>
          <a:noFill/>
        </p:spPr>
        <p:txBody>
          <a:bodyPr wrap="none" lIns="0" rIns="0" tIns="0" bIns="0" anchor="ctr">
            <a:noAutofit/>
          </a:bodyPr>
          <a:lstStyle/>
          <a:p>
            <a:pPr algn="ctr"/>
            <a:r>
              <a:rPr sz="2800" lang="da-DK">
                <a:solidFill>
                  <a:srgbClr val="17221A"/>
                </a:solidFill>
                <a:latin typeface="Arial"/>
              </a:rPr>
              <a:t>Få kunder</a:t>
            </a:r>
          </a:p>
        </p:txBody>
      </p:sp>
      <p:sp>
        <p:nvSpPr>
          <p:cNvPr id="88" name="TextBox 87"/>
          <p:cNvSpPr txBox="1"/>
          <p:nvPr/>
        </p:nvSpPr>
        <p:spPr>
          <a:xfrm>
            <a:off x="7498079" y="5321808"/>
            <a:ext cx="4114800" cy="594360"/>
          </a:xfrm>
          <a:prstGeom prst="rect">
            <a:avLst/>
          </a:prstGeom>
          <a:noFill/>
        </p:spPr>
        <p:txBody>
          <a:bodyPr wrap="none" lIns="0" rIns="0" tIns="0" bIns="0" anchor="ctr">
            <a:noAutofit/>
          </a:bodyPr>
          <a:lstStyle/>
          <a:p>
            <a:pPr algn="ctr"/>
            <a:r>
              <a:rPr sz="2800" lang="da-DK">
                <a:solidFill>
                  <a:srgbClr val="17221A"/>
                </a:solidFill>
                <a:latin typeface="Arial"/>
              </a:rPr>
              <a:t>Alle kunder</a:t>
            </a:r>
          </a:p>
        </p:txBody>
      </p:sp>
      <p:cxnSp>
        <p:nvCxnSpPr>
          <p:cNvPr id="89" name="Connector 88"/>
          <p:cNvCxnSpPr/>
          <p:nvPr/>
        </p:nvCxnSpPr>
        <p:spPr>
          <a:xfrm flipH="1">
            <a:off x="1700784" y="6144768"/>
            <a:ext cx="3346704" cy="0"/>
          </a:xfrm>
          <a:prstGeom prst="line">
            <a:avLst/>
          </a:prstGeom>
          <a:ln w="25400">
            <a:solidFill>
              <a:srgbClr val="5260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257800" y="5833872"/>
            <a:ext cx="2971800" cy="502920"/>
          </a:xfrm>
          <a:prstGeom prst="rect">
            <a:avLst/>
          </a:prstGeom>
          <a:noFill/>
        </p:spPr>
        <p:txBody>
          <a:bodyPr wrap="none" lIns="0" rIns="0" tIns="0" bIns="0" anchor="ctr">
            <a:noAutofit/>
          </a:bodyPr>
          <a:lstStyle/>
          <a:p>
            <a:pPr algn="ctr"/>
            <a:r>
              <a:rPr sz="2200" lang="da-DK">
                <a:solidFill>
                  <a:srgbClr val="526066"/>
                </a:solidFill>
                <a:latin typeface="Arial"/>
              </a:rPr>
              <a:t>Tilbagerulning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640080"/>
            <a:ext cx="11000232" cy="685800"/>
          </a:xfrm>
          <a:prstGeom prst="rect">
            <a:avLst/>
          </a:prstGeom>
          <a:noFill/>
        </p:spPr>
        <p:txBody>
          <a:bodyPr wrap="none" lIns="0" rIns="0" tIns="0" bIns="0" anchor="ctr">
            <a:noAutofit/>
          </a:bodyPr>
          <a:lstStyle/>
          <a:p>
            <a:pPr algn="l"/>
            <a:r>
              <a:rPr sz="3600" lang="da-DK">
                <a:solidFill>
                  <a:srgbClr val="17221A"/>
                </a:solidFill>
                <a:latin typeface="Georgia"/>
              </a:rPr>
              <a:t>Configuration Management</a:t>
            </a:r>
          </a:p>
        </p:txBody>
      </p:sp>
      <p:cxnSp>
        <p:nvCxnSpPr>
          <p:cNvPr id="3" name="Connector 2"/>
          <p:cNvCxnSpPr/>
          <p:nvPr/>
        </p:nvCxnSpPr>
        <p:spPr>
          <a:xfrm>
            <a:off x="2377440" y="3474720"/>
            <a:ext cx="1536192"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230368" y="3474720"/>
            <a:ext cx="1536192"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8083296" y="3474720"/>
            <a:ext cx="1554480" cy="0"/>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1115568" y="2679192"/>
            <a:ext cx="1316736" cy="1316736"/>
          </a:xfrm>
          <a:prstGeom prst="ellipse">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3968496" y="2679192"/>
            <a:ext cx="1316736" cy="1316736"/>
          </a:xfrm>
          <a:prstGeom prst="ellipse">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821424" y="2679192"/>
            <a:ext cx="1316736" cy="1316736"/>
          </a:xfrm>
          <a:prstGeom prst="ellipse">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674352" y="2679192"/>
            <a:ext cx="1316736" cy="1316736"/>
          </a:xfrm>
          <a:prstGeom prst="ellipse">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545336" y="2926080"/>
            <a:ext cx="427939" cy="677570"/>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673717" y="3054461"/>
            <a:ext cx="171175" cy="171175"/>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1659453" y="3396813"/>
            <a:ext cx="199705"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759305" y="2733507"/>
            <a:ext cx="0" cy="142646"/>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60" y="3191256"/>
            <a:ext cx="729691" cy="460857"/>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367174" y="3460089"/>
            <a:ext cx="53766" cy="53766"/>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536155" y="3460089"/>
            <a:ext cx="53766" cy="53766"/>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705136" y="3460089"/>
            <a:ext cx="53766" cy="53766"/>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4390217" y="2976189"/>
            <a:ext cx="0" cy="215067"/>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835712" y="2976189"/>
            <a:ext cx="0" cy="215067"/>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040880" y="2962656"/>
            <a:ext cx="896112" cy="603504"/>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7488936" y="3566160"/>
            <a:ext cx="0" cy="192024"/>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260336" y="3758184"/>
            <a:ext cx="457200"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0195560" y="2834640"/>
            <a:ext cx="274320" cy="274320"/>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flipV="1">
            <a:off x="10058400" y="3218688"/>
            <a:ext cx="137160" cy="131673"/>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195560" y="3218688"/>
            <a:ext cx="274320"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469880" y="3218688"/>
            <a:ext cx="137160" cy="131673"/>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058400" y="3350361"/>
            <a:ext cx="0" cy="17007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607040" y="3350361"/>
            <a:ext cx="0" cy="17007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058400" y="3520440"/>
            <a:ext cx="548640"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1975104"/>
            <a:ext cx="2532888" cy="548640"/>
          </a:xfrm>
          <a:prstGeom prst="rect">
            <a:avLst/>
          </a:prstGeom>
          <a:noFill/>
        </p:spPr>
        <p:txBody>
          <a:bodyPr wrap="none" lIns="0" rIns="0" tIns="0" bIns="0" anchor="ctr">
            <a:noAutofit/>
          </a:bodyPr>
          <a:lstStyle/>
          <a:p>
            <a:pPr algn="ctr"/>
            <a:r>
              <a:rPr sz="2800" lang="da-DK">
                <a:solidFill>
                  <a:srgbClr val="17221A"/>
                </a:solidFill>
                <a:latin typeface="Arial"/>
              </a:rPr>
              <a:t>Sensor</a:t>
            </a:r>
          </a:p>
        </p:txBody>
      </p:sp>
      <p:sp>
        <p:nvSpPr>
          <p:cNvPr id="31" name="TextBox 30"/>
          <p:cNvSpPr txBox="1"/>
          <p:nvPr/>
        </p:nvSpPr>
        <p:spPr>
          <a:xfrm>
            <a:off x="3401568" y="1975104"/>
            <a:ext cx="2532888" cy="548640"/>
          </a:xfrm>
          <a:prstGeom prst="rect">
            <a:avLst/>
          </a:prstGeom>
          <a:noFill/>
        </p:spPr>
        <p:txBody>
          <a:bodyPr wrap="none" lIns="0" rIns="0" tIns="0" bIns="0" anchor="ctr">
            <a:noAutofit/>
          </a:bodyPr>
          <a:lstStyle/>
          <a:p>
            <a:pPr algn="ctr"/>
            <a:r>
              <a:rPr sz="2800" lang="da-DK">
                <a:solidFill>
                  <a:srgbClr val="17221A"/>
                </a:solidFill>
                <a:latin typeface="Arial"/>
              </a:rPr>
              <a:t>Gateway</a:t>
            </a:r>
          </a:p>
        </p:txBody>
      </p:sp>
      <p:sp>
        <p:nvSpPr>
          <p:cNvPr id="32" name="TextBox 31"/>
          <p:cNvSpPr txBox="1"/>
          <p:nvPr/>
        </p:nvSpPr>
        <p:spPr>
          <a:xfrm>
            <a:off x="6254496" y="1975104"/>
            <a:ext cx="2532888" cy="548640"/>
          </a:xfrm>
          <a:prstGeom prst="rect">
            <a:avLst/>
          </a:prstGeom>
          <a:noFill/>
        </p:spPr>
        <p:txBody>
          <a:bodyPr wrap="none" lIns="0" rIns="0" tIns="0" bIns="0" anchor="ctr">
            <a:noAutofit/>
          </a:bodyPr>
          <a:lstStyle/>
          <a:p>
            <a:pPr algn="ctr"/>
            <a:r>
              <a:rPr sz="2800" lang="da-DK">
                <a:solidFill>
                  <a:srgbClr val="17221A"/>
                </a:solidFill>
                <a:latin typeface="Arial"/>
              </a:rPr>
              <a:t>Platform</a:t>
            </a:r>
          </a:p>
        </p:txBody>
      </p:sp>
      <p:sp>
        <p:nvSpPr>
          <p:cNvPr id="33" name="TextBox 32"/>
          <p:cNvSpPr txBox="1"/>
          <p:nvPr/>
        </p:nvSpPr>
        <p:spPr>
          <a:xfrm>
            <a:off x="9107424" y="1975104"/>
            <a:ext cx="2532888" cy="548640"/>
          </a:xfrm>
          <a:prstGeom prst="rect">
            <a:avLst/>
          </a:prstGeom>
          <a:noFill/>
        </p:spPr>
        <p:txBody>
          <a:bodyPr wrap="none" lIns="0" rIns="0" tIns="0" bIns="0" anchor="ctr">
            <a:noAutofit/>
          </a:bodyPr>
          <a:lstStyle/>
          <a:p>
            <a:pPr algn="ctr"/>
            <a:r>
              <a:rPr sz="2800" lang="da-DK">
                <a:solidFill>
                  <a:srgbClr val="17221A"/>
                </a:solidFill>
                <a:latin typeface="Arial"/>
              </a:rPr>
              <a:t>Landmand</a:t>
            </a:r>
          </a:p>
        </p:txBody>
      </p:sp>
      <p:cxnSp>
        <p:nvCxnSpPr>
          <p:cNvPr id="34" name="Connector 33"/>
          <p:cNvCxnSpPr/>
          <p:nvPr/>
        </p:nvCxnSpPr>
        <p:spPr>
          <a:xfrm>
            <a:off x="1773936" y="4005072"/>
            <a:ext cx="4315968" cy="1700784"/>
          </a:xfrm>
          <a:prstGeom prst="line">
            <a:avLst/>
          </a:prstGeom>
          <a:ln w="19050">
            <a:solidFill>
              <a:srgbClr val="A9D3B0"/>
            </a:solidFill>
            <a:prstDash val="dash"/>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626864" y="4005072"/>
            <a:ext cx="1463040" cy="1700784"/>
          </a:xfrm>
          <a:prstGeom prst="line">
            <a:avLst/>
          </a:prstGeom>
          <a:ln w="19050">
            <a:solidFill>
              <a:srgbClr val="A9D3B0"/>
            </a:solidFill>
            <a:prstDash val="dash"/>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6089904" y="4005072"/>
            <a:ext cx="1389888" cy="1700784"/>
          </a:xfrm>
          <a:prstGeom prst="line">
            <a:avLst/>
          </a:prstGeom>
          <a:ln w="19050">
            <a:solidFill>
              <a:srgbClr val="A9D3B0"/>
            </a:solidFill>
            <a:prstDash val="dash"/>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6089904" y="4005072"/>
            <a:ext cx="4242816" cy="1700784"/>
          </a:xfrm>
          <a:prstGeom prst="line">
            <a:avLst/>
          </a:prstGeom>
          <a:ln w="19050">
            <a:solidFill>
              <a:srgbClr val="A9D3B0"/>
            </a:solidFill>
            <a:prstDash val="dash"/>
          </a:ln>
        </p:spPr>
        <p:style>
          <a:lnRef idx="2">
            <a:schemeClr val="accent1"/>
          </a:lnRef>
          <a:fillRef idx="0">
            <a:schemeClr val="accent1"/>
          </a:fillRef>
          <a:effectRef idx="1">
            <a:schemeClr val="accent1"/>
          </a:effectRef>
          <a:fontRef idx="minor">
            <a:schemeClr val="tx1"/>
          </a:fontRef>
        </p:style>
      </p:cxnSp>
      <p:sp>
        <p:nvSpPr>
          <p:cNvPr id="38" name="Can 37"/>
          <p:cNvSpPr/>
          <p:nvPr/>
        </p:nvSpPr>
        <p:spPr>
          <a:xfrm>
            <a:off x="5779008" y="5577840"/>
            <a:ext cx="613562" cy="613562"/>
          </a:xfrm>
          <a:prstGeom prst="can">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5806897" y="5884621"/>
            <a:ext cx="557784"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806897" y="6012911"/>
            <a:ext cx="557784"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640080"/>
            <a:ext cx="11000232" cy="685800"/>
          </a:xfrm>
          <a:prstGeom prst="rect">
            <a:avLst/>
          </a:prstGeom>
          <a:noFill/>
        </p:spPr>
        <p:txBody>
          <a:bodyPr wrap="none" lIns="0" rIns="0" tIns="0" bIns="0" anchor="ctr">
            <a:noAutofit/>
          </a:bodyPr>
          <a:lstStyle/>
          <a:p>
            <a:pPr algn="l"/>
            <a:r>
              <a:rPr sz="3600" lang="da-DK">
                <a:solidFill>
                  <a:srgbClr val="17221A"/>
                </a:solidFill>
                <a:latin typeface="Georgia"/>
              </a:rPr>
              <a:t>Principper i praksis</a:t>
            </a:r>
          </a:p>
        </p:txBody>
      </p:sp>
      <p:sp>
        <p:nvSpPr>
          <p:cNvPr id="3" name="Rounded Rectangle 2"/>
          <p:cNvSpPr/>
          <p:nvPr/>
        </p:nvSpPr>
        <p:spPr>
          <a:xfrm>
            <a:off x="594360" y="1865376"/>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245352" y="1865376"/>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4114800"/>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245352" y="4114800"/>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78408" y="2221992"/>
            <a:ext cx="1056132" cy="1056132"/>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54430" y="2398014"/>
            <a:ext cx="704088" cy="704088"/>
          </a:xfrm>
          <a:prstGeom prst="ellipse">
            <a:avLst/>
          </a:prstGeom>
          <a:no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348054" y="2591638"/>
            <a:ext cx="316839" cy="316839"/>
          </a:xfrm>
          <a:prstGeom prst="ellipse">
            <a:avLst/>
          </a:prstGeom>
          <a:no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H="1">
            <a:off x="1527596" y="2116378"/>
            <a:ext cx="718170" cy="626639"/>
          </a:xfrm>
          <a:prstGeom prst="line">
            <a:avLst/>
          </a:prstGeom>
          <a:ln w="381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468880" y="2505456"/>
            <a:ext cx="3136392" cy="594360"/>
          </a:xfrm>
          <a:prstGeom prst="rect">
            <a:avLst/>
          </a:prstGeom>
          <a:noFill/>
        </p:spPr>
        <p:txBody>
          <a:bodyPr wrap="none" lIns="0" rIns="0" tIns="0" bIns="0" anchor="ctr">
            <a:noAutofit/>
          </a:bodyPr>
          <a:lstStyle/>
          <a:p>
            <a:pPr algn="l"/>
            <a:r>
              <a:rPr sz="2600" lang="da-DK">
                <a:solidFill>
                  <a:srgbClr val="17221A"/>
                </a:solidFill>
                <a:latin typeface="Arial"/>
              </a:rPr>
              <a:t>Fokus på værdi</a:t>
            </a:r>
          </a:p>
        </p:txBody>
      </p:sp>
      <p:sp>
        <p:nvSpPr>
          <p:cNvPr id="12" name="Rounded Rectangle 11"/>
          <p:cNvSpPr/>
          <p:nvPr/>
        </p:nvSpPr>
        <p:spPr>
          <a:xfrm>
            <a:off x="6629400" y="2221992"/>
            <a:ext cx="642823" cy="811987"/>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751198" y="2357323"/>
            <a:ext cx="115031" cy="115031"/>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981261" y="2357323"/>
            <a:ext cx="115031" cy="115031"/>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751198" y="2567086"/>
            <a:ext cx="115031" cy="115031"/>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81261" y="2567086"/>
            <a:ext cx="115031" cy="115031"/>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893295" y="2810682"/>
            <a:ext cx="115031" cy="223296"/>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7434072" y="2688336"/>
            <a:ext cx="539496"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8065008" y="2404872"/>
            <a:ext cx="364845" cy="460857"/>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34136" y="2481681"/>
            <a:ext cx="65288" cy="65288"/>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64712" y="2481681"/>
            <a:ext cx="65288" cy="65288"/>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34136" y="2600736"/>
            <a:ext cx="65288" cy="65288"/>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264712" y="2600736"/>
            <a:ext cx="65288" cy="65288"/>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214786" y="2738993"/>
            <a:ext cx="65288" cy="126735"/>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86216" y="2505456"/>
            <a:ext cx="2798064" cy="594360"/>
          </a:xfrm>
          <a:prstGeom prst="rect">
            <a:avLst/>
          </a:prstGeom>
          <a:noFill/>
        </p:spPr>
        <p:txBody>
          <a:bodyPr wrap="none" lIns="0" rIns="0" tIns="0" bIns="0" anchor="ctr">
            <a:noAutofit/>
          </a:bodyPr>
          <a:lstStyle/>
          <a:p>
            <a:pPr algn="l"/>
            <a:r>
              <a:rPr sz="2500" lang="da-DK">
                <a:solidFill>
                  <a:srgbClr val="17221A"/>
                </a:solidFill>
                <a:latin typeface="Arial"/>
              </a:rPr>
              <a:t>Start hvor du er</a:t>
            </a:r>
          </a:p>
        </p:txBody>
      </p:sp>
      <p:sp>
        <p:nvSpPr>
          <p:cNvPr id="26" name="Rectangle 25"/>
          <p:cNvSpPr/>
          <p:nvPr/>
        </p:nvSpPr>
        <p:spPr>
          <a:xfrm>
            <a:off x="978408" y="5157216"/>
            <a:ext cx="228600" cy="210312"/>
          </a:xfrm>
          <a:prstGeom prst="rect">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271016" y="4992624"/>
            <a:ext cx="228600" cy="374904"/>
          </a:xfrm>
          <a:prstGeom prst="rect">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563624" y="4828031"/>
            <a:ext cx="228600" cy="539496"/>
          </a:xfrm>
          <a:prstGeom prst="rect">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9" name="Connector 28"/>
          <p:cNvCxnSpPr/>
          <p:nvPr/>
        </p:nvCxnSpPr>
        <p:spPr>
          <a:xfrm flipH="1">
            <a:off x="941832" y="4626864"/>
            <a:ext cx="1078992" cy="0"/>
          </a:xfrm>
          <a:prstGeom prst="line">
            <a:avLst/>
          </a:prstGeom>
          <a:ln w="25400">
            <a:solidFill>
              <a:srgbClr val="5260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286000" y="4773168"/>
            <a:ext cx="3374136" cy="594360"/>
          </a:xfrm>
          <a:prstGeom prst="rect">
            <a:avLst/>
          </a:prstGeom>
          <a:noFill/>
        </p:spPr>
        <p:txBody>
          <a:bodyPr wrap="none" lIns="0" rIns="0" tIns="0" bIns="0" anchor="ctr">
            <a:noAutofit/>
          </a:bodyPr>
          <a:lstStyle/>
          <a:p>
            <a:pPr algn="l"/>
            <a:r>
              <a:rPr sz="2300" lang="da-DK">
                <a:solidFill>
                  <a:srgbClr val="17221A"/>
                </a:solidFill>
                <a:latin typeface="Arial"/>
              </a:rPr>
              <a:t>Små skridt med feedback</a:t>
            </a:r>
          </a:p>
        </p:txBody>
      </p:sp>
      <p:sp>
        <p:nvSpPr>
          <p:cNvPr id="31" name="Can 30"/>
          <p:cNvSpPr/>
          <p:nvPr/>
        </p:nvSpPr>
        <p:spPr>
          <a:xfrm>
            <a:off x="7159752" y="4773168"/>
            <a:ext cx="553212" cy="553212"/>
          </a:xfrm>
          <a:prstGeom prst="can">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2" name="Connector 31"/>
          <p:cNvCxnSpPr/>
          <p:nvPr/>
        </p:nvCxnSpPr>
        <p:spPr>
          <a:xfrm>
            <a:off x="7184898" y="5049774"/>
            <a:ext cx="502920"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184898" y="5165445"/>
            <a:ext cx="502920"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sp>
        <p:nvSpPr>
          <p:cNvPr id="34" name="Oval 33"/>
          <p:cNvSpPr/>
          <p:nvPr/>
        </p:nvSpPr>
        <p:spPr>
          <a:xfrm>
            <a:off x="6537960" y="4800600"/>
            <a:ext cx="228600" cy="228600"/>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6656832" y="5029200"/>
            <a:ext cx="786384" cy="4572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8019288" y="4800600"/>
            <a:ext cx="228600" cy="228600"/>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7" name="Connector 36"/>
          <p:cNvCxnSpPr/>
          <p:nvPr/>
        </p:nvCxnSpPr>
        <p:spPr>
          <a:xfrm flipH="1">
            <a:off x="7443216" y="5029200"/>
            <a:ext cx="694944" cy="4572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sp>
        <p:nvSpPr>
          <p:cNvPr id="38" name="Oval 37"/>
          <p:cNvSpPr/>
          <p:nvPr/>
        </p:nvSpPr>
        <p:spPr>
          <a:xfrm>
            <a:off x="7306056" y="4443984"/>
            <a:ext cx="228600" cy="228600"/>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7424928" y="4672584"/>
            <a:ext cx="18288" cy="402336"/>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321040" y="4773168"/>
            <a:ext cx="3154680" cy="594360"/>
          </a:xfrm>
          <a:prstGeom prst="rect">
            <a:avLst/>
          </a:prstGeom>
          <a:noFill/>
        </p:spPr>
        <p:txBody>
          <a:bodyPr wrap="none" lIns="0" rIns="0" tIns="0" bIns="0" anchor="ctr">
            <a:noAutofit/>
          </a:bodyPr>
          <a:lstStyle/>
          <a:p>
            <a:pPr algn="l"/>
            <a:r>
              <a:rPr sz="2200" lang="da-DK">
                <a:solidFill>
                  <a:srgbClr val="17221A"/>
                </a:solidFill>
                <a:latin typeface="Arial"/>
              </a:rPr>
              <a:t>Samarbejde og synlighed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640080"/>
            <a:ext cx="11000232" cy="685800"/>
          </a:xfrm>
          <a:prstGeom prst="rect">
            <a:avLst/>
          </a:prstGeom>
          <a:noFill/>
        </p:spPr>
        <p:txBody>
          <a:bodyPr wrap="none" lIns="0" rIns="0" tIns="0" bIns="0" anchor="ctr">
            <a:noAutofit/>
          </a:bodyPr>
          <a:lstStyle/>
          <a:p>
            <a:pPr algn="l"/>
            <a:r>
              <a:rPr sz="3600" lang="da-DK">
                <a:solidFill>
                  <a:srgbClr val="17221A"/>
                </a:solidFill>
                <a:latin typeface="Georgia"/>
              </a:rPr>
              <a:t>Principper i praksis</a:t>
            </a:r>
          </a:p>
        </p:txBody>
      </p:sp>
      <p:sp>
        <p:nvSpPr>
          <p:cNvPr id="3" name="Rounded Rectangle 2"/>
          <p:cNvSpPr/>
          <p:nvPr/>
        </p:nvSpPr>
        <p:spPr>
          <a:xfrm>
            <a:off x="594360" y="1947672"/>
            <a:ext cx="11000232" cy="118872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94360" y="3419856"/>
            <a:ext cx="11000232" cy="118872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4892040"/>
            <a:ext cx="11000232" cy="118872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941832" y="2286000"/>
            <a:ext cx="285292" cy="451713"/>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027419" y="2371587"/>
            <a:ext cx="114117" cy="114117"/>
          </a:xfrm>
          <a:prstGeom prst="ellipse">
            <a:avLst/>
          </a:prstGeom>
          <a:solidFill>
            <a:srgbClr val="2F6B3A"/>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017910" y="2599822"/>
            <a:ext cx="133136"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084478" y="2157618"/>
            <a:ext cx="0" cy="95097"/>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746504" y="2468880"/>
            <a:ext cx="451713" cy="285292"/>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817827" y="2635300"/>
            <a:ext cx="33284" cy="33284"/>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922434" y="2635300"/>
            <a:ext cx="33284" cy="33284"/>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027041" y="2635300"/>
            <a:ext cx="33284" cy="33284"/>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832091" y="2335743"/>
            <a:ext cx="0" cy="133137"/>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107874" y="2335743"/>
            <a:ext cx="0" cy="133137"/>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16" name="Can 15"/>
          <p:cNvSpPr/>
          <p:nvPr/>
        </p:nvSpPr>
        <p:spPr>
          <a:xfrm>
            <a:off x="2651760" y="2295144"/>
            <a:ext cx="482803" cy="482803"/>
          </a:xfrm>
          <a:prstGeom prst="can">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2673705" y="2536545"/>
            <a:ext cx="438912"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673705" y="2637495"/>
            <a:ext cx="438912"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3728923" y="2276856"/>
            <a:ext cx="169164" cy="169164"/>
          </a:xfrm>
          <a:prstGeom prst="ellipse">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flipV="1">
            <a:off x="3644341" y="2513685"/>
            <a:ext cx="84582" cy="811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728923" y="2513685"/>
            <a:ext cx="169164"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898087" y="2513685"/>
            <a:ext cx="84582" cy="81199"/>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44341" y="2594884"/>
            <a:ext cx="0" cy="104882"/>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982669" y="2594884"/>
            <a:ext cx="0" cy="104882"/>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644341" y="2699766"/>
            <a:ext cx="338328"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344168" y="2587752"/>
            <a:ext cx="347472"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267712" y="2587752"/>
            <a:ext cx="338328"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3163824" y="2587752"/>
            <a:ext cx="402336"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4572000" y="2231136"/>
            <a:ext cx="6519672" cy="603504"/>
          </a:xfrm>
          <a:prstGeom prst="rect">
            <a:avLst/>
          </a:prstGeom>
          <a:noFill/>
        </p:spPr>
        <p:txBody>
          <a:bodyPr wrap="none" lIns="0" rIns="0" tIns="0" bIns="0" anchor="ctr">
            <a:noAutofit/>
          </a:bodyPr>
          <a:lstStyle/>
          <a:p>
            <a:pPr algn="l"/>
            <a:r>
              <a:rPr sz="2900" lang="da-DK">
                <a:solidFill>
                  <a:srgbClr val="17221A"/>
                </a:solidFill>
                <a:latin typeface="Arial"/>
              </a:rPr>
              <a:t>Tænk på hele servicen</a:t>
            </a:r>
          </a:p>
        </p:txBody>
      </p:sp>
      <p:sp>
        <p:nvSpPr>
          <p:cNvPr id="30" name="Oval 29"/>
          <p:cNvSpPr/>
          <p:nvPr/>
        </p:nvSpPr>
        <p:spPr>
          <a:xfrm>
            <a:off x="914400" y="3840480"/>
            <a:ext cx="201168" cy="201168"/>
          </a:xfrm>
          <a:prstGeom prst="ellipse">
            <a:avLst/>
          </a:prstGeom>
          <a:solidFill>
            <a:srgbClr val="A9D3B0"/>
          </a:solidFill>
          <a:ln w="12700">
            <a:solidFill>
              <a:srgbClr val="A9D3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252728" y="3840480"/>
            <a:ext cx="201168" cy="201168"/>
          </a:xfrm>
          <a:prstGeom prst="ellipse">
            <a:avLst/>
          </a:prstGeom>
          <a:solidFill>
            <a:srgbClr val="A9D3B0"/>
          </a:solidFill>
          <a:ln w="12700">
            <a:solidFill>
              <a:srgbClr val="A9D3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591056" y="3840480"/>
            <a:ext cx="201168" cy="201168"/>
          </a:xfrm>
          <a:prstGeom prst="ellipse">
            <a:avLst/>
          </a:prstGeom>
          <a:solidFill>
            <a:srgbClr val="A9D3B0"/>
          </a:solidFill>
          <a:ln w="12700">
            <a:solidFill>
              <a:srgbClr val="A9D3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929384" y="3840480"/>
            <a:ext cx="201168" cy="201168"/>
          </a:xfrm>
          <a:prstGeom prst="ellipse">
            <a:avLst/>
          </a:prstGeom>
          <a:solidFill>
            <a:srgbClr val="A9D3B0"/>
          </a:solidFill>
          <a:ln w="12700">
            <a:solidFill>
              <a:srgbClr val="A9D3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267712" y="3840480"/>
            <a:ext cx="201168" cy="201168"/>
          </a:xfrm>
          <a:prstGeom prst="ellipse">
            <a:avLst/>
          </a:prstGeom>
          <a:solidFill>
            <a:srgbClr val="A9D3B0"/>
          </a:solidFill>
          <a:ln w="12700">
            <a:solidFill>
              <a:srgbClr val="A9D3B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005840" y="3941063"/>
            <a:ext cx="1353312" cy="0"/>
          </a:xfrm>
          <a:prstGeom prst="line">
            <a:avLst/>
          </a:prstGeom>
          <a:ln w="12700">
            <a:solidFill>
              <a:srgbClr val="A9D3B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2734056" y="3941063"/>
            <a:ext cx="448056"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3291840" y="3813048"/>
            <a:ext cx="256032" cy="256032"/>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813048" y="3813048"/>
            <a:ext cx="256032" cy="256032"/>
          </a:xfrm>
          <a:prstGeom prst="ellipse">
            <a:avLst/>
          </a:prstGeom>
          <a:solidFill>
            <a:srgbClr val="2F6B3A"/>
          </a:solidFill>
          <a:ln w="127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9" name="Connector 38"/>
          <p:cNvCxnSpPr/>
          <p:nvPr/>
        </p:nvCxnSpPr>
        <p:spPr>
          <a:xfrm>
            <a:off x="3547872" y="3941063"/>
            <a:ext cx="265176"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4572000" y="3703320"/>
            <a:ext cx="6519672" cy="603504"/>
          </a:xfrm>
          <a:prstGeom prst="rect">
            <a:avLst/>
          </a:prstGeom>
          <a:noFill/>
        </p:spPr>
        <p:txBody>
          <a:bodyPr wrap="none" lIns="0" rIns="0" tIns="0" bIns="0" anchor="ctr">
            <a:noAutofit/>
          </a:bodyPr>
          <a:lstStyle/>
          <a:p>
            <a:pPr algn="l"/>
            <a:r>
              <a:rPr sz="2900" lang="da-DK">
                <a:solidFill>
                  <a:srgbClr val="17221A"/>
                </a:solidFill>
                <a:latin typeface="Arial"/>
              </a:rPr>
              <a:t>Hold det simpelt</a:t>
            </a:r>
          </a:p>
        </p:txBody>
      </p:sp>
      <p:cxnSp>
        <p:nvCxnSpPr>
          <p:cNvPr id="41" name="Connector 40"/>
          <p:cNvCxnSpPr/>
          <p:nvPr/>
        </p:nvCxnSpPr>
        <p:spPr>
          <a:xfrm>
            <a:off x="1060704" y="5588447"/>
            <a:ext cx="153619" cy="163860"/>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1214323" y="5404104"/>
            <a:ext cx="368686" cy="348203"/>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048256" y="5504688"/>
            <a:ext cx="557784"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Gear 6 43"/>
          <p:cNvSpPr/>
          <p:nvPr/>
        </p:nvSpPr>
        <p:spPr>
          <a:xfrm>
            <a:off x="2880360" y="5148072"/>
            <a:ext cx="804672" cy="804672"/>
          </a:xfrm>
          <a:prstGeom prst="gear6">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0" y="5175504"/>
            <a:ext cx="6519672" cy="603504"/>
          </a:xfrm>
          <a:prstGeom prst="rect">
            <a:avLst/>
          </a:prstGeom>
          <a:noFill/>
        </p:spPr>
        <p:txBody>
          <a:bodyPr wrap="none" lIns="0" rIns="0" tIns="0" bIns="0" anchor="ctr">
            <a:noAutofit/>
          </a:bodyPr>
          <a:lstStyle/>
          <a:p>
            <a:pPr algn="l"/>
            <a:r>
              <a:rPr sz="2900" lang="da-DK">
                <a:solidFill>
                  <a:srgbClr val="17221A"/>
                </a:solidFill>
                <a:latin typeface="Arial"/>
              </a:rPr>
              <a:t>Optimér før du automatiserer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8F8"/>
        </a:solidFill>
        <a:effectLst/>
      </p:bgPr>
    </p:bg>
    <p:spTree>
      <p:nvGrpSpPr>
        <p:cNvPr id="1" name=""/>
        <p:cNvGrpSpPr/>
        <p:nvPr/>
      </p:nvGrpSpPr>
      <p:grpSpPr/>
      <p:sp>
        <p:nvSpPr>
          <p:cNvPr id="2" name="TextBox 1"/>
          <p:cNvSpPr txBox="1"/>
          <p:nvPr/>
        </p:nvSpPr>
        <p:spPr>
          <a:xfrm>
            <a:off x="594360" y="640080"/>
            <a:ext cx="11000232" cy="685800"/>
          </a:xfrm>
          <a:prstGeom prst="rect">
            <a:avLst/>
          </a:prstGeom>
          <a:noFill/>
        </p:spPr>
        <p:txBody>
          <a:bodyPr wrap="none" lIns="0" rIns="0" tIns="0" bIns="0" anchor="ctr">
            <a:noAutofit/>
          </a:bodyPr>
          <a:lstStyle/>
          <a:p>
            <a:pPr algn="l"/>
            <a:r>
              <a:rPr sz="3600" lang="da-DK">
                <a:solidFill>
                  <a:srgbClr val="17221A"/>
                </a:solidFill>
                <a:latin typeface="Georgia"/>
              </a:rPr>
              <a:t>Green-ITs næste skridt</a:t>
            </a:r>
          </a:p>
        </p:txBody>
      </p:sp>
      <p:sp>
        <p:nvSpPr>
          <p:cNvPr id="3" name="Rounded Rectangle 2"/>
          <p:cNvSpPr/>
          <p:nvPr/>
        </p:nvSpPr>
        <p:spPr>
          <a:xfrm>
            <a:off x="594360" y="1947672"/>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245352" y="1947672"/>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4215384"/>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245352" y="4215384"/>
            <a:ext cx="5349240" cy="1920240"/>
          </a:xfrm>
          <a:prstGeom prst="roundRect">
            <a:avLst>
              <a:gd name="adj" fmla="val 10000"/>
            </a:avLst>
          </a:prstGeom>
          <a:solidFill>
            <a:srgbClr val="FFFFFF"/>
          </a:solidFill>
          <a:ln w="12700">
            <a:solidFill>
              <a:srgbClr val="DDE6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304288"/>
            <a:ext cx="740664" cy="946403"/>
          </a:xfrm>
          <a:prstGeom prst="roundRect">
            <a:avLst>
              <a:gd name="adj" fmla="val 10000"/>
            </a:avLst>
          </a:prstGeom>
          <a:solidFill>
            <a:srgbClr val="FFFFFF"/>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110996" y="2518257"/>
            <a:ext cx="485546"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110996" y="2715768"/>
            <a:ext cx="485546"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110996" y="2913278"/>
            <a:ext cx="485546"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984248" y="2551176"/>
            <a:ext cx="292608"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984248" y="3017520"/>
            <a:ext cx="292608" cy="0"/>
          </a:xfrm>
          <a:prstGeom prst="line">
            <a:avLst/>
          </a:prstGeom>
          <a:ln w="25400">
            <a:solidFill>
              <a:srgbClr val="2F6B3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14600" y="2596896"/>
            <a:ext cx="2880360" cy="594360"/>
          </a:xfrm>
          <a:prstGeom prst="rect">
            <a:avLst/>
          </a:prstGeom>
          <a:noFill/>
        </p:spPr>
        <p:txBody>
          <a:bodyPr wrap="none" lIns="0" rIns="0" tIns="0" bIns="0" anchor="ctr">
            <a:noAutofit/>
          </a:bodyPr>
          <a:lstStyle/>
          <a:p>
            <a:pPr algn="l"/>
            <a:r>
              <a:rPr sz="2500" lang="da-DK">
                <a:solidFill>
                  <a:srgbClr val="17221A"/>
                </a:solidFill>
                <a:latin typeface="Arial"/>
              </a:rPr>
              <a:t>Fælles ticketsystem</a:t>
            </a:r>
          </a:p>
        </p:txBody>
      </p:sp>
      <p:sp>
        <p:nvSpPr>
          <p:cNvPr id="14" name="Can 13"/>
          <p:cNvSpPr/>
          <p:nvPr/>
        </p:nvSpPr>
        <p:spPr>
          <a:xfrm>
            <a:off x="6638544" y="2331720"/>
            <a:ext cx="925372" cy="925372"/>
          </a:xfrm>
          <a:prstGeom prst="can">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6680606" y="2794406"/>
            <a:ext cx="841248"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680606" y="2987893"/>
            <a:ext cx="841248" cy="0"/>
          </a:xfrm>
          <a:prstGeom prst="line">
            <a:avLst/>
          </a:prstGeom>
          <a:ln w="1905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7626096" y="2331354"/>
            <a:ext cx="98755" cy="105339"/>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7724851" y="2212848"/>
            <a:ext cx="237012" cy="223845"/>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0" y="2596896"/>
            <a:ext cx="3017520" cy="594360"/>
          </a:xfrm>
          <a:prstGeom prst="rect">
            <a:avLst/>
          </a:prstGeom>
          <a:noFill/>
        </p:spPr>
        <p:txBody>
          <a:bodyPr wrap="none" lIns="0" rIns="0" tIns="0" bIns="0" anchor="ctr">
            <a:noAutofit/>
          </a:bodyPr>
          <a:lstStyle/>
          <a:p>
            <a:pPr algn="l"/>
            <a:r>
              <a:rPr sz="2600" lang="da-DK">
                <a:solidFill>
                  <a:srgbClr val="17221A"/>
                </a:solidFill>
                <a:latin typeface="Arial"/>
              </a:rPr>
              <a:t>Pålidelig CMDB</a:t>
            </a:r>
          </a:p>
        </p:txBody>
      </p:sp>
      <p:sp>
        <p:nvSpPr>
          <p:cNvPr id="20" name="Rounded Rectangle 19"/>
          <p:cNvSpPr/>
          <p:nvPr/>
        </p:nvSpPr>
        <p:spPr>
          <a:xfrm>
            <a:off x="987552" y="4553712"/>
            <a:ext cx="765352" cy="977950"/>
          </a:xfrm>
          <a:prstGeom prst="roundRect">
            <a:avLst>
              <a:gd name="adj" fmla="val 10000"/>
            </a:avLst>
          </a:prstGeom>
          <a:solidFill>
            <a:srgbClr val="FFFFFF"/>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1115110" y="4774813"/>
            <a:ext cx="501732"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115110" y="4978908"/>
            <a:ext cx="501732"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115110" y="5183002"/>
            <a:ext cx="501732" cy="0"/>
          </a:xfrm>
          <a:prstGeom prst="line">
            <a:avLst/>
          </a:prstGeom>
          <a:ln w="254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280160" y="5505236"/>
            <a:ext cx="91897" cy="98024"/>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1372057" y="5394960"/>
            <a:ext cx="220553" cy="208300"/>
          </a:xfrm>
          <a:prstGeom prst="line">
            <a:avLst/>
          </a:prstGeom>
          <a:ln w="38100">
            <a:solidFill>
              <a:srgbClr val="2F6B3A"/>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514600" y="4855464"/>
            <a:ext cx="2880360" cy="594360"/>
          </a:xfrm>
          <a:prstGeom prst="rect">
            <a:avLst/>
          </a:prstGeom>
          <a:noFill/>
        </p:spPr>
        <p:txBody>
          <a:bodyPr wrap="none" lIns="0" rIns="0" tIns="0" bIns="0" anchor="ctr">
            <a:noAutofit/>
          </a:bodyPr>
          <a:lstStyle/>
          <a:p>
            <a:pPr algn="l"/>
            <a:r>
              <a:rPr sz="2600" lang="da-DK">
                <a:solidFill>
                  <a:srgbClr val="17221A"/>
                </a:solidFill>
                <a:latin typeface="Arial"/>
              </a:rPr>
              <a:t>Klare SLA'er</a:t>
            </a:r>
          </a:p>
        </p:txBody>
      </p:sp>
      <p:sp>
        <p:nvSpPr>
          <p:cNvPr id="27" name="Rounded Rectangle 26"/>
          <p:cNvSpPr/>
          <p:nvPr/>
        </p:nvSpPr>
        <p:spPr>
          <a:xfrm>
            <a:off x="6629400" y="4562856"/>
            <a:ext cx="738378" cy="932688"/>
          </a:xfrm>
          <a:prstGeom prst="roundRect">
            <a:avLst>
              <a:gd name="adj" fmla="val 10000"/>
            </a:avLst>
          </a:prstGeom>
          <a:solidFill>
            <a:srgbClr val="E8F4E9"/>
          </a:solidFill>
          <a:ln w="25400">
            <a:solidFill>
              <a:srgbClr val="2F6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769303" y="4718304"/>
            <a:ext cx="132130" cy="132130"/>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033564" y="4718304"/>
            <a:ext cx="132130" cy="132130"/>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769303" y="4959248"/>
            <a:ext cx="132130" cy="132130"/>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033564" y="4959248"/>
            <a:ext cx="132130" cy="132130"/>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932523" y="5239054"/>
            <a:ext cx="132130" cy="256489"/>
          </a:xfrm>
          <a:prstGeom prst="rect">
            <a:avLst/>
          </a:prstGeom>
          <a:solidFill>
            <a:srgbClr val="2F6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3" name="Connector 32"/>
          <p:cNvCxnSpPr/>
          <p:nvPr/>
        </p:nvCxnSpPr>
        <p:spPr>
          <a:xfrm>
            <a:off x="7516368" y="5029200"/>
            <a:ext cx="347472" cy="0"/>
          </a:xfrm>
          <a:prstGeom prst="line">
            <a:avLst/>
          </a:prstGeom>
          <a:ln w="25400">
            <a:solidFill>
              <a:srgbClr val="526066"/>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7900416" y="4791456"/>
            <a:ext cx="364845" cy="460857"/>
          </a:xfrm>
          <a:prstGeom prst="roundRect">
            <a:avLst>
              <a:gd name="adj" fmla="val 10000"/>
            </a:avLst>
          </a:prstGeom>
          <a:solidFill>
            <a:srgbClr val="F5F8F8"/>
          </a:solidFill>
          <a:ln w="25400">
            <a:solidFill>
              <a:srgbClr val="5260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969544" y="4868265"/>
            <a:ext cx="65288" cy="65288"/>
          </a:xfrm>
          <a:prstGeom prst="rect">
            <a:avLst/>
          </a:prstGeom>
          <a:solidFill>
            <a:srgbClr val="526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8100120" y="4868265"/>
            <a:ext cx="65288" cy="65288"/>
          </a:xfrm>
          <a:prstGeom prst="rect">
            <a:avLst/>
          </a:prstGeom>
          <a:solidFill>
            <a:srgbClr val="526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969544" y="4987320"/>
            <a:ext cx="65288" cy="65288"/>
          </a:xfrm>
          <a:prstGeom prst="rect">
            <a:avLst/>
          </a:prstGeom>
          <a:solidFill>
            <a:srgbClr val="526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100120" y="4987320"/>
            <a:ext cx="65288" cy="65288"/>
          </a:xfrm>
          <a:prstGeom prst="rect">
            <a:avLst/>
          </a:prstGeom>
          <a:solidFill>
            <a:srgbClr val="526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050194" y="5125577"/>
            <a:ext cx="65288" cy="126735"/>
          </a:xfrm>
          <a:prstGeom prst="rect">
            <a:avLst/>
          </a:prstGeom>
          <a:solidFill>
            <a:srgbClr val="5260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485632" y="4855464"/>
            <a:ext cx="2788920" cy="594360"/>
          </a:xfrm>
          <a:prstGeom prst="rect">
            <a:avLst/>
          </a:prstGeom>
          <a:noFill/>
        </p:spPr>
        <p:txBody>
          <a:bodyPr wrap="none" lIns="0" rIns="0" tIns="0" bIns="0" anchor="ctr">
            <a:noAutofit/>
          </a:bodyPr>
          <a:lstStyle/>
          <a:p>
            <a:pPr algn="l"/>
            <a:r>
              <a:rPr sz="2400" lang="da-DK">
                <a:solidFill>
                  <a:srgbClr val="17221A"/>
                </a:solidFill>
                <a:latin typeface="Arial"/>
              </a:rPr>
              <a:t>Ét kontor ad gangen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Green-IT, Hans Petur</dc:title>
  <dc:subject>PptxGenJS Presentation</dc:subject>
  <dc:creator>Hans Petur vid Streym Hansen</dc:creator>
  <cp:lastModifiedBy>Hans Petur vid Streym Hansen</cp:lastModifiedBy>
  <cp:revision>1</cp:revision>
  <dcterms:created xsi:type="dcterms:W3CDTF">2026-10-08T17:48:02Z</dcterms:created>
  <dcterms:modified xsi:type="dcterms:W3CDTF">2026-10-08T17:48:02Z</dcterms:modified>
</cp:coreProperties>
</file>