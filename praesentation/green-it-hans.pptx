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Jeg har opgave 3, 4 og 5. Først Service Value Chain. Så incident og problem management. Og til sidst de fire dimensioner.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hvad er Service Value Chain? Det er de seks aktiviteter, der omdanner efterspørgsel og muligheder til værdi. Plan. Improve. Engage. Design og transition. Obtain og build. Deliver og support.
 Aktiviteterne er ikke afdelinger. Engage sker fx både i salg og på de nye kontorer. Vi foreslår, at hver aktivitet får én ansvarlig. Så ryger der ikke opgaver ned mellem byen, fabrikken og Jylland.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Eksemplet i opgaven er en svineproducent, der vil have staldovervågning. Sælgeren finder ud af, hvad landmanden skal bruge. Det er engage. R&amp;D tilpasser løsningen. Det er design og transition. Fabrikken laver sensorerne. Det er obtain og build. Løsningen testes og overdrages til drift. Det er design og transition igen. Værkstedet installerer. Det er deliver og support. Efter en måned følger sælgeren op. Det er engage igen. Det, vi lærer, gør det hurtigere næste gang. Det er improve.
 Pointen er, at det ikke er et samlebånd. Man bruger aktiviteterne efter behov. Engage og design bruges to gange. Plan bruges slet ikke. En sensorfejl kan gå direkte fra engage til deliver og support.
 Og hver aktivitet bidrager. Engage er der, hvor vi skaber værdien sammen med landmanden. Design og transition tester, før noget kommer i drift. Det beskytter den stabile drift. Deliver og support er der, hvor kunden mærker værdien hver dag. Og improve gør fejl til forbedringer.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kommer vi til opgave 4. Incident management. En incident er en uplanlagt afbrydelse eller forringelse af en service. Altså når noget går ned eller virker dårligere. Formålet er at få det op at køre igen. Hurtigst muligt. Incident management finder ikke årsagen. Det gør problem management.
 Processen har fem trin. Registrer. Prioriter. Diagnosticer. Eskaler. Og løs og luk. Prioriteten sættes ud fra, hvor slemt det er, og hvor meget det haster. Den bestemmer, hvor hurtigt det skal løses. Det står i SLA'en. Eskalering betyder, at sagen går videre. L1 er servicedesken. L2 er specialisterne. L3 er udviklerne i R&amp;D. Landmanden ringer kun ét sted hen. Til servicedesken. Og med et fælles ticketsystem kan alle tre steder se de samme sager.
 Eksemplet er en kvægstald en sommernat. Sensorerne holder op med at sende data. Det er prioritet 1. L2 finder fejlen i gatewayen. Altså boksen, der sender data videre. En tekniker kører ud med en ny. Imens tjekker landmanden selv dyrene. Det er workarounden. En midlertidig løsning. Hvis det rammer mange stalde, er det en major incident. Så får den sin egen leder.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har vi problem management. Et problem er årsagen, eller den mulige årsag, til en eller flere incidents. Problem management finder årsagen. Så det ikke sker igen.
 Der er tre faser. Først problem identification. Vi finder problemer i incidents, der kommer igen. Efter en major incident. Eller før, fx fra R&amp;D's tests. Så problem control. Vi finder root cause, altså grundårsagen. Og vi laver en workaround. Når vi kender årsagen, men ikke har løst den, hedder det en known error. Til sidst error control. Den rigtige løsning skal igennem change control, før den kommer ud.
 Eksemplet er en firmwareopdatering. Bagefter mister sensorerne på dyr på friland forbindelsen om natten. Det sker hos 15 kunder. Servicedesken genstarter gatewayen. Men de ser mønstret og opretter et problem. R&amp;D finder årsagen. Firmwaren går i strømsparetilstand og vågner ikke ved svagt signal. Workarounden er at slå strømspar fra. Fejlen bliver en known error, så alle bruger samme workaround. Og den rettede firmware kommer ud via change control.
 Så hvordan hænger de sammen? Incident management får servicen op igen. Problem management fjerner årsagen. En incident kan lukkes, selvom problemet stadig er åbent. Og når servicedesken kender en known error, løser de den næste incident hurtigere.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kommer vi til de fire dimensioner. En service skal ses fra fire sider. Hvis man glemmer én, går det galt. Og så er der ting udefra, som påvirker dem alle. Det hedder PESTLE. Fx GDPR, NIS2 og krav om bæredygtighed.
 Først organisationer og mennesker. R&amp;D sidder i byen. Salg sidder på fabrikken. Så kan der nemt komme en os og dem-kultur. Green-IT skal have klare roller. Og man skal turde sige det, når noget går galt. Gerne tidligt.
 Så information og teknologi. Sensordata er kernen. Landmanden ejer sine data, og persondata er omfattet af GDPR. Og teknologien skal kunne vokse med de nye kontorer.
 Så partnere og leverandører. Det er fx hosting, sensorleverandører og teleselskaber. Når de er nede, er Green-IT også nede. Så de vigtige dele skal have failover. Altså en backup, der tager over.
 Og til sidst værdistrømme og processer. Værdistrømmen går på tværs af fabrikken og byen. Sagerne ligger og venter, når de skal fra det ene sted til det andet. Faste processer gør, at alle steder arbejder på samme måde.
Og det var så min del. Og så vil jeg give ordet videre til Patrick.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A"/>
        </a:solidFill>
      </p:bgPr>
    </p:bg>
    <p:spTree>
      <p:nvGrpSpPr>
        <p:cNvPr id="1" name=""/>
        <p:cNvGrpSpPr/>
        <p:nvPr/>
      </p:nvGrpSpPr>
      <p:grpSpPr>
        <a:xfrm>
          <a:off x="0" y="0"/>
          <a:ext cx="0" cy="0"/>
          <a:chOff x="0" y="0"/>
          <a:chExt cx="0" cy="0"/>
        </a:xfrm>
      </p:grpSpPr>
      <p:sp>
        <p:nvSpPr>
          <p:cNvPr id="3" name="Text 0"/>
          <p:cNvSpPr txBox="1"/>
          <p:nvPr/>
        </p:nvSpPr>
        <p:spPr>
          <a:xfrm>
            <a:off x="685800" y="1188720"/>
            <a:ext cx="6400800" cy="274320"/>
          </a:xfrm>
          <a:prstGeom prst="rect">
            <a:avLst/>
          </a:prstGeom>
          <a:noFill/>
          <a:ln/>
        </p:spPr>
        <p:txBody>
          <a:bodyPr wrap="square" lIns="0" tIns="0" rIns="0" bIns="0" rtlCol="0" anchor="t"/>
          <a:lstStyle/>
          <a:p>
            <a:pPr indent="0" marL="0">
              <a:buNone/>
            </a:pPr>
            <a:r>
              <a:rPr lang="en-US" sz="1200" b="1" spc="200" kern="0" dirty="0">
                <a:solidFill>
                  <a:srgbClr val="A9D3B0"/>
                </a:solidFill>
                <a:latin typeface="Courier New" pitchFamily="34" charset="0"/>
                <a:ea typeface="Courier New" pitchFamily="34" charset="-122"/>
                <a:cs typeface="Courier New" pitchFamily="34" charset="-120"/>
              </a:rPr>
              <a:t>ITSM 1  ·  GREEN-IT CASE</a:t>
            </a:r>
            <a:endParaRPr lang="en-US" sz="1200" dirty="0"/>
          </a:p>
        </p:txBody>
      </p:sp>
      <p:sp>
        <p:nvSpPr>
          <p:cNvPr id="4" name="Text 1"/>
          <p:cNvSpPr txBox="1"/>
          <p:nvPr/>
        </p:nvSpPr>
        <p:spPr>
          <a:xfrm>
            <a:off x="685800" y="1600200"/>
            <a:ext cx="7315200" cy="1645920"/>
          </a:xfrm>
          <a:prstGeom prst="rect">
            <a:avLst/>
          </a:prstGeom>
          <a:noFill/>
          <a:ln/>
        </p:spPr>
        <p:txBody>
          <a:bodyPr wrap="square" lIns="0" tIns="0" rIns="0" bIns="0" rtlCol="0" anchor="t"/>
          <a:lstStyle/>
          <a:p>
            <a:pPr indent="0" marL="0">
              <a:buNone/>
            </a:pPr>
            <a:r>
              <a:rPr lang="en-US" sz="4400" dirty="0">
                <a:solidFill>
                  <a:srgbClr val="F5F8F8"/>
                </a:solidFill>
                <a:latin typeface="Georgia" pitchFamily="34" charset="0"/>
                <a:ea typeface="Georgia" pitchFamily="34" charset="-122"/>
                <a:cs typeface="Georgia" pitchFamily="34" charset="-120"/>
              </a:rPr>
              <a:t>Value chain, incidents og dimensioner</a:t>
            </a:r>
            <a:endParaRPr lang="en-US" sz="4400" dirty="0"/>
          </a:p>
        </p:txBody>
      </p:sp>
      <p:sp>
        <p:nvSpPr>
          <p:cNvPr id="5" name="Text 2"/>
          <p:cNvSpPr txBox="1"/>
          <p:nvPr/>
        </p:nvSpPr>
        <p:spPr>
          <a:xfrm>
            <a:off x="685800" y="5120640"/>
            <a:ext cx="6400800" cy="365760"/>
          </a:xfrm>
          <a:prstGeom prst="rect">
            <a:avLst/>
          </a:prstGeom>
          <a:noFill/>
          <a:ln/>
        </p:spPr>
        <p:txBody>
          <a:bodyPr wrap="square" lIns="0" tIns="0" rIns="0" bIns="0" rtlCol="0" anchor="t"/>
          <a:lstStyle/>
          <a:p>
            <a:pPr indent="0" marL="0">
              <a:buNone/>
            </a:pPr>
            <a:r>
              <a:rPr lang="en-US" sz="1800" dirty="0">
                <a:solidFill>
                  <a:srgbClr val="A9D3B0"/>
                </a:solidFill>
                <a:latin typeface="Arial" pitchFamily="34" charset="0"/>
                <a:ea typeface="Arial" pitchFamily="34" charset="-122"/>
                <a:cs typeface="Arial" pitchFamily="34" charset="-120"/>
              </a:rPr>
              <a:t>Hans Petur</a:t>
            </a:r>
            <a:endParaRPr lang="en-US" sz="1800" dirty="0"/>
          </a:p>
        </p:txBody>
      </p:sp>
      <p:sp>
        <p:nvSpPr>
          <p:cNvPr id="6" name="Shape 3"/>
          <p:cNvSpPr/>
          <p:nvPr/>
        </p:nvSpPr>
        <p:spPr>
          <a:xfrm>
            <a:off x="8412480" y="1371600"/>
            <a:ext cx="640080" cy="640080"/>
          </a:xfrm>
          <a:prstGeom prst="ellipse">
            <a:avLst/>
          </a:prstGeom>
          <a:solidFill>
            <a:srgbClr val="22302A"/>
          </a:solidFill>
          <a:ln w="12700">
            <a:solidFill>
              <a:srgbClr val="22302A"/>
            </a:solidFill>
            <a:prstDash val="solid"/>
          </a:ln>
        </p:spPr>
      </p:sp>
      <p:pic>
        <p:nvPicPr>
          <p:cNvPr id="7" name="Image 0" descr="preencoded.png">    </p:cNvPr>
          <p:cNvPicPr>
            <a:picLocks noChangeAspect="1"/>
          </p:cNvPicPr>
          <p:nvPr/>
        </p:nvPicPr>
        <p:blipFill>
          <a:blip r:embed="rId1"/>
          <a:stretch>
            <a:fillRect/>
          </a:stretch>
        </p:blipFill>
        <p:spPr>
          <a:xfrm>
            <a:off x="8566099" y="1525219"/>
            <a:ext cx="332842" cy="332842"/>
          </a:xfrm>
          <a:prstGeom prst="rect">
            <a:avLst/>
          </a:prstGeom>
        </p:spPr>
      </p:pic>
      <p:sp>
        <p:nvSpPr>
          <p:cNvPr id="8" name="Text 4"/>
          <p:cNvSpPr txBox="1"/>
          <p:nvPr/>
        </p:nvSpPr>
        <p:spPr>
          <a:xfrm>
            <a:off x="9235440" y="137160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3</a:t>
            </a:r>
            <a:endParaRPr lang="en-US" sz="1100" dirty="0"/>
          </a:p>
        </p:txBody>
      </p:sp>
      <p:sp>
        <p:nvSpPr>
          <p:cNvPr id="9" name="Text 5"/>
          <p:cNvSpPr txBox="1"/>
          <p:nvPr/>
        </p:nvSpPr>
        <p:spPr>
          <a:xfrm>
            <a:off x="9235440" y="164592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Service Value Chain</a:t>
            </a:r>
            <a:endParaRPr lang="en-US" sz="1700" dirty="0"/>
          </a:p>
        </p:txBody>
      </p:sp>
      <p:sp>
        <p:nvSpPr>
          <p:cNvPr id="10" name="Shape 6"/>
          <p:cNvSpPr/>
          <p:nvPr/>
        </p:nvSpPr>
        <p:spPr>
          <a:xfrm>
            <a:off x="8412480" y="2377440"/>
            <a:ext cx="640080" cy="640080"/>
          </a:xfrm>
          <a:prstGeom prst="ellipse">
            <a:avLst/>
          </a:prstGeom>
          <a:solidFill>
            <a:srgbClr val="22302A"/>
          </a:solidFill>
          <a:ln w="12700">
            <a:solidFill>
              <a:srgbClr val="22302A"/>
            </a:solidFill>
            <a:prstDash val="solid"/>
          </a:ln>
        </p:spPr>
      </p:sp>
      <p:pic>
        <p:nvPicPr>
          <p:cNvPr id="11" name="Image 1" descr="preencoded.png">    </p:cNvPr>
          <p:cNvPicPr>
            <a:picLocks noChangeAspect="1"/>
          </p:cNvPicPr>
          <p:nvPr/>
        </p:nvPicPr>
        <p:blipFill>
          <a:blip r:embed="rId2"/>
          <a:stretch>
            <a:fillRect/>
          </a:stretch>
        </p:blipFill>
        <p:spPr>
          <a:xfrm>
            <a:off x="8566099" y="2531059"/>
            <a:ext cx="332842" cy="332842"/>
          </a:xfrm>
          <a:prstGeom prst="rect">
            <a:avLst/>
          </a:prstGeom>
        </p:spPr>
      </p:pic>
      <p:sp>
        <p:nvSpPr>
          <p:cNvPr id="12" name="Text 7"/>
          <p:cNvSpPr txBox="1"/>
          <p:nvPr/>
        </p:nvSpPr>
        <p:spPr>
          <a:xfrm>
            <a:off x="9235440" y="237744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3" name="Text 8"/>
          <p:cNvSpPr txBox="1"/>
          <p:nvPr/>
        </p:nvSpPr>
        <p:spPr>
          <a:xfrm>
            <a:off x="9235440" y="265176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Incident management</a:t>
            </a:r>
            <a:endParaRPr lang="en-US" sz="1700" dirty="0"/>
          </a:p>
        </p:txBody>
      </p:sp>
      <p:sp>
        <p:nvSpPr>
          <p:cNvPr id="14" name="Shape 9"/>
          <p:cNvSpPr/>
          <p:nvPr/>
        </p:nvSpPr>
        <p:spPr>
          <a:xfrm>
            <a:off x="8412480" y="3383280"/>
            <a:ext cx="640080" cy="640080"/>
          </a:xfrm>
          <a:prstGeom prst="ellipse">
            <a:avLst/>
          </a:prstGeom>
          <a:solidFill>
            <a:srgbClr val="22302A"/>
          </a:solidFill>
          <a:ln w="12700">
            <a:solidFill>
              <a:srgbClr val="22302A"/>
            </a:solidFill>
            <a:prstDash val="solid"/>
          </a:ln>
        </p:spPr>
      </p:sp>
      <p:pic>
        <p:nvPicPr>
          <p:cNvPr id="15" name="Image 2" descr="preencoded.png">    </p:cNvPr>
          <p:cNvPicPr>
            <a:picLocks noChangeAspect="1"/>
          </p:cNvPicPr>
          <p:nvPr/>
        </p:nvPicPr>
        <p:blipFill>
          <a:blip r:embed="rId3"/>
          <a:stretch>
            <a:fillRect/>
          </a:stretch>
        </p:blipFill>
        <p:spPr>
          <a:xfrm>
            <a:off x="8566099" y="3536899"/>
            <a:ext cx="332842" cy="332842"/>
          </a:xfrm>
          <a:prstGeom prst="rect">
            <a:avLst/>
          </a:prstGeom>
        </p:spPr>
      </p:pic>
      <p:sp>
        <p:nvSpPr>
          <p:cNvPr id="16" name="Text 10"/>
          <p:cNvSpPr txBox="1"/>
          <p:nvPr/>
        </p:nvSpPr>
        <p:spPr>
          <a:xfrm>
            <a:off x="9235440" y="338328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7" name="Text 11"/>
          <p:cNvSpPr txBox="1"/>
          <p:nvPr/>
        </p:nvSpPr>
        <p:spPr>
          <a:xfrm>
            <a:off x="9235440" y="365760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Problem management</a:t>
            </a:r>
            <a:endParaRPr lang="en-US" sz="1700" dirty="0"/>
          </a:p>
        </p:txBody>
      </p:sp>
      <p:sp>
        <p:nvSpPr>
          <p:cNvPr id="18" name="Shape 12"/>
          <p:cNvSpPr/>
          <p:nvPr/>
        </p:nvSpPr>
        <p:spPr>
          <a:xfrm>
            <a:off x="8412480" y="4389120"/>
            <a:ext cx="640080" cy="640080"/>
          </a:xfrm>
          <a:prstGeom prst="ellipse">
            <a:avLst/>
          </a:prstGeom>
          <a:solidFill>
            <a:srgbClr val="22302A"/>
          </a:solidFill>
          <a:ln w="12700">
            <a:solidFill>
              <a:srgbClr val="22302A"/>
            </a:solidFill>
            <a:prstDash val="solid"/>
          </a:ln>
        </p:spPr>
      </p:sp>
      <p:pic>
        <p:nvPicPr>
          <p:cNvPr id="19" name="Image 3" descr="preencoded.png">    </p:cNvPr>
          <p:cNvPicPr>
            <a:picLocks noChangeAspect="1"/>
          </p:cNvPicPr>
          <p:nvPr/>
        </p:nvPicPr>
        <p:blipFill>
          <a:blip r:embed="rId4"/>
          <a:stretch>
            <a:fillRect/>
          </a:stretch>
        </p:blipFill>
        <p:spPr>
          <a:xfrm>
            <a:off x="8566099" y="4542739"/>
            <a:ext cx="332842" cy="332842"/>
          </a:xfrm>
          <a:prstGeom prst="rect">
            <a:avLst/>
          </a:prstGeom>
        </p:spPr>
      </p:pic>
      <p:sp>
        <p:nvSpPr>
          <p:cNvPr id="20" name="Text 13"/>
          <p:cNvSpPr txBox="1"/>
          <p:nvPr/>
        </p:nvSpPr>
        <p:spPr>
          <a:xfrm>
            <a:off x="9235440" y="438912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5</a:t>
            </a:r>
            <a:endParaRPr lang="en-US" sz="1100" dirty="0"/>
          </a:p>
        </p:txBody>
      </p:sp>
      <p:sp>
        <p:nvSpPr>
          <p:cNvPr id="21" name="Text 14"/>
          <p:cNvSpPr txBox="1"/>
          <p:nvPr/>
        </p:nvSpPr>
        <p:spPr>
          <a:xfrm>
            <a:off x="9235440" y="466344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De fire dimensioner</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Service Value Chain</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2</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2000" i="1" dirty="0">
                <a:solidFill>
                  <a:srgbClr val="2F6B3A"/>
                </a:solidFill>
                <a:latin typeface="Georgia" pitchFamily="34" charset="0"/>
                <a:ea typeface="Georgia" pitchFamily="34" charset="-122"/>
                <a:cs typeface="Georgia" pitchFamily="34" charset="-120"/>
              </a:rPr>
              <a:t>6 aktiviteter, der omdanner efterspørgsel og muligheder til værdi</a:t>
            </a:r>
            <a:endParaRPr lang="en-US" sz="2000" dirty="0"/>
          </a:p>
        </p:txBody>
      </p:sp>
      <p:sp>
        <p:nvSpPr>
          <p:cNvPr id="8" name="Shape 5"/>
          <p:cNvSpPr/>
          <p:nvPr/>
        </p:nvSpPr>
        <p:spPr>
          <a:xfrm>
            <a:off x="548640" y="2057400"/>
            <a:ext cx="3515258" cy="1463040"/>
          </a:xfrm>
          <a:prstGeom prst="roundRect">
            <a:avLst>
              <a:gd name="adj" fmla="val 7500"/>
            </a:avLst>
          </a:prstGeom>
          <a:solidFill>
            <a:srgbClr val="FCFDFD"/>
          </a:solidFill>
          <a:ln w="9525">
            <a:solidFill>
              <a:srgbClr val="DDE4E6"/>
            </a:solidFill>
            <a:prstDash val="solid"/>
          </a:ln>
        </p:spPr>
      </p:sp>
      <p:sp>
        <p:nvSpPr>
          <p:cNvPr id="9" name="Shape 6"/>
          <p:cNvSpPr/>
          <p:nvPr/>
        </p:nvSpPr>
        <p:spPr>
          <a:xfrm>
            <a:off x="777240" y="2286000"/>
            <a:ext cx="411480" cy="411480"/>
          </a:xfrm>
          <a:prstGeom prst="ellipse">
            <a:avLst/>
          </a:prstGeom>
          <a:solidFill>
            <a:srgbClr val="2F6B3A"/>
          </a:solidFill>
          <a:ln w="12700">
            <a:solidFill>
              <a:srgbClr val="2F6B3A"/>
            </a:solidFill>
            <a:prstDash val="solid"/>
          </a:ln>
        </p:spPr>
      </p:sp>
      <p:sp>
        <p:nvSpPr>
          <p:cNvPr id="10" name="Text 7"/>
          <p:cNvSpPr txBox="1"/>
          <p:nvPr/>
        </p:nvSpPr>
        <p:spPr>
          <a:xfrm>
            <a:off x="777240"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1" name="Text 8"/>
          <p:cNvSpPr txBox="1"/>
          <p:nvPr/>
        </p:nvSpPr>
        <p:spPr>
          <a:xfrm>
            <a:off x="1325880"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Plan</a:t>
            </a:r>
            <a:endParaRPr lang="en-US" sz="1700" dirty="0"/>
          </a:p>
        </p:txBody>
      </p:sp>
      <p:sp>
        <p:nvSpPr>
          <p:cNvPr id="12" name="Text 9"/>
          <p:cNvSpPr txBox="1"/>
          <p:nvPr/>
        </p:nvSpPr>
        <p:spPr>
          <a:xfrm>
            <a:off x="777240"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Ledelsen: hvilke byer får kontor først</a:t>
            </a:r>
            <a:endParaRPr lang="en-US" sz="1400" dirty="0"/>
          </a:p>
        </p:txBody>
      </p:sp>
      <p:sp>
        <p:nvSpPr>
          <p:cNvPr id="13" name="Shape 10"/>
          <p:cNvSpPr/>
          <p:nvPr/>
        </p:nvSpPr>
        <p:spPr>
          <a:xfrm>
            <a:off x="4338218" y="2057400"/>
            <a:ext cx="3515258" cy="1463040"/>
          </a:xfrm>
          <a:prstGeom prst="roundRect">
            <a:avLst>
              <a:gd name="adj" fmla="val 7500"/>
            </a:avLst>
          </a:prstGeom>
          <a:solidFill>
            <a:srgbClr val="FCFDFD"/>
          </a:solidFill>
          <a:ln w="9525">
            <a:solidFill>
              <a:srgbClr val="DDE4E6"/>
            </a:solidFill>
            <a:prstDash val="solid"/>
          </a:ln>
        </p:spPr>
      </p:sp>
      <p:sp>
        <p:nvSpPr>
          <p:cNvPr id="14" name="Shape 11"/>
          <p:cNvSpPr/>
          <p:nvPr/>
        </p:nvSpPr>
        <p:spPr>
          <a:xfrm>
            <a:off x="4566818" y="2286000"/>
            <a:ext cx="411480" cy="411480"/>
          </a:xfrm>
          <a:prstGeom prst="ellipse">
            <a:avLst/>
          </a:prstGeom>
          <a:solidFill>
            <a:srgbClr val="2F6B3A"/>
          </a:solidFill>
          <a:ln w="12700">
            <a:solidFill>
              <a:srgbClr val="2F6B3A"/>
            </a:solidFill>
            <a:prstDash val="solid"/>
          </a:ln>
        </p:spPr>
      </p:sp>
      <p:sp>
        <p:nvSpPr>
          <p:cNvPr id="15" name="Text 12"/>
          <p:cNvSpPr txBox="1"/>
          <p:nvPr/>
        </p:nvSpPr>
        <p:spPr>
          <a:xfrm>
            <a:off x="4566818"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5115458"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Improve</a:t>
            </a:r>
            <a:endParaRPr lang="en-US" sz="1700" dirty="0"/>
          </a:p>
        </p:txBody>
      </p:sp>
      <p:sp>
        <p:nvSpPr>
          <p:cNvPr id="17" name="Text 14"/>
          <p:cNvSpPr txBox="1"/>
          <p:nvPr/>
        </p:nvSpPr>
        <p:spPr>
          <a:xfrm>
            <a:off x="4566818"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Gør det bedre, fx færre falske alarmer</a:t>
            </a:r>
            <a:endParaRPr lang="en-US" sz="1400" dirty="0"/>
          </a:p>
        </p:txBody>
      </p:sp>
      <p:sp>
        <p:nvSpPr>
          <p:cNvPr id="18" name="Shape 15"/>
          <p:cNvSpPr/>
          <p:nvPr/>
        </p:nvSpPr>
        <p:spPr>
          <a:xfrm>
            <a:off x="8127797" y="2057400"/>
            <a:ext cx="3515258" cy="1463040"/>
          </a:xfrm>
          <a:prstGeom prst="roundRect">
            <a:avLst>
              <a:gd name="adj" fmla="val 7500"/>
            </a:avLst>
          </a:prstGeom>
          <a:solidFill>
            <a:srgbClr val="FCFDFD"/>
          </a:solidFill>
          <a:ln w="9525">
            <a:solidFill>
              <a:srgbClr val="DDE4E6"/>
            </a:solidFill>
            <a:prstDash val="solid"/>
          </a:ln>
        </p:spPr>
      </p:sp>
      <p:sp>
        <p:nvSpPr>
          <p:cNvPr id="19" name="Shape 16"/>
          <p:cNvSpPr/>
          <p:nvPr/>
        </p:nvSpPr>
        <p:spPr>
          <a:xfrm>
            <a:off x="8356397" y="2286000"/>
            <a:ext cx="411480" cy="411480"/>
          </a:xfrm>
          <a:prstGeom prst="ellipse">
            <a:avLst/>
          </a:prstGeom>
          <a:solidFill>
            <a:srgbClr val="2F6B3A"/>
          </a:solidFill>
          <a:ln w="12700">
            <a:solidFill>
              <a:srgbClr val="2F6B3A"/>
            </a:solidFill>
            <a:prstDash val="solid"/>
          </a:ln>
        </p:spPr>
      </p:sp>
      <p:sp>
        <p:nvSpPr>
          <p:cNvPr id="20" name="Text 17"/>
          <p:cNvSpPr txBox="1"/>
          <p:nvPr/>
        </p:nvSpPr>
        <p:spPr>
          <a:xfrm>
            <a:off x="8356397"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ext 18"/>
          <p:cNvSpPr txBox="1"/>
          <p:nvPr/>
        </p:nvSpPr>
        <p:spPr>
          <a:xfrm>
            <a:off x="8905037"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Engage</a:t>
            </a:r>
            <a:endParaRPr lang="en-US" sz="1700" dirty="0"/>
          </a:p>
        </p:txBody>
      </p:sp>
      <p:sp>
        <p:nvSpPr>
          <p:cNvPr id="22" name="Text 19"/>
          <p:cNvSpPr txBox="1"/>
          <p:nvPr/>
        </p:nvSpPr>
        <p:spPr>
          <a:xfrm>
            <a:off x="8356397"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Sker både i salg og på de nye kontorer</a:t>
            </a:r>
            <a:endParaRPr lang="en-US" sz="1400" dirty="0"/>
          </a:p>
        </p:txBody>
      </p:sp>
      <p:sp>
        <p:nvSpPr>
          <p:cNvPr id="23" name="Shape 20"/>
          <p:cNvSpPr/>
          <p:nvPr/>
        </p:nvSpPr>
        <p:spPr>
          <a:xfrm>
            <a:off x="548640" y="3749040"/>
            <a:ext cx="3515258" cy="1463040"/>
          </a:xfrm>
          <a:prstGeom prst="roundRect">
            <a:avLst>
              <a:gd name="adj" fmla="val 7500"/>
            </a:avLst>
          </a:prstGeom>
          <a:solidFill>
            <a:srgbClr val="FCFDFD"/>
          </a:solidFill>
          <a:ln w="9525">
            <a:solidFill>
              <a:srgbClr val="DDE4E6"/>
            </a:solidFill>
            <a:prstDash val="solid"/>
          </a:ln>
        </p:spPr>
      </p:sp>
      <p:sp>
        <p:nvSpPr>
          <p:cNvPr id="24" name="Shape 21"/>
          <p:cNvSpPr/>
          <p:nvPr/>
        </p:nvSpPr>
        <p:spPr>
          <a:xfrm>
            <a:off x="777240" y="3977640"/>
            <a:ext cx="411480" cy="411480"/>
          </a:xfrm>
          <a:prstGeom prst="ellipse">
            <a:avLst/>
          </a:prstGeom>
          <a:solidFill>
            <a:srgbClr val="2F6B3A"/>
          </a:solidFill>
          <a:ln w="12700">
            <a:solidFill>
              <a:srgbClr val="2F6B3A"/>
            </a:solidFill>
            <a:prstDash val="solid"/>
          </a:ln>
        </p:spPr>
      </p:sp>
      <p:sp>
        <p:nvSpPr>
          <p:cNvPr id="25" name="Text 22"/>
          <p:cNvSpPr txBox="1"/>
          <p:nvPr/>
        </p:nvSpPr>
        <p:spPr>
          <a:xfrm>
            <a:off x="777240"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ext 23"/>
          <p:cNvSpPr txBox="1"/>
          <p:nvPr/>
        </p:nvSpPr>
        <p:spPr>
          <a:xfrm>
            <a:off x="1325880"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Design &amp; transition</a:t>
            </a:r>
            <a:endParaRPr lang="en-US" sz="1700" dirty="0"/>
          </a:p>
        </p:txBody>
      </p:sp>
      <p:sp>
        <p:nvSpPr>
          <p:cNvPr id="27" name="Text 24"/>
          <p:cNvSpPr txBox="1"/>
          <p:nvPr/>
        </p:nvSpPr>
        <p:spPr>
          <a:xfrm>
            <a:off x="777240"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R&amp;D designer, tester og overdrager til drift</a:t>
            </a:r>
            <a:endParaRPr lang="en-US" sz="1400" dirty="0"/>
          </a:p>
        </p:txBody>
      </p:sp>
      <p:sp>
        <p:nvSpPr>
          <p:cNvPr id="28" name="Shape 25"/>
          <p:cNvSpPr/>
          <p:nvPr/>
        </p:nvSpPr>
        <p:spPr>
          <a:xfrm>
            <a:off x="4338218" y="3749040"/>
            <a:ext cx="3515258" cy="1463040"/>
          </a:xfrm>
          <a:prstGeom prst="roundRect">
            <a:avLst>
              <a:gd name="adj" fmla="val 7500"/>
            </a:avLst>
          </a:prstGeom>
          <a:solidFill>
            <a:srgbClr val="FCFDFD"/>
          </a:solidFill>
          <a:ln w="9525">
            <a:solidFill>
              <a:srgbClr val="DDE4E6"/>
            </a:solidFill>
            <a:prstDash val="solid"/>
          </a:ln>
        </p:spPr>
      </p:sp>
      <p:sp>
        <p:nvSpPr>
          <p:cNvPr id="29" name="Shape 26"/>
          <p:cNvSpPr/>
          <p:nvPr/>
        </p:nvSpPr>
        <p:spPr>
          <a:xfrm>
            <a:off x="4566818" y="3977640"/>
            <a:ext cx="411480" cy="411480"/>
          </a:xfrm>
          <a:prstGeom prst="ellipse">
            <a:avLst/>
          </a:prstGeom>
          <a:solidFill>
            <a:srgbClr val="2F6B3A"/>
          </a:solidFill>
          <a:ln w="12700">
            <a:solidFill>
              <a:srgbClr val="2F6B3A"/>
            </a:solidFill>
            <a:prstDash val="solid"/>
          </a:ln>
        </p:spPr>
      </p:sp>
      <p:sp>
        <p:nvSpPr>
          <p:cNvPr id="30" name="Text 27"/>
          <p:cNvSpPr txBox="1"/>
          <p:nvPr/>
        </p:nvSpPr>
        <p:spPr>
          <a:xfrm>
            <a:off x="4566818"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1" name="Text 28"/>
          <p:cNvSpPr txBox="1"/>
          <p:nvPr/>
        </p:nvSpPr>
        <p:spPr>
          <a:xfrm>
            <a:off x="5115458"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Obtain/build</a:t>
            </a:r>
            <a:endParaRPr lang="en-US" sz="1700" dirty="0"/>
          </a:p>
        </p:txBody>
      </p:sp>
      <p:sp>
        <p:nvSpPr>
          <p:cNvPr id="32" name="Text 29"/>
          <p:cNvSpPr txBox="1"/>
          <p:nvPr/>
        </p:nvSpPr>
        <p:spPr>
          <a:xfrm>
            <a:off x="4566818"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Fabrikken laver sensorerne</a:t>
            </a:r>
            <a:endParaRPr lang="en-US" sz="1400" dirty="0"/>
          </a:p>
        </p:txBody>
      </p:sp>
      <p:sp>
        <p:nvSpPr>
          <p:cNvPr id="33" name="Shape 30"/>
          <p:cNvSpPr/>
          <p:nvPr/>
        </p:nvSpPr>
        <p:spPr>
          <a:xfrm>
            <a:off x="8127797" y="3749040"/>
            <a:ext cx="3515258" cy="1463040"/>
          </a:xfrm>
          <a:prstGeom prst="roundRect">
            <a:avLst>
              <a:gd name="adj" fmla="val 7500"/>
            </a:avLst>
          </a:prstGeom>
          <a:solidFill>
            <a:srgbClr val="FCFDFD"/>
          </a:solidFill>
          <a:ln w="9525">
            <a:solidFill>
              <a:srgbClr val="DDE4E6"/>
            </a:solidFill>
            <a:prstDash val="solid"/>
          </a:ln>
        </p:spPr>
      </p:sp>
      <p:sp>
        <p:nvSpPr>
          <p:cNvPr id="34" name="Shape 31"/>
          <p:cNvSpPr/>
          <p:nvPr/>
        </p:nvSpPr>
        <p:spPr>
          <a:xfrm>
            <a:off x="8356397" y="3977640"/>
            <a:ext cx="411480" cy="411480"/>
          </a:xfrm>
          <a:prstGeom prst="ellipse">
            <a:avLst/>
          </a:prstGeom>
          <a:solidFill>
            <a:srgbClr val="2F6B3A"/>
          </a:solidFill>
          <a:ln w="12700">
            <a:solidFill>
              <a:srgbClr val="2F6B3A"/>
            </a:solidFill>
            <a:prstDash val="solid"/>
          </a:ln>
        </p:spPr>
      </p:sp>
      <p:sp>
        <p:nvSpPr>
          <p:cNvPr id="35" name="Text 32"/>
          <p:cNvSpPr txBox="1"/>
          <p:nvPr/>
        </p:nvSpPr>
        <p:spPr>
          <a:xfrm>
            <a:off x="8356397"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6" name="Text 33"/>
          <p:cNvSpPr txBox="1"/>
          <p:nvPr/>
        </p:nvSpPr>
        <p:spPr>
          <a:xfrm>
            <a:off x="8905037"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Deliver &amp; support</a:t>
            </a:r>
            <a:endParaRPr lang="en-US" sz="1700" dirty="0"/>
          </a:p>
        </p:txBody>
      </p:sp>
      <p:sp>
        <p:nvSpPr>
          <p:cNvPr id="37" name="Text 34"/>
          <p:cNvSpPr txBox="1"/>
          <p:nvPr/>
        </p:nvSpPr>
        <p:spPr>
          <a:xfrm>
            <a:off x="8356397"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Værkstedet installerer, servicedesken hjælper</a:t>
            </a:r>
            <a:endParaRPr lang="en-US" sz="1400" dirty="0"/>
          </a:p>
        </p:txBody>
      </p:sp>
      <p:sp>
        <p:nvSpPr>
          <p:cNvPr id="38" name="Shape 35"/>
          <p:cNvSpPr/>
          <p:nvPr/>
        </p:nvSpPr>
        <p:spPr>
          <a:xfrm>
            <a:off x="548640" y="5486400"/>
            <a:ext cx="11094415" cy="777240"/>
          </a:xfrm>
          <a:prstGeom prst="roundRect">
            <a:avLst>
              <a:gd name="adj" fmla="val 14118"/>
            </a:avLst>
          </a:prstGeom>
          <a:solidFill>
            <a:srgbClr val="E9F4EA"/>
          </a:solidFill>
          <a:ln w="9525">
            <a:solidFill>
              <a:srgbClr val="A9D3B0"/>
            </a:solidFill>
            <a:prstDash val="solid"/>
          </a:ln>
        </p:spPr>
      </p:sp>
      <p:sp>
        <p:nvSpPr>
          <p:cNvPr id="39" name="Text 36"/>
          <p:cNvSpPr txBox="1"/>
          <p:nvPr/>
        </p:nvSpPr>
        <p:spPr>
          <a:xfrm>
            <a:off x="822960" y="5486400"/>
            <a:ext cx="10545775" cy="7772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Ikke afdelinger.  </a:t>
            </a:r>
            <a:pPr indent="0" marL="0">
              <a:buNone/>
            </a:pPr>
            <a:r>
              <a:rPr lang="en-US" sz="1500" dirty="0">
                <a:solidFill>
                  <a:srgbClr val="1E4A26"/>
                </a:solidFill>
                <a:latin typeface="Arial" pitchFamily="34" charset="0"/>
                <a:ea typeface="Arial" pitchFamily="34" charset="-122"/>
                <a:cs typeface="Arial" pitchFamily="34" charset="-120"/>
              </a:rPr>
              <a:t>Forslag: én ansvarlig pr. aktivitet, så intet ryger ned mellem byen, fabrikken og Jylland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Eksempel: ikke et samlebånd</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548640" y="1508760"/>
            <a:ext cx="11094415"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EN SVINEPRODUCENT VIL HAVE STALDOVERVÅGNING</a:t>
            </a:r>
            <a:endParaRPr lang="en-US" sz="1100" dirty="0"/>
          </a:p>
        </p:txBody>
      </p:sp>
      <p:sp>
        <p:nvSpPr>
          <p:cNvPr id="8" name="Shape 5"/>
          <p:cNvSpPr/>
          <p:nvPr/>
        </p:nvSpPr>
        <p:spPr>
          <a:xfrm>
            <a:off x="548640" y="1920240"/>
            <a:ext cx="1467351" cy="1828800"/>
          </a:xfrm>
          <a:prstGeom prst="roundRect">
            <a:avLst>
              <a:gd name="adj" fmla="val 7478"/>
            </a:avLst>
          </a:prstGeom>
          <a:solidFill>
            <a:srgbClr val="FCFDFD"/>
          </a:solidFill>
          <a:ln w="9525">
            <a:solidFill>
              <a:srgbClr val="DDE4E6"/>
            </a:solidFill>
            <a:prstDash val="solid"/>
          </a:ln>
        </p:spPr>
      </p:sp>
      <p:sp>
        <p:nvSpPr>
          <p:cNvPr id="9" name="Text 6"/>
          <p:cNvSpPr txBox="1"/>
          <p:nvPr/>
        </p:nvSpPr>
        <p:spPr>
          <a:xfrm>
            <a:off x="548640"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1</a:t>
            </a:r>
            <a:endParaRPr lang="en-US" sz="1400" dirty="0"/>
          </a:p>
        </p:txBody>
      </p:sp>
      <p:sp>
        <p:nvSpPr>
          <p:cNvPr id="10" name="Text 7"/>
          <p:cNvSpPr txBox="1"/>
          <p:nvPr/>
        </p:nvSpPr>
        <p:spPr>
          <a:xfrm>
            <a:off x="548640"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11" name="Text 8"/>
          <p:cNvSpPr txBox="1"/>
          <p:nvPr/>
        </p:nvSpPr>
        <p:spPr>
          <a:xfrm>
            <a:off x="621792"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Sælgeren finder behovet</a:t>
            </a:r>
            <a:endParaRPr lang="en-US" sz="1300" dirty="0"/>
          </a:p>
        </p:txBody>
      </p:sp>
      <p:sp>
        <p:nvSpPr>
          <p:cNvPr id="12" name="Shape 9"/>
          <p:cNvSpPr/>
          <p:nvPr/>
        </p:nvSpPr>
        <p:spPr>
          <a:xfrm>
            <a:off x="2153151" y="1920240"/>
            <a:ext cx="1467351" cy="1828800"/>
          </a:xfrm>
          <a:prstGeom prst="roundRect">
            <a:avLst>
              <a:gd name="adj" fmla="val 7478"/>
            </a:avLst>
          </a:prstGeom>
          <a:solidFill>
            <a:srgbClr val="FCFDFD"/>
          </a:solidFill>
          <a:ln w="9525">
            <a:solidFill>
              <a:srgbClr val="DDE4E6"/>
            </a:solidFill>
            <a:prstDash val="solid"/>
          </a:ln>
        </p:spPr>
      </p:sp>
      <p:sp>
        <p:nvSpPr>
          <p:cNvPr id="13" name="Text 10"/>
          <p:cNvSpPr txBox="1"/>
          <p:nvPr/>
        </p:nvSpPr>
        <p:spPr>
          <a:xfrm>
            <a:off x="215315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2</a:t>
            </a:r>
            <a:endParaRPr lang="en-US" sz="1400" dirty="0"/>
          </a:p>
        </p:txBody>
      </p:sp>
      <p:sp>
        <p:nvSpPr>
          <p:cNvPr id="14" name="Text 11"/>
          <p:cNvSpPr txBox="1"/>
          <p:nvPr/>
        </p:nvSpPr>
        <p:spPr>
          <a:xfrm>
            <a:off x="215315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15" name="Text 12"/>
          <p:cNvSpPr txBox="1"/>
          <p:nvPr/>
        </p:nvSpPr>
        <p:spPr>
          <a:xfrm>
            <a:off x="222630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R&amp;D tilpasser</a:t>
            </a:r>
            <a:endParaRPr lang="en-US" sz="1300" dirty="0"/>
          </a:p>
        </p:txBody>
      </p:sp>
      <p:sp>
        <p:nvSpPr>
          <p:cNvPr id="16" name="Shape 13"/>
          <p:cNvSpPr/>
          <p:nvPr/>
        </p:nvSpPr>
        <p:spPr>
          <a:xfrm>
            <a:off x="3757661" y="1920240"/>
            <a:ext cx="1467351" cy="1828800"/>
          </a:xfrm>
          <a:prstGeom prst="roundRect">
            <a:avLst>
              <a:gd name="adj" fmla="val 7478"/>
            </a:avLst>
          </a:prstGeom>
          <a:solidFill>
            <a:srgbClr val="FCFDFD"/>
          </a:solidFill>
          <a:ln w="9525">
            <a:solidFill>
              <a:srgbClr val="DDE4E6"/>
            </a:solidFill>
            <a:prstDash val="solid"/>
          </a:ln>
        </p:spPr>
      </p:sp>
      <p:sp>
        <p:nvSpPr>
          <p:cNvPr id="17" name="Text 14"/>
          <p:cNvSpPr txBox="1"/>
          <p:nvPr/>
        </p:nvSpPr>
        <p:spPr>
          <a:xfrm>
            <a:off x="375766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3</a:t>
            </a:r>
            <a:endParaRPr lang="en-US" sz="1400" dirty="0"/>
          </a:p>
        </p:txBody>
      </p:sp>
      <p:sp>
        <p:nvSpPr>
          <p:cNvPr id="18" name="Text 15"/>
          <p:cNvSpPr txBox="1"/>
          <p:nvPr/>
        </p:nvSpPr>
        <p:spPr>
          <a:xfrm>
            <a:off x="375766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Build</a:t>
            </a:r>
            <a:endParaRPr lang="en-US" sz="1600" dirty="0"/>
          </a:p>
        </p:txBody>
      </p:sp>
      <p:sp>
        <p:nvSpPr>
          <p:cNvPr id="19" name="Text 16"/>
          <p:cNvSpPr txBox="1"/>
          <p:nvPr/>
        </p:nvSpPr>
        <p:spPr>
          <a:xfrm>
            <a:off x="383081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Fabrikken laver sensorer</a:t>
            </a:r>
            <a:endParaRPr lang="en-US" sz="1300" dirty="0"/>
          </a:p>
        </p:txBody>
      </p:sp>
      <p:sp>
        <p:nvSpPr>
          <p:cNvPr id="20" name="Shape 17"/>
          <p:cNvSpPr/>
          <p:nvPr/>
        </p:nvSpPr>
        <p:spPr>
          <a:xfrm>
            <a:off x="5362172" y="1920240"/>
            <a:ext cx="1467351" cy="1828800"/>
          </a:xfrm>
          <a:prstGeom prst="roundRect">
            <a:avLst>
              <a:gd name="adj" fmla="val 7478"/>
            </a:avLst>
          </a:prstGeom>
          <a:solidFill>
            <a:srgbClr val="E9F4EA"/>
          </a:solidFill>
          <a:ln w="9525">
            <a:solidFill>
              <a:srgbClr val="2F6B3A"/>
            </a:solidFill>
            <a:prstDash val="solid"/>
          </a:ln>
        </p:spPr>
      </p:sp>
      <p:sp>
        <p:nvSpPr>
          <p:cNvPr id="21" name="Text 18"/>
          <p:cNvSpPr txBox="1"/>
          <p:nvPr/>
        </p:nvSpPr>
        <p:spPr>
          <a:xfrm>
            <a:off x="5362172"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4</a:t>
            </a:r>
            <a:endParaRPr lang="en-US" sz="1400" dirty="0"/>
          </a:p>
        </p:txBody>
      </p:sp>
      <p:sp>
        <p:nvSpPr>
          <p:cNvPr id="22" name="Text 19"/>
          <p:cNvSpPr txBox="1"/>
          <p:nvPr/>
        </p:nvSpPr>
        <p:spPr>
          <a:xfrm>
            <a:off x="5362172"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23" name="Text 20"/>
          <p:cNvSpPr txBox="1"/>
          <p:nvPr/>
        </p:nvSpPr>
        <p:spPr>
          <a:xfrm>
            <a:off x="5435324"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Testes og overdrages</a:t>
            </a:r>
            <a:endParaRPr lang="en-US" sz="1300" dirty="0"/>
          </a:p>
        </p:txBody>
      </p:sp>
      <p:sp>
        <p:nvSpPr>
          <p:cNvPr id="24" name="Shape 21"/>
          <p:cNvSpPr/>
          <p:nvPr/>
        </p:nvSpPr>
        <p:spPr>
          <a:xfrm>
            <a:off x="6966683" y="1920240"/>
            <a:ext cx="1467351" cy="1828800"/>
          </a:xfrm>
          <a:prstGeom prst="roundRect">
            <a:avLst>
              <a:gd name="adj" fmla="val 7478"/>
            </a:avLst>
          </a:prstGeom>
          <a:solidFill>
            <a:srgbClr val="FCFDFD"/>
          </a:solidFill>
          <a:ln w="9525">
            <a:solidFill>
              <a:srgbClr val="DDE4E6"/>
            </a:solidFill>
            <a:prstDash val="solid"/>
          </a:ln>
        </p:spPr>
      </p:sp>
      <p:sp>
        <p:nvSpPr>
          <p:cNvPr id="25" name="Text 22"/>
          <p:cNvSpPr txBox="1"/>
          <p:nvPr/>
        </p:nvSpPr>
        <p:spPr>
          <a:xfrm>
            <a:off x="6966683"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5</a:t>
            </a:r>
            <a:endParaRPr lang="en-US" sz="1400" dirty="0"/>
          </a:p>
        </p:txBody>
      </p:sp>
      <p:sp>
        <p:nvSpPr>
          <p:cNvPr id="26" name="Text 23"/>
          <p:cNvSpPr txBox="1"/>
          <p:nvPr/>
        </p:nvSpPr>
        <p:spPr>
          <a:xfrm>
            <a:off x="6966683"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Deliver</a:t>
            </a:r>
            <a:endParaRPr lang="en-US" sz="1600" dirty="0"/>
          </a:p>
        </p:txBody>
      </p:sp>
      <p:sp>
        <p:nvSpPr>
          <p:cNvPr id="27" name="Text 24"/>
          <p:cNvSpPr txBox="1"/>
          <p:nvPr/>
        </p:nvSpPr>
        <p:spPr>
          <a:xfrm>
            <a:off x="7039835"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Værkstedet installerer</a:t>
            </a:r>
            <a:endParaRPr lang="en-US" sz="1300" dirty="0"/>
          </a:p>
        </p:txBody>
      </p:sp>
      <p:sp>
        <p:nvSpPr>
          <p:cNvPr id="28" name="Shape 25"/>
          <p:cNvSpPr/>
          <p:nvPr/>
        </p:nvSpPr>
        <p:spPr>
          <a:xfrm>
            <a:off x="8571194" y="1920240"/>
            <a:ext cx="1467351" cy="1828800"/>
          </a:xfrm>
          <a:prstGeom prst="roundRect">
            <a:avLst>
              <a:gd name="adj" fmla="val 7478"/>
            </a:avLst>
          </a:prstGeom>
          <a:solidFill>
            <a:srgbClr val="E9F4EA"/>
          </a:solidFill>
          <a:ln w="9525">
            <a:solidFill>
              <a:srgbClr val="2F6B3A"/>
            </a:solidFill>
            <a:prstDash val="solid"/>
          </a:ln>
        </p:spPr>
      </p:sp>
      <p:sp>
        <p:nvSpPr>
          <p:cNvPr id="29" name="Text 26"/>
          <p:cNvSpPr txBox="1"/>
          <p:nvPr/>
        </p:nvSpPr>
        <p:spPr>
          <a:xfrm>
            <a:off x="857119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6</a:t>
            </a:r>
            <a:endParaRPr lang="en-US" sz="1400" dirty="0"/>
          </a:p>
        </p:txBody>
      </p:sp>
      <p:sp>
        <p:nvSpPr>
          <p:cNvPr id="30" name="Text 27"/>
          <p:cNvSpPr txBox="1"/>
          <p:nvPr/>
        </p:nvSpPr>
        <p:spPr>
          <a:xfrm>
            <a:off x="857119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31" name="Text 28"/>
          <p:cNvSpPr txBox="1"/>
          <p:nvPr/>
        </p:nvSpPr>
        <p:spPr>
          <a:xfrm>
            <a:off x="864434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Opfølgning efter en måned</a:t>
            </a:r>
            <a:endParaRPr lang="en-US" sz="1300" dirty="0"/>
          </a:p>
        </p:txBody>
      </p:sp>
      <p:sp>
        <p:nvSpPr>
          <p:cNvPr id="32" name="Shape 29"/>
          <p:cNvSpPr/>
          <p:nvPr/>
        </p:nvSpPr>
        <p:spPr>
          <a:xfrm>
            <a:off x="10175704" y="1920240"/>
            <a:ext cx="1467351" cy="1828800"/>
          </a:xfrm>
          <a:prstGeom prst="roundRect">
            <a:avLst>
              <a:gd name="adj" fmla="val 7478"/>
            </a:avLst>
          </a:prstGeom>
          <a:solidFill>
            <a:srgbClr val="FCFDFD"/>
          </a:solidFill>
          <a:ln w="9525">
            <a:solidFill>
              <a:srgbClr val="DDE4E6"/>
            </a:solidFill>
            <a:prstDash val="solid"/>
          </a:ln>
        </p:spPr>
      </p:sp>
      <p:sp>
        <p:nvSpPr>
          <p:cNvPr id="33" name="Text 30"/>
          <p:cNvSpPr txBox="1"/>
          <p:nvPr/>
        </p:nvSpPr>
        <p:spPr>
          <a:xfrm>
            <a:off x="1017570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7</a:t>
            </a:r>
            <a:endParaRPr lang="en-US" sz="1400" dirty="0"/>
          </a:p>
        </p:txBody>
      </p:sp>
      <p:sp>
        <p:nvSpPr>
          <p:cNvPr id="34" name="Text 31"/>
          <p:cNvSpPr txBox="1"/>
          <p:nvPr/>
        </p:nvSpPr>
        <p:spPr>
          <a:xfrm>
            <a:off x="1017570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Improve</a:t>
            </a:r>
            <a:endParaRPr lang="en-US" sz="1600" dirty="0"/>
          </a:p>
        </p:txBody>
      </p:sp>
      <p:sp>
        <p:nvSpPr>
          <p:cNvPr id="35" name="Text 32"/>
          <p:cNvSpPr txBox="1"/>
          <p:nvPr/>
        </p:nvSpPr>
        <p:spPr>
          <a:xfrm>
            <a:off x="1024885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Næste gang hurtigere</a:t>
            </a:r>
            <a:endParaRPr lang="en-US" sz="1300" dirty="0"/>
          </a:p>
        </p:txBody>
      </p:sp>
      <p:sp>
        <p:nvSpPr>
          <p:cNvPr id="36" name="Shape 33"/>
          <p:cNvSpPr/>
          <p:nvPr/>
        </p:nvSpPr>
        <p:spPr>
          <a:xfrm>
            <a:off x="548640" y="4069080"/>
            <a:ext cx="5387188" cy="2011680"/>
          </a:xfrm>
          <a:prstGeom prst="roundRect">
            <a:avLst>
              <a:gd name="adj" fmla="val 5455"/>
            </a:avLst>
          </a:prstGeom>
          <a:solidFill>
            <a:srgbClr val="FCFDFD"/>
          </a:solidFill>
          <a:ln w="9525">
            <a:solidFill>
              <a:srgbClr val="DDE4E6"/>
            </a:solidFill>
            <a:prstDash val="solid"/>
          </a:ln>
        </p:spPr>
      </p:sp>
      <p:sp>
        <p:nvSpPr>
          <p:cNvPr id="37" name="Text 34"/>
          <p:cNvSpPr txBox="1"/>
          <p:nvPr/>
        </p:nvSpPr>
        <p:spPr>
          <a:xfrm>
            <a:off x="868680" y="4206240"/>
            <a:ext cx="4747108" cy="411480"/>
          </a:xfrm>
          <a:prstGeom prst="rect">
            <a:avLst/>
          </a:prstGeom>
          <a:noFill/>
          <a:ln/>
        </p:spPr>
        <p:txBody>
          <a:bodyPr wrap="square" lIns="0" tIns="0" rIns="0" bIns="0" rtlCol="0" anchor="t"/>
          <a:lstStyle/>
          <a:p>
            <a:pPr indent="0" marL="0">
              <a:buNone/>
            </a:pPr>
            <a:r>
              <a:rPr lang="en-US" sz="2100" dirty="0">
                <a:solidFill>
                  <a:srgbClr val="17221A"/>
                </a:solidFill>
                <a:latin typeface="Georgia" pitchFamily="34" charset="0"/>
                <a:ea typeface="Georgia" pitchFamily="34" charset="-122"/>
                <a:cs typeface="Georgia" pitchFamily="34" charset="-120"/>
              </a:rPr>
              <a:t>Ikke et samlebånd</a:t>
            </a:r>
            <a:endParaRPr lang="en-US" sz="2100" dirty="0"/>
          </a:p>
        </p:txBody>
      </p:sp>
      <p:sp>
        <p:nvSpPr>
          <p:cNvPr id="38" name="Text 35"/>
          <p:cNvSpPr txBox="1"/>
          <p:nvPr/>
        </p:nvSpPr>
        <p:spPr>
          <a:xfrm>
            <a:off x="868680" y="4663440"/>
            <a:ext cx="4747108" cy="13258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Engage og design bruges to gange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Plan bruges slet ikke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Kundens behov styrer rækkefølgen</a:t>
            </a:r>
            <a:endParaRPr lang="en-US" sz="1600" dirty="0"/>
          </a:p>
        </p:txBody>
      </p:sp>
      <p:sp>
        <p:nvSpPr>
          <p:cNvPr id="39" name="Shape 36"/>
          <p:cNvSpPr/>
          <p:nvPr/>
        </p:nvSpPr>
        <p:spPr>
          <a:xfrm>
            <a:off x="6255868" y="4069080"/>
            <a:ext cx="5387188" cy="2011680"/>
          </a:xfrm>
          <a:prstGeom prst="roundRect">
            <a:avLst>
              <a:gd name="adj" fmla="val 5455"/>
            </a:avLst>
          </a:prstGeom>
          <a:solidFill>
            <a:srgbClr val="E9F4EA"/>
          </a:solidFill>
          <a:ln w="9525">
            <a:solidFill>
              <a:srgbClr val="A9D3B0"/>
            </a:solidFill>
            <a:prstDash val="solid"/>
          </a:ln>
        </p:spPr>
      </p:sp>
      <p:sp>
        <p:nvSpPr>
          <p:cNvPr id="40" name="Text 37"/>
          <p:cNvSpPr txBox="1"/>
          <p:nvPr/>
        </p:nvSpPr>
        <p:spPr>
          <a:xfrm>
            <a:off x="6575908" y="4206240"/>
            <a:ext cx="4747108" cy="411480"/>
          </a:xfrm>
          <a:prstGeom prst="rect">
            <a:avLst/>
          </a:prstGeom>
          <a:noFill/>
          <a:ln/>
        </p:spPr>
        <p:txBody>
          <a:bodyPr wrap="square" lIns="0" tIns="0" rIns="0" bIns="0" rtlCol="0" anchor="t"/>
          <a:lstStyle/>
          <a:p>
            <a:pPr indent="0" marL="0">
              <a:buNone/>
            </a:pPr>
            <a:r>
              <a:rPr lang="en-US" sz="2100" dirty="0">
                <a:solidFill>
                  <a:srgbClr val="1E4A26"/>
                </a:solidFill>
                <a:latin typeface="Georgia" pitchFamily="34" charset="0"/>
                <a:ea typeface="Georgia" pitchFamily="34" charset="-122"/>
                <a:cs typeface="Georgia" pitchFamily="34" charset="-120"/>
              </a:rPr>
              <a:t>Hver aktivitet bidrager</a:t>
            </a:r>
            <a:endParaRPr lang="en-US" sz="2100" dirty="0"/>
          </a:p>
        </p:txBody>
      </p:sp>
      <p:sp>
        <p:nvSpPr>
          <p:cNvPr id="41" name="Text 38"/>
          <p:cNvSpPr txBox="1"/>
          <p:nvPr/>
        </p:nvSpPr>
        <p:spPr>
          <a:xfrm>
            <a:off x="6575908" y="4663440"/>
            <a:ext cx="4747108" cy="132588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Engage: værdi skabt sammen med landmanden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Design: testes før drift, stabil drift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Deliver og support: værdi hver dag</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Improve: fejl bliver forbedringer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Incident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4</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Incident:  </a:t>
            </a:r>
            <a:pPr indent="0" marL="0">
              <a:buNone/>
            </a:pPr>
            <a:r>
              <a:rPr lang="en-US" sz="1500" dirty="0">
                <a:solidFill>
                  <a:srgbClr val="1E4A26"/>
                </a:solidFill>
                <a:latin typeface="Arial" pitchFamily="34" charset="0"/>
                <a:ea typeface="Arial" pitchFamily="34" charset="-122"/>
                <a:cs typeface="Arial" pitchFamily="34" charset="-120"/>
              </a:rPr>
              <a:t>uplanlagt afbrydelse eller forringelse.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op igen hurtigst muligt. Årsagen: problem.</a:t>
            </a:r>
            <a:endParaRPr lang="en-US" sz="1500" dirty="0"/>
          </a:p>
        </p:txBody>
      </p:sp>
      <p:sp>
        <p:nvSpPr>
          <p:cNvPr id="9" name="Shape 6"/>
          <p:cNvSpPr/>
          <p:nvPr/>
        </p:nvSpPr>
        <p:spPr>
          <a:xfrm>
            <a:off x="548640" y="2377440"/>
            <a:ext cx="2036003" cy="777240"/>
          </a:xfrm>
          <a:prstGeom prst="roundRect">
            <a:avLst>
              <a:gd name="adj" fmla="val 14118"/>
            </a:avLst>
          </a:prstGeom>
          <a:solidFill>
            <a:srgbClr val="2F6B3A"/>
          </a:solidFill>
          <a:ln w="9525">
            <a:solidFill>
              <a:srgbClr val="2F6B3A"/>
            </a:solidFill>
            <a:prstDash val="solid"/>
          </a:ln>
        </p:spPr>
      </p:sp>
      <p:sp>
        <p:nvSpPr>
          <p:cNvPr id="10" name="Text 7"/>
          <p:cNvSpPr txBox="1"/>
          <p:nvPr/>
        </p:nvSpPr>
        <p:spPr>
          <a:xfrm>
            <a:off x="548640"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Registrer</a:t>
            </a:r>
            <a:endParaRPr lang="en-US" sz="1700" dirty="0"/>
          </a:p>
        </p:txBody>
      </p:sp>
      <p:sp>
        <p:nvSpPr>
          <p:cNvPr id="11" name="Shape 8"/>
          <p:cNvSpPr/>
          <p:nvPr/>
        </p:nvSpPr>
        <p:spPr>
          <a:xfrm>
            <a:off x="2602931" y="2761488"/>
            <a:ext cx="192024" cy="914"/>
          </a:xfrm>
          <a:prstGeom prst="line">
            <a:avLst/>
          </a:prstGeom>
          <a:noFill/>
          <a:ln w="19050">
            <a:solidFill>
              <a:srgbClr val="6E7C81"/>
            </a:solidFill>
            <a:prstDash val="solid"/>
            <a:tailEnd type="triangle"/>
          </a:ln>
        </p:spPr>
      </p:sp>
      <p:sp>
        <p:nvSpPr>
          <p:cNvPr id="12" name="Shape 9"/>
          <p:cNvSpPr/>
          <p:nvPr/>
        </p:nvSpPr>
        <p:spPr>
          <a:xfrm>
            <a:off x="2813243" y="2377440"/>
            <a:ext cx="2036003" cy="777240"/>
          </a:xfrm>
          <a:prstGeom prst="roundRect">
            <a:avLst>
              <a:gd name="adj" fmla="val 14118"/>
            </a:avLst>
          </a:prstGeom>
          <a:solidFill>
            <a:srgbClr val="2F6B3A"/>
          </a:solidFill>
          <a:ln w="9525">
            <a:solidFill>
              <a:srgbClr val="2F6B3A"/>
            </a:solidFill>
            <a:prstDash val="solid"/>
          </a:ln>
        </p:spPr>
      </p:sp>
      <p:sp>
        <p:nvSpPr>
          <p:cNvPr id="13" name="Text 10"/>
          <p:cNvSpPr txBox="1"/>
          <p:nvPr/>
        </p:nvSpPr>
        <p:spPr>
          <a:xfrm>
            <a:off x="2813243"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Prioriter</a:t>
            </a:r>
            <a:endParaRPr lang="en-US" sz="1700" dirty="0"/>
          </a:p>
        </p:txBody>
      </p:sp>
      <p:sp>
        <p:nvSpPr>
          <p:cNvPr id="14" name="Shape 11"/>
          <p:cNvSpPr/>
          <p:nvPr/>
        </p:nvSpPr>
        <p:spPr>
          <a:xfrm>
            <a:off x="4867534" y="2761488"/>
            <a:ext cx="192024" cy="914"/>
          </a:xfrm>
          <a:prstGeom prst="line">
            <a:avLst/>
          </a:prstGeom>
          <a:noFill/>
          <a:ln w="19050">
            <a:solidFill>
              <a:srgbClr val="6E7C81"/>
            </a:solidFill>
            <a:prstDash val="solid"/>
            <a:tailEnd type="triangle"/>
          </a:ln>
        </p:spPr>
      </p:sp>
      <p:sp>
        <p:nvSpPr>
          <p:cNvPr id="15" name="Shape 12"/>
          <p:cNvSpPr/>
          <p:nvPr/>
        </p:nvSpPr>
        <p:spPr>
          <a:xfrm>
            <a:off x="5077846" y="2377440"/>
            <a:ext cx="2036003" cy="777240"/>
          </a:xfrm>
          <a:prstGeom prst="roundRect">
            <a:avLst>
              <a:gd name="adj" fmla="val 14118"/>
            </a:avLst>
          </a:prstGeom>
          <a:solidFill>
            <a:srgbClr val="2F6B3A"/>
          </a:solidFill>
          <a:ln w="9525">
            <a:solidFill>
              <a:srgbClr val="2F6B3A"/>
            </a:solidFill>
            <a:prstDash val="solid"/>
          </a:ln>
        </p:spPr>
      </p:sp>
      <p:sp>
        <p:nvSpPr>
          <p:cNvPr id="16" name="Text 13"/>
          <p:cNvSpPr txBox="1"/>
          <p:nvPr/>
        </p:nvSpPr>
        <p:spPr>
          <a:xfrm>
            <a:off x="5077846"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Diagnosticer</a:t>
            </a:r>
            <a:endParaRPr lang="en-US" sz="1700" dirty="0"/>
          </a:p>
        </p:txBody>
      </p:sp>
      <p:sp>
        <p:nvSpPr>
          <p:cNvPr id="17" name="Shape 14"/>
          <p:cNvSpPr/>
          <p:nvPr/>
        </p:nvSpPr>
        <p:spPr>
          <a:xfrm>
            <a:off x="7132137" y="2761488"/>
            <a:ext cx="192024" cy="914"/>
          </a:xfrm>
          <a:prstGeom prst="line">
            <a:avLst/>
          </a:prstGeom>
          <a:noFill/>
          <a:ln w="19050">
            <a:solidFill>
              <a:srgbClr val="6E7C81"/>
            </a:solidFill>
            <a:prstDash val="solid"/>
            <a:tailEnd type="triangle"/>
          </a:ln>
        </p:spPr>
      </p:sp>
      <p:sp>
        <p:nvSpPr>
          <p:cNvPr id="18" name="Shape 15"/>
          <p:cNvSpPr/>
          <p:nvPr/>
        </p:nvSpPr>
        <p:spPr>
          <a:xfrm>
            <a:off x="7342449" y="2377440"/>
            <a:ext cx="2036003" cy="777240"/>
          </a:xfrm>
          <a:prstGeom prst="roundRect">
            <a:avLst>
              <a:gd name="adj" fmla="val 14118"/>
            </a:avLst>
          </a:prstGeom>
          <a:solidFill>
            <a:srgbClr val="2F6B3A"/>
          </a:solidFill>
          <a:ln w="9525">
            <a:solidFill>
              <a:srgbClr val="2F6B3A"/>
            </a:solidFill>
            <a:prstDash val="solid"/>
          </a:ln>
        </p:spPr>
      </p:sp>
      <p:sp>
        <p:nvSpPr>
          <p:cNvPr id="19" name="Text 16"/>
          <p:cNvSpPr txBox="1"/>
          <p:nvPr/>
        </p:nvSpPr>
        <p:spPr>
          <a:xfrm>
            <a:off x="7342449"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Eskaler</a:t>
            </a:r>
            <a:endParaRPr lang="en-US" sz="1700" dirty="0"/>
          </a:p>
        </p:txBody>
      </p:sp>
      <p:sp>
        <p:nvSpPr>
          <p:cNvPr id="20" name="Shape 17"/>
          <p:cNvSpPr/>
          <p:nvPr/>
        </p:nvSpPr>
        <p:spPr>
          <a:xfrm>
            <a:off x="9396740" y="2761488"/>
            <a:ext cx="192024" cy="914"/>
          </a:xfrm>
          <a:prstGeom prst="line">
            <a:avLst/>
          </a:prstGeom>
          <a:noFill/>
          <a:ln w="19050">
            <a:solidFill>
              <a:srgbClr val="6E7C81"/>
            </a:solidFill>
            <a:prstDash val="solid"/>
            <a:tailEnd type="triangle"/>
          </a:ln>
        </p:spPr>
      </p:sp>
      <p:sp>
        <p:nvSpPr>
          <p:cNvPr id="21" name="Shape 18"/>
          <p:cNvSpPr/>
          <p:nvPr/>
        </p:nvSpPr>
        <p:spPr>
          <a:xfrm>
            <a:off x="9607052" y="2377440"/>
            <a:ext cx="2036003" cy="777240"/>
          </a:xfrm>
          <a:prstGeom prst="roundRect">
            <a:avLst>
              <a:gd name="adj" fmla="val 14118"/>
            </a:avLst>
          </a:prstGeom>
          <a:solidFill>
            <a:srgbClr val="2F6B3A"/>
          </a:solidFill>
          <a:ln w="9525">
            <a:solidFill>
              <a:srgbClr val="2F6B3A"/>
            </a:solidFill>
            <a:prstDash val="solid"/>
          </a:ln>
        </p:spPr>
      </p:sp>
      <p:sp>
        <p:nvSpPr>
          <p:cNvPr id="22" name="Text 19"/>
          <p:cNvSpPr txBox="1"/>
          <p:nvPr/>
        </p:nvSpPr>
        <p:spPr>
          <a:xfrm>
            <a:off x="9607052"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Løs og luk</a:t>
            </a:r>
            <a:endParaRPr lang="en-US" sz="1700" dirty="0"/>
          </a:p>
        </p:txBody>
      </p:sp>
      <p:sp>
        <p:nvSpPr>
          <p:cNvPr id="23" name="Shape 20"/>
          <p:cNvSpPr/>
          <p:nvPr/>
        </p:nvSpPr>
        <p:spPr>
          <a:xfrm>
            <a:off x="548640" y="3383280"/>
            <a:ext cx="5387188" cy="2743200"/>
          </a:xfrm>
          <a:prstGeom prst="roundRect">
            <a:avLst>
              <a:gd name="adj" fmla="val 4000"/>
            </a:avLst>
          </a:prstGeom>
          <a:solidFill>
            <a:srgbClr val="FCFDFD"/>
          </a:solidFill>
          <a:ln w="9525">
            <a:solidFill>
              <a:srgbClr val="DDE4E6"/>
            </a:solidFill>
            <a:prstDash val="solid"/>
          </a:ln>
        </p:spPr>
      </p:sp>
      <p:sp>
        <p:nvSpPr>
          <p:cNvPr id="24" name="Text 21"/>
          <p:cNvSpPr txBox="1"/>
          <p:nvPr/>
        </p:nvSpPr>
        <p:spPr>
          <a:xfrm>
            <a:off x="868680" y="352044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Hvem gør hvad</a:t>
            </a:r>
            <a:endParaRPr lang="en-US" sz="2000" dirty="0"/>
          </a:p>
        </p:txBody>
      </p:sp>
      <p:sp>
        <p:nvSpPr>
          <p:cNvPr id="25" name="Text 22"/>
          <p:cNvSpPr txBox="1"/>
          <p:nvPr/>
        </p:nvSpPr>
        <p:spPr>
          <a:xfrm>
            <a:off x="868680" y="3977640"/>
            <a:ext cx="4747108" cy="20116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Prioritet: hvor slemt og hvor hastende, styrer SLA'en</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Eskaler: L1 servicedesk, L2 specialister, L3 R&amp;D</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Servicedesken: landmandens ene indgang</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Fælles ticketsystem, alle tre steder</a:t>
            </a:r>
            <a:endParaRPr lang="en-US" sz="1500" dirty="0"/>
          </a:p>
        </p:txBody>
      </p:sp>
      <p:sp>
        <p:nvSpPr>
          <p:cNvPr id="26" name="Shape 23"/>
          <p:cNvSpPr/>
          <p:nvPr/>
        </p:nvSpPr>
        <p:spPr>
          <a:xfrm>
            <a:off x="6255868" y="3383280"/>
            <a:ext cx="5387188" cy="2743200"/>
          </a:xfrm>
          <a:prstGeom prst="roundRect">
            <a:avLst>
              <a:gd name="adj" fmla="val 4000"/>
            </a:avLst>
          </a:prstGeom>
          <a:solidFill>
            <a:srgbClr val="FCFDFD"/>
          </a:solidFill>
          <a:ln w="9525">
            <a:solidFill>
              <a:srgbClr val="DDE4E6"/>
            </a:solidFill>
            <a:prstDash val="solid"/>
          </a:ln>
        </p:spPr>
      </p:sp>
      <p:sp>
        <p:nvSpPr>
          <p:cNvPr id="27" name="Shape 24"/>
          <p:cNvSpPr/>
          <p:nvPr/>
        </p:nvSpPr>
        <p:spPr>
          <a:xfrm>
            <a:off x="6530188" y="3520440"/>
            <a:ext cx="457200" cy="457200"/>
          </a:xfrm>
          <a:prstGeom prst="ellipse">
            <a:avLst/>
          </a:prstGeom>
          <a:solidFill>
            <a:srgbClr val="B93A32"/>
          </a:solidFill>
          <a:ln w="12700">
            <a:solidFill>
              <a:srgbClr val="B93A32"/>
            </a:solidFill>
            <a:prstDash val="solid"/>
          </a:ln>
        </p:spPr>
      </p:sp>
      <p:pic>
        <p:nvPicPr>
          <p:cNvPr id="28" name="Image 0" descr="preencoded.png">    </p:cNvPr>
          <p:cNvPicPr>
            <a:picLocks noChangeAspect="1"/>
          </p:cNvPicPr>
          <p:nvPr/>
        </p:nvPicPr>
        <p:blipFill>
          <a:blip r:embed="rId1"/>
          <a:stretch>
            <a:fillRect/>
          </a:stretch>
        </p:blipFill>
        <p:spPr>
          <a:xfrm>
            <a:off x="6639916" y="3630168"/>
            <a:ext cx="237744" cy="237744"/>
          </a:xfrm>
          <a:prstGeom prst="rect">
            <a:avLst/>
          </a:prstGeom>
        </p:spPr>
      </p:pic>
      <p:sp>
        <p:nvSpPr>
          <p:cNvPr id="29" name="Text 25"/>
          <p:cNvSpPr txBox="1"/>
          <p:nvPr/>
        </p:nvSpPr>
        <p:spPr>
          <a:xfrm>
            <a:off x="7124548" y="3520440"/>
            <a:ext cx="4289908" cy="457200"/>
          </a:xfrm>
          <a:prstGeom prst="rect">
            <a:avLst/>
          </a:prstGeom>
          <a:noFill/>
          <a:ln/>
        </p:spPr>
        <p:txBody>
          <a:bodyPr wrap="square" lIns="0" tIns="0" rIns="0" bIns="0" rtlCol="0" anchor="ctr"/>
          <a:lstStyle/>
          <a:p>
            <a:pPr indent="0" marL="0">
              <a:buNone/>
            </a:pPr>
            <a:r>
              <a:rPr lang="en-US" sz="2000" dirty="0">
                <a:solidFill>
                  <a:srgbClr val="17221A"/>
                </a:solidFill>
                <a:latin typeface="Georgia" pitchFamily="34" charset="0"/>
                <a:ea typeface="Georgia" pitchFamily="34" charset="-122"/>
                <a:cs typeface="Georgia" pitchFamily="34" charset="-120"/>
              </a:rPr>
              <a:t>Kvægstald, sommernat</a:t>
            </a:r>
            <a:endParaRPr lang="en-US" sz="2000" dirty="0"/>
          </a:p>
        </p:txBody>
      </p:sp>
      <p:sp>
        <p:nvSpPr>
          <p:cNvPr id="30" name="Text 26"/>
          <p:cNvSpPr txBox="1"/>
          <p:nvPr/>
        </p:nvSpPr>
        <p:spPr>
          <a:xfrm>
            <a:off x="6575908" y="4069080"/>
            <a:ext cx="4747108" cy="19202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Sensorerne sender ikke data: prioritet 1</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L2: fejl i gatewayen, tekniker med en ny</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Workaround: landmanden tjekker selv dyrene</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Mange stalde: major incident med én leder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Problem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Problem:  </a:t>
            </a:r>
            <a:pPr indent="0" marL="0">
              <a:buNone/>
            </a:pPr>
            <a:r>
              <a:rPr lang="en-US" sz="1500" dirty="0">
                <a:solidFill>
                  <a:srgbClr val="1E4A26"/>
                </a:solidFill>
                <a:latin typeface="Arial" pitchFamily="34" charset="0"/>
                <a:ea typeface="Arial" pitchFamily="34" charset="-122"/>
                <a:cs typeface="Arial" pitchFamily="34" charset="-120"/>
              </a:rPr>
              <a:t>årsagen, eller den mulige årsag, til incidents.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så det ikke sker igen.</a:t>
            </a:r>
            <a:endParaRPr lang="en-US" sz="1500" dirty="0"/>
          </a:p>
        </p:txBody>
      </p:sp>
      <p:sp>
        <p:nvSpPr>
          <p:cNvPr id="9" name="Shape 6"/>
          <p:cNvSpPr/>
          <p:nvPr/>
        </p:nvSpPr>
        <p:spPr>
          <a:xfrm>
            <a:off x="548640" y="2377440"/>
            <a:ext cx="3515258" cy="1325880"/>
          </a:xfrm>
          <a:prstGeom prst="roundRect">
            <a:avLst>
              <a:gd name="adj" fmla="val 8276"/>
            </a:avLst>
          </a:prstGeom>
          <a:solidFill>
            <a:srgbClr val="FCFDFD"/>
          </a:solidFill>
          <a:ln w="9525">
            <a:solidFill>
              <a:srgbClr val="DDE4E6"/>
            </a:solidFill>
            <a:prstDash val="solid"/>
          </a:ln>
        </p:spPr>
      </p:sp>
      <p:sp>
        <p:nvSpPr>
          <p:cNvPr id="10" name="Text 7"/>
          <p:cNvSpPr txBox="1"/>
          <p:nvPr/>
        </p:nvSpPr>
        <p:spPr>
          <a:xfrm>
            <a:off x="822960"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1  Identification</a:t>
            </a:r>
            <a:endParaRPr lang="en-US" sz="1800" dirty="0"/>
          </a:p>
        </p:txBody>
      </p:sp>
      <p:sp>
        <p:nvSpPr>
          <p:cNvPr id="11" name="Text 8"/>
          <p:cNvSpPr txBox="1"/>
          <p:nvPr/>
        </p:nvSpPr>
        <p:spPr>
          <a:xfrm>
            <a:off x="822960"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Gentagne incidents, efter major incident eller proaktivt</a:t>
            </a:r>
            <a:endParaRPr lang="en-US" sz="1400" dirty="0"/>
          </a:p>
        </p:txBody>
      </p:sp>
      <p:sp>
        <p:nvSpPr>
          <p:cNvPr id="12" name="Shape 9"/>
          <p:cNvSpPr/>
          <p:nvPr/>
        </p:nvSpPr>
        <p:spPr>
          <a:xfrm>
            <a:off x="4338218" y="2377440"/>
            <a:ext cx="3515258" cy="1325880"/>
          </a:xfrm>
          <a:prstGeom prst="roundRect">
            <a:avLst>
              <a:gd name="adj" fmla="val 8276"/>
            </a:avLst>
          </a:prstGeom>
          <a:solidFill>
            <a:srgbClr val="FCFDFD"/>
          </a:solidFill>
          <a:ln w="9525">
            <a:solidFill>
              <a:srgbClr val="DDE4E6"/>
            </a:solidFill>
            <a:prstDash val="solid"/>
          </a:ln>
        </p:spPr>
      </p:sp>
      <p:sp>
        <p:nvSpPr>
          <p:cNvPr id="13" name="Text 10"/>
          <p:cNvSpPr txBox="1"/>
          <p:nvPr/>
        </p:nvSpPr>
        <p:spPr>
          <a:xfrm>
            <a:off x="4612538"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2  Problem control</a:t>
            </a:r>
            <a:endParaRPr lang="en-US" sz="1800" dirty="0"/>
          </a:p>
        </p:txBody>
      </p:sp>
      <p:sp>
        <p:nvSpPr>
          <p:cNvPr id="14" name="Text 11"/>
          <p:cNvSpPr txBox="1"/>
          <p:nvPr/>
        </p:nvSpPr>
        <p:spPr>
          <a:xfrm>
            <a:off x="4612538"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Root cause og workaround. Kendt, ikke løst: known error</a:t>
            </a:r>
            <a:endParaRPr lang="en-US" sz="1400" dirty="0"/>
          </a:p>
        </p:txBody>
      </p:sp>
      <p:sp>
        <p:nvSpPr>
          <p:cNvPr id="15" name="Shape 12"/>
          <p:cNvSpPr/>
          <p:nvPr/>
        </p:nvSpPr>
        <p:spPr>
          <a:xfrm>
            <a:off x="8127797" y="2377440"/>
            <a:ext cx="3515258" cy="1325880"/>
          </a:xfrm>
          <a:prstGeom prst="roundRect">
            <a:avLst>
              <a:gd name="adj" fmla="val 8276"/>
            </a:avLst>
          </a:prstGeom>
          <a:solidFill>
            <a:srgbClr val="FCFDFD"/>
          </a:solidFill>
          <a:ln w="9525">
            <a:solidFill>
              <a:srgbClr val="DDE4E6"/>
            </a:solidFill>
            <a:prstDash val="solid"/>
          </a:ln>
        </p:spPr>
      </p:sp>
      <p:sp>
        <p:nvSpPr>
          <p:cNvPr id="16" name="Text 13"/>
          <p:cNvSpPr txBox="1"/>
          <p:nvPr/>
        </p:nvSpPr>
        <p:spPr>
          <a:xfrm>
            <a:off x="8402117"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3  Error control</a:t>
            </a:r>
            <a:endParaRPr lang="en-US" sz="1800" dirty="0"/>
          </a:p>
        </p:txBody>
      </p:sp>
      <p:sp>
        <p:nvSpPr>
          <p:cNvPr id="17" name="Text 14"/>
          <p:cNvSpPr txBox="1"/>
          <p:nvPr/>
        </p:nvSpPr>
        <p:spPr>
          <a:xfrm>
            <a:off x="8402117"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Den rigtige løsning går til change control</a:t>
            </a:r>
            <a:endParaRPr lang="en-US" sz="1400" dirty="0"/>
          </a:p>
        </p:txBody>
      </p:sp>
      <p:sp>
        <p:nvSpPr>
          <p:cNvPr id="18" name="Shape 15"/>
          <p:cNvSpPr/>
          <p:nvPr/>
        </p:nvSpPr>
        <p:spPr>
          <a:xfrm>
            <a:off x="548640" y="3931920"/>
            <a:ext cx="5387188" cy="2194560"/>
          </a:xfrm>
          <a:prstGeom prst="roundRect">
            <a:avLst>
              <a:gd name="adj" fmla="val 5000"/>
            </a:avLst>
          </a:prstGeom>
          <a:solidFill>
            <a:srgbClr val="FCFDFD"/>
          </a:solidFill>
          <a:ln w="9525">
            <a:solidFill>
              <a:srgbClr val="DDE4E6"/>
            </a:solidFill>
            <a:prstDash val="solid"/>
          </a:ln>
        </p:spPr>
      </p:sp>
      <p:sp>
        <p:nvSpPr>
          <p:cNvPr id="19" name="Text 16"/>
          <p:cNvSpPr txBox="1"/>
          <p:nvPr/>
        </p:nvSpPr>
        <p:spPr>
          <a:xfrm>
            <a:off x="868680" y="406908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Firmwarefejlen</a:t>
            </a:r>
            <a:endParaRPr lang="en-US" sz="2000" dirty="0"/>
          </a:p>
        </p:txBody>
      </p:sp>
      <p:sp>
        <p:nvSpPr>
          <p:cNvPr id="20" name="Text 17"/>
          <p:cNvSpPr txBox="1"/>
          <p:nvPr/>
        </p:nvSpPr>
        <p:spPr>
          <a:xfrm>
            <a:off x="868680"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Efter opdatering: friland-sensorer mister net om natten, 15 kunder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Årsag: strømspar, vågner ikke ved svagt signal</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Workaround: slå strømspar fra, known error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Rettet firmware via change control</a:t>
            </a:r>
            <a:endParaRPr lang="en-US" sz="1500" dirty="0"/>
          </a:p>
        </p:txBody>
      </p:sp>
      <p:sp>
        <p:nvSpPr>
          <p:cNvPr id="21" name="Shape 18"/>
          <p:cNvSpPr/>
          <p:nvPr/>
        </p:nvSpPr>
        <p:spPr>
          <a:xfrm>
            <a:off x="6255868" y="3931920"/>
            <a:ext cx="5387188" cy="2194560"/>
          </a:xfrm>
          <a:prstGeom prst="roundRect">
            <a:avLst>
              <a:gd name="adj" fmla="val 5000"/>
            </a:avLst>
          </a:prstGeom>
          <a:solidFill>
            <a:srgbClr val="E9F4EA"/>
          </a:solidFill>
          <a:ln w="9525">
            <a:solidFill>
              <a:srgbClr val="A9D3B0"/>
            </a:solidFill>
            <a:prstDash val="solid"/>
          </a:ln>
        </p:spPr>
      </p:sp>
      <p:sp>
        <p:nvSpPr>
          <p:cNvPr id="22" name="Text 19"/>
          <p:cNvSpPr txBox="1"/>
          <p:nvPr/>
        </p:nvSpPr>
        <p:spPr>
          <a:xfrm>
            <a:off x="6575908" y="4069080"/>
            <a:ext cx="4747108" cy="411480"/>
          </a:xfrm>
          <a:prstGeom prst="rect">
            <a:avLst/>
          </a:prstGeom>
          <a:noFill/>
          <a:ln/>
        </p:spPr>
        <p:txBody>
          <a:bodyPr wrap="square" lIns="0" tIns="0" rIns="0" bIns="0" rtlCol="0" anchor="t"/>
          <a:lstStyle/>
          <a:p>
            <a:pPr indent="0" marL="0">
              <a:buNone/>
            </a:pPr>
            <a:r>
              <a:rPr lang="en-US" sz="2000" dirty="0">
                <a:solidFill>
                  <a:srgbClr val="1E4A26"/>
                </a:solidFill>
                <a:latin typeface="Georgia" pitchFamily="34" charset="0"/>
                <a:ea typeface="Georgia" pitchFamily="34" charset="-122"/>
                <a:cs typeface="Georgia" pitchFamily="34" charset="-120"/>
              </a:rPr>
              <a:t>Incident og problem</a:t>
            </a:r>
            <a:endParaRPr lang="en-US" sz="2000" dirty="0"/>
          </a:p>
        </p:txBody>
      </p:sp>
      <p:sp>
        <p:nvSpPr>
          <p:cNvPr id="23" name="Text 20"/>
          <p:cNvSpPr txBox="1"/>
          <p:nvPr/>
        </p:nvSpPr>
        <p:spPr>
          <a:xfrm>
            <a:off x="6575908"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får servicen op</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Problem fjerner årsagen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kan lukkes, selvom problemet er åbent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Known errors: næste løses hurtigere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5</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De fire dimensioner</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6</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1900" i="1" dirty="0">
                <a:solidFill>
                  <a:srgbClr val="2F6B3A"/>
                </a:solidFill>
                <a:latin typeface="Georgia" pitchFamily="34" charset="0"/>
                <a:ea typeface="Georgia" pitchFamily="34" charset="-122"/>
                <a:cs typeface="Georgia" pitchFamily="34" charset="-120"/>
              </a:rPr>
              <a:t>En service skal ses fra fire sider. Mangler én, går det galt.</a:t>
            </a:r>
            <a:endParaRPr lang="en-US" sz="1900" dirty="0"/>
          </a:p>
        </p:txBody>
      </p:sp>
      <p:sp>
        <p:nvSpPr>
          <p:cNvPr id="8" name="Shape 5"/>
          <p:cNvSpPr/>
          <p:nvPr/>
        </p:nvSpPr>
        <p:spPr>
          <a:xfrm>
            <a:off x="548640" y="2011680"/>
            <a:ext cx="5387188" cy="1600200"/>
          </a:xfrm>
          <a:prstGeom prst="roundRect">
            <a:avLst>
              <a:gd name="adj" fmla="val 6857"/>
            </a:avLst>
          </a:prstGeom>
          <a:solidFill>
            <a:srgbClr val="FCFDFD"/>
          </a:solidFill>
          <a:ln w="9525">
            <a:solidFill>
              <a:srgbClr val="DDE4E6"/>
            </a:solidFill>
            <a:prstDash val="solid"/>
          </a:ln>
        </p:spPr>
      </p:sp>
      <p:sp>
        <p:nvSpPr>
          <p:cNvPr id="9" name="Shape 6"/>
          <p:cNvSpPr/>
          <p:nvPr/>
        </p:nvSpPr>
        <p:spPr>
          <a:xfrm>
            <a:off x="777240" y="2240280"/>
            <a:ext cx="502920" cy="502920"/>
          </a:xfrm>
          <a:prstGeom prst="ellipse">
            <a:avLst/>
          </a:prstGeom>
          <a:solidFill>
            <a:srgbClr val="2F6B3A"/>
          </a:solidFill>
          <a:ln w="12700">
            <a:solidFill>
              <a:srgbClr val="2F6B3A"/>
            </a:solidFill>
            <a:prstDash val="solid"/>
          </a:ln>
        </p:spPr>
      </p:sp>
      <p:pic>
        <p:nvPicPr>
          <p:cNvPr id="10" name="Image 0" descr="preencoded.png">    </p:cNvPr>
          <p:cNvPicPr>
            <a:picLocks noChangeAspect="1"/>
          </p:cNvPicPr>
          <p:nvPr/>
        </p:nvPicPr>
        <p:blipFill>
          <a:blip r:embed="rId1"/>
          <a:stretch>
            <a:fillRect/>
          </a:stretch>
        </p:blipFill>
        <p:spPr>
          <a:xfrm>
            <a:off x="897941" y="2360981"/>
            <a:ext cx="261518" cy="261518"/>
          </a:xfrm>
          <a:prstGeom prst="rect">
            <a:avLst/>
          </a:prstGeom>
        </p:spPr>
      </p:pic>
      <p:sp>
        <p:nvSpPr>
          <p:cNvPr id="11" name="Text 7"/>
          <p:cNvSpPr txBox="1"/>
          <p:nvPr/>
        </p:nvSpPr>
        <p:spPr>
          <a:xfrm>
            <a:off x="1417320"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Organisationer og mennesker</a:t>
            </a:r>
            <a:endParaRPr lang="en-US" sz="1700" dirty="0"/>
          </a:p>
        </p:txBody>
      </p:sp>
      <p:sp>
        <p:nvSpPr>
          <p:cNvPr id="12" name="Text 8"/>
          <p:cNvSpPr txBox="1"/>
          <p:nvPr/>
        </p:nvSpPr>
        <p:spPr>
          <a:xfrm>
            <a:off x="822960"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R&amp;D i byen, salg på fabrikken: os og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Klare roller, sig det tidligt, når noget går galt</a:t>
            </a:r>
            <a:endParaRPr lang="en-US" sz="1400" dirty="0"/>
          </a:p>
        </p:txBody>
      </p:sp>
      <p:sp>
        <p:nvSpPr>
          <p:cNvPr id="13" name="Shape 9"/>
          <p:cNvSpPr/>
          <p:nvPr/>
        </p:nvSpPr>
        <p:spPr>
          <a:xfrm>
            <a:off x="6255868" y="2011680"/>
            <a:ext cx="5387188" cy="1600200"/>
          </a:xfrm>
          <a:prstGeom prst="roundRect">
            <a:avLst>
              <a:gd name="adj" fmla="val 6857"/>
            </a:avLst>
          </a:prstGeom>
          <a:solidFill>
            <a:srgbClr val="FCFDFD"/>
          </a:solidFill>
          <a:ln w="9525">
            <a:solidFill>
              <a:srgbClr val="DDE4E6"/>
            </a:solidFill>
            <a:prstDash val="solid"/>
          </a:ln>
        </p:spPr>
      </p:sp>
      <p:sp>
        <p:nvSpPr>
          <p:cNvPr id="14" name="Shape 10"/>
          <p:cNvSpPr/>
          <p:nvPr/>
        </p:nvSpPr>
        <p:spPr>
          <a:xfrm>
            <a:off x="6484468" y="2240280"/>
            <a:ext cx="502920" cy="502920"/>
          </a:xfrm>
          <a:prstGeom prst="ellipse">
            <a:avLst/>
          </a:prstGeom>
          <a:solidFill>
            <a:srgbClr val="2F6B3A"/>
          </a:solidFill>
          <a:ln w="12700">
            <a:solidFill>
              <a:srgbClr val="2F6B3A"/>
            </a:solidFill>
            <a:prstDash val="solid"/>
          </a:ln>
        </p:spPr>
      </p:sp>
      <p:pic>
        <p:nvPicPr>
          <p:cNvPr id="15" name="Image 1" descr="preencoded.png">    </p:cNvPr>
          <p:cNvPicPr>
            <a:picLocks noChangeAspect="1"/>
          </p:cNvPicPr>
          <p:nvPr/>
        </p:nvPicPr>
        <p:blipFill>
          <a:blip r:embed="rId2"/>
          <a:stretch>
            <a:fillRect/>
          </a:stretch>
        </p:blipFill>
        <p:spPr>
          <a:xfrm>
            <a:off x="6605168" y="2360981"/>
            <a:ext cx="261518" cy="261518"/>
          </a:xfrm>
          <a:prstGeom prst="rect">
            <a:avLst/>
          </a:prstGeom>
        </p:spPr>
      </p:pic>
      <p:sp>
        <p:nvSpPr>
          <p:cNvPr id="16" name="Text 11"/>
          <p:cNvSpPr txBox="1"/>
          <p:nvPr/>
        </p:nvSpPr>
        <p:spPr>
          <a:xfrm>
            <a:off x="7124548"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Information og teknologi</a:t>
            </a:r>
            <a:endParaRPr lang="en-US" sz="1700" dirty="0"/>
          </a:p>
        </p:txBody>
      </p:sp>
      <p:sp>
        <p:nvSpPr>
          <p:cNvPr id="17" name="Text 12"/>
          <p:cNvSpPr txBox="1"/>
          <p:nvPr/>
        </p:nvSpPr>
        <p:spPr>
          <a:xfrm>
            <a:off x="6530188"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Sensordata er kernen, landmanden ejer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Persondata: GDPR. Skal kunne vokse</a:t>
            </a:r>
            <a:endParaRPr lang="en-US" sz="1400" dirty="0"/>
          </a:p>
        </p:txBody>
      </p:sp>
      <p:sp>
        <p:nvSpPr>
          <p:cNvPr id="18" name="Shape 13"/>
          <p:cNvSpPr/>
          <p:nvPr/>
        </p:nvSpPr>
        <p:spPr>
          <a:xfrm>
            <a:off x="548640" y="3794760"/>
            <a:ext cx="5387188" cy="1600200"/>
          </a:xfrm>
          <a:prstGeom prst="roundRect">
            <a:avLst>
              <a:gd name="adj" fmla="val 6857"/>
            </a:avLst>
          </a:prstGeom>
          <a:solidFill>
            <a:srgbClr val="FCFDFD"/>
          </a:solidFill>
          <a:ln w="9525">
            <a:solidFill>
              <a:srgbClr val="DDE4E6"/>
            </a:solidFill>
            <a:prstDash val="solid"/>
          </a:ln>
        </p:spPr>
      </p:sp>
      <p:sp>
        <p:nvSpPr>
          <p:cNvPr id="19" name="Shape 14"/>
          <p:cNvSpPr/>
          <p:nvPr/>
        </p:nvSpPr>
        <p:spPr>
          <a:xfrm>
            <a:off x="777240" y="4023360"/>
            <a:ext cx="502920" cy="502920"/>
          </a:xfrm>
          <a:prstGeom prst="ellipse">
            <a:avLst/>
          </a:prstGeom>
          <a:solidFill>
            <a:srgbClr val="2F6B3A"/>
          </a:solidFill>
          <a:ln w="12700">
            <a:solidFill>
              <a:srgbClr val="2F6B3A"/>
            </a:solidFill>
            <a:prstDash val="solid"/>
          </a:ln>
        </p:spPr>
      </p:sp>
      <p:pic>
        <p:nvPicPr>
          <p:cNvPr id="20" name="Image 2" descr="preencoded.png">    </p:cNvPr>
          <p:cNvPicPr>
            <a:picLocks noChangeAspect="1"/>
          </p:cNvPicPr>
          <p:nvPr/>
        </p:nvPicPr>
        <p:blipFill>
          <a:blip r:embed="rId3"/>
          <a:stretch>
            <a:fillRect/>
          </a:stretch>
        </p:blipFill>
        <p:spPr>
          <a:xfrm>
            <a:off x="897941" y="4144061"/>
            <a:ext cx="261518" cy="261518"/>
          </a:xfrm>
          <a:prstGeom prst="rect">
            <a:avLst/>
          </a:prstGeom>
        </p:spPr>
      </p:pic>
      <p:sp>
        <p:nvSpPr>
          <p:cNvPr id="21" name="Text 15"/>
          <p:cNvSpPr txBox="1"/>
          <p:nvPr/>
        </p:nvSpPr>
        <p:spPr>
          <a:xfrm>
            <a:off x="1417320"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Partnere og leverandører</a:t>
            </a:r>
            <a:endParaRPr lang="en-US" sz="1700" dirty="0"/>
          </a:p>
        </p:txBody>
      </p:sp>
      <p:sp>
        <p:nvSpPr>
          <p:cNvPr id="22" name="Text 16"/>
          <p:cNvSpPr txBox="1"/>
          <p:nvPr/>
        </p:nvSpPr>
        <p:spPr>
          <a:xfrm>
            <a:off x="822960"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Hosting, sensorleverandører, teleselskaber</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Er de nede, er Green-IT nede: failover</a:t>
            </a:r>
            <a:endParaRPr lang="en-US" sz="1400" dirty="0"/>
          </a:p>
        </p:txBody>
      </p:sp>
      <p:sp>
        <p:nvSpPr>
          <p:cNvPr id="23" name="Shape 17"/>
          <p:cNvSpPr/>
          <p:nvPr/>
        </p:nvSpPr>
        <p:spPr>
          <a:xfrm>
            <a:off x="6255868" y="3794760"/>
            <a:ext cx="5387188" cy="1600200"/>
          </a:xfrm>
          <a:prstGeom prst="roundRect">
            <a:avLst>
              <a:gd name="adj" fmla="val 6857"/>
            </a:avLst>
          </a:prstGeom>
          <a:solidFill>
            <a:srgbClr val="FCFDFD"/>
          </a:solidFill>
          <a:ln w="9525">
            <a:solidFill>
              <a:srgbClr val="DDE4E6"/>
            </a:solidFill>
            <a:prstDash val="solid"/>
          </a:ln>
        </p:spPr>
      </p:sp>
      <p:sp>
        <p:nvSpPr>
          <p:cNvPr id="24" name="Shape 18"/>
          <p:cNvSpPr/>
          <p:nvPr/>
        </p:nvSpPr>
        <p:spPr>
          <a:xfrm>
            <a:off x="6484468" y="4023360"/>
            <a:ext cx="502920" cy="502920"/>
          </a:xfrm>
          <a:prstGeom prst="ellipse">
            <a:avLst/>
          </a:prstGeom>
          <a:solidFill>
            <a:srgbClr val="2F6B3A"/>
          </a:solidFill>
          <a:ln w="12700">
            <a:solidFill>
              <a:srgbClr val="2F6B3A"/>
            </a:solidFill>
            <a:prstDash val="solid"/>
          </a:ln>
        </p:spPr>
      </p:sp>
      <p:pic>
        <p:nvPicPr>
          <p:cNvPr id="25" name="Image 3" descr="preencoded.png">    </p:cNvPr>
          <p:cNvPicPr>
            <a:picLocks noChangeAspect="1"/>
          </p:cNvPicPr>
          <p:nvPr/>
        </p:nvPicPr>
        <p:blipFill>
          <a:blip r:embed="rId4"/>
          <a:stretch>
            <a:fillRect/>
          </a:stretch>
        </p:blipFill>
        <p:spPr>
          <a:xfrm>
            <a:off x="6605168" y="4144061"/>
            <a:ext cx="261518" cy="261518"/>
          </a:xfrm>
          <a:prstGeom prst="rect">
            <a:avLst/>
          </a:prstGeom>
        </p:spPr>
      </p:pic>
      <p:sp>
        <p:nvSpPr>
          <p:cNvPr id="26" name="Text 19"/>
          <p:cNvSpPr txBox="1"/>
          <p:nvPr/>
        </p:nvSpPr>
        <p:spPr>
          <a:xfrm>
            <a:off x="7124548"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Værdistrømme og processer</a:t>
            </a:r>
            <a:endParaRPr lang="en-US" sz="1700" dirty="0"/>
          </a:p>
        </p:txBody>
      </p:sp>
      <p:sp>
        <p:nvSpPr>
          <p:cNvPr id="27" name="Text 20"/>
          <p:cNvSpPr txBox="1"/>
          <p:nvPr/>
        </p:nvSpPr>
        <p:spPr>
          <a:xfrm>
            <a:off x="6530188"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Går på tværs af fabrikken og byen</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Sager venter i overgangene, faste processer</a:t>
            </a:r>
            <a:endParaRPr lang="en-US" sz="1400" dirty="0"/>
          </a:p>
        </p:txBody>
      </p:sp>
      <p:sp>
        <p:nvSpPr>
          <p:cNvPr id="28" name="Shape 21"/>
          <p:cNvSpPr/>
          <p:nvPr/>
        </p:nvSpPr>
        <p:spPr>
          <a:xfrm>
            <a:off x="548640" y="5669280"/>
            <a:ext cx="11094415" cy="548640"/>
          </a:xfrm>
          <a:prstGeom prst="roundRect">
            <a:avLst>
              <a:gd name="adj" fmla="val 20000"/>
            </a:avLst>
          </a:prstGeom>
          <a:solidFill>
            <a:srgbClr val="E9F4EA"/>
          </a:solidFill>
          <a:ln w="9525">
            <a:solidFill>
              <a:srgbClr val="A9D3B0"/>
            </a:solidFill>
            <a:prstDash val="solid"/>
          </a:ln>
        </p:spPr>
      </p:sp>
      <p:sp>
        <p:nvSpPr>
          <p:cNvPr id="29" name="Text 22"/>
          <p:cNvSpPr txBox="1"/>
          <p:nvPr/>
        </p:nvSpPr>
        <p:spPr>
          <a:xfrm>
            <a:off x="822960" y="5669280"/>
            <a:ext cx="10545775" cy="5486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Udefra (PESTLE)  </a:t>
            </a:r>
            <a:pPr indent="0" marL="0">
              <a:buNone/>
            </a:pPr>
            <a:r>
              <a:rPr lang="en-US" sz="1500" dirty="0">
                <a:solidFill>
                  <a:srgbClr val="1E4A26"/>
                </a:solidFill>
                <a:latin typeface="Arial" pitchFamily="34" charset="0"/>
                <a:ea typeface="Arial" pitchFamily="34" charset="-122"/>
                <a:cs typeface="Arial" pitchFamily="34" charset="-120"/>
              </a:rPr>
              <a:t>GDPR, NIS2 og krav om bæredygtighed</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Green-IT, Hans Petur</dc:title>
  <dc:subject>PptxGenJS Presentation</dc:subject>
  <dc:creator>Hans Petur vid Streym Hansen</dc:creator>
  <cp:lastModifiedBy>Hans Petur vid Streym Hansen</cp:lastModifiedBy>
  <cp:revision>1</cp:revision>
  <dcterms:created xsi:type="dcterms:W3CDTF">2026-10-08T17:35:00Z</dcterms:created>
  <dcterms:modified xsi:type="dcterms:W3CDTF">2026-10-08T17:35:00Z</dcterms:modified>
</cp:coreProperties>
</file>