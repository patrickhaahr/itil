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Jeg har opgave 3, 4 og 5. Først Service Value Chain, så incident og problem management, og til sidst de fire dimensioner.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Så hvad er en Service Value Chain? Det er de seks aktiviteter, der omdanner efterspørgsel og muligheder til værdi. De hedder plan, improve, engage, design og transition, obtain og build, og deliver og support.
 Det vigtige er, at aktiviteterne ikke er afdelinger. Engage sker fx både i salg og på de nye kontorer. Og fordi Green-IT er spredt ud på byen, fabrikken og snart Jylland, foreslår vi, at hver aktivitet får én ansvarlig. Så ryger der ikke opgaver ned mellem stederne.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gøre det konkret har vi i opgaven et eksempel med en svineproducent, der vil have staldovervågning. Først finder sælgeren ud af, hvad landmanden skal bruge. Det er engage. Så tilpasser R&amp;D løsningen, og det er design og transition. Fabrikken laver sensorerne, det er obtain og build. Derefter bliver løsningen testet og overdraget til drift, og det er design og transition igen. Værkstedet installerer, det er deliver og support. Efter en måned følger sælgeren op, så er vi i engage igen. Og det, vi lærer, gør det hurtigere næste gang. Det er improve.
 Pointen med eksemplet er, at det ikke er et samlebånd. Engage og design bruges to gange, og plan bruges slet ikke, fordi man bruger aktiviteterne efter behov. En sensorfejl kan fx gå direkte fra engage til deliver og support.
 Og hver aktivitet bidrager til værdien. I engage skaber vi værdien sammen med landmanden. Design og transition tester, før noget kommer i drift, og det beskytter den stabile drift. I deliver og support mærker kunden værdien hver dag. Og improve sørger for, at fejl bliver til forbedringer.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leder os over til opgave 4, for hvad gør man, når noget alligevel går galt? Det er incident management. En incident er en uplanlagt afbrydelse eller forringelse af en service, altså når noget går ned eller virker dårligere. Formålet er at få det op at køre igen hurtigst muligt. Incident management finder ikke årsagen. Det gør problem management, som jeg kommer til bagefter.
 Processen har fem trin: registrer, prioriter, diagnosticer, eskaler, og løs og luk. Prioriteten sættes ud fra, hvor slemt det er, og hvor meget det haster, og den bestemmer, hvor hurtigt det skal løses ifølge SLA'en. Hvis servicedesken ikke selv kan løse det, eskalerer de. L1 er servicedesken, L2 er specialisterne, og L3 er udviklerne i R&amp;D. For Green-IT er det vigtigt, at landmanden kun ringer ét sted hen, nemlig servicedesken, og at et fælles ticketsystem gør, at alle tre steder ser de samme sager.
 Vores eksempel er en kvægstald en sommernat, hvor sensorerne holder op med at sende data. Det er prioritet 1, fordi dyrene kan tage skade. L2 finder fejlen i gatewayen, altså boksen, der sender data videre, og en tekniker kører ud med en ny. Imens tjekker landmanden selv dyrene. Det er workarounden, en midlertidig løsning. Og hvis det rammer mange stalde på én gang, er det en major incident, som får sin egen leder.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 hvis den samme fejl bliver ved med at komme, er det ikke nok bare at genstarte. Så skal vi bruge problem management. Et problem er årsagen, eller den mulige årsag, til en eller flere incidents, og problem management finder den, så det ikke sker igen.
 Det sker i tre faser. Først problem identification, hvor vi finder problemet. Det kan være i incidents, der kommer igen, efter en major incident, eller før, fx fra R&amp;D's tests. Så problem control, hvor vi finder root cause, altså grundårsagen, og laver en workaround. Når vi kender årsagen, men ikke har løst den, hedder det en known error. Og til sidst error control, hvor den rigtige løsning skal igennem change control, før den kommer ud.
 Eksemplet i opgaven er en firmwareopdatering. Bagefter mister sensorerne på dyr på friland forbindelsen om natten, og det sker hos 15 kunder. Servicedesken genstarter gatewayen hver gang, men de ser mønstret og opretter et problem. R&amp;D finder så årsagen: firmwaren går i strømsparetilstand og vågner ikke ved svagt signal. Workarounden er at slå strømspar fra, og fejlen bliver registreret som en known error, så alle bruger den samme workaround. Den rettede firmware kommer så ud via change control.
 Så hvordan hænger de to sammen? Incident management får servicen op igen, og problem management fjerner årsagen. En incident kan godt lukkes, selvom problemet stadig er åbent. Og når servicedesken kender en known error, kan de løse den næste incident hurtigere.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Til sidst opgave 5, de fire dimensioner. De handler om, at det ikke er nok at have gode processer, for en service skal ses fra fire sider. Glemmer man én, går det galt. Og udenom ligger der ting udefra, som påvirker dem alle. Det hedder PESTLE, og for Green-IT er det fx GDPR, NIS2 og krav om bæredygtighed.
 Den første er organisationer og mennesker. Her er Green-ITs udfordring, at R&amp;D sidder i byen og salg sidder på fabrikken. Så kan der nemt opstå en os og dem-kultur, hvor man ikke taler sammen. Derfor skal Green-IT have klare roller og en kultur, hvor man tør sige det tidligt, når noget går galt.
 Den anden er information og teknologi. Sensordata er kernen i Green-ITs services, så det skal være klart, at landmanden ejer sine data, og at persondata er omfattet af GDPR. Og teknologien skal kunne vokse med, når de nye kontorer kommer.
 Den tredje er partnere og leverandører, fx hosting, sensorleverandører og teleselskaber. Green-IT er afhængig af dem, for når de er nede, er Green-IT også nede. Derfor skal de vigtigste dele have failover, altså en backup, der tager over.
 Den fjerde er værdistrømme og processer. Den hænger sammen med value chain fra opgave 3. Værdistrømmen går på tværs af fabrikken og byen, og det er, når sagerne skal fra det ene sted til det andet, at de ligger og venter. Faste processer sørger for, at alle steder arbejder på samme måde.
Og det var så min del. Så vil jeg give ordet videre til Patrick.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1A"/>
        </a:solidFill>
      </p:bgPr>
    </p:bg>
    <p:spTree>
      <p:nvGrpSpPr>
        <p:cNvPr id="1" name=""/>
        <p:cNvGrpSpPr/>
        <p:nvPr/>
      </p:nvGrpSpPr>
      <p:grpSpPr>
        <a:xfrm>
          <a:off x="0" y="0"/>
          <a:ext cx="0" cy="0"/>
          <a:chOff x="0" y="0"/>
          <a:chExt cx="0" cy="0"/>
        </a:xfrm>
      </p:grpSpPr>
      <p:sp>
        <p:nvSpPr>
          <p:cNvPr id="3" name="Text 0"/>
          <p:cNvSpPr txBox="1"/>
          <p:nvPr/>
        </p:nvSpPr>
        <p:spPr>
          <a:xfrm>
            <a:off x="685800" y="1188720"/>
            <a:ext cx="6400800" cy="274320"/>
          </a:xfrm>
          <a:prstGeom prst="rect">
            <a:avLst/>
          </a:prstGeom>
          <a:noFill/>
          <a:ln/>
        </p:spPr>
        <p:txBody>
          <a:bodyPr wrap="square" lIns="0" tIns="0" rIns="0" bIns="0" rtlCol="0" anchor="t"/>
          <a:lstStyle/>
          <a:p>
            <a:pPr indent="0" marL="0">
              <a:buNone/>
            </a:pPr>
            <a:r>
              <a:rPr lang="en-US" sz="1200" b="1" spc="200" kern="0" dirty="0">
                <a:solidFill>
                  <a:srgbClr val="A9D3B0"/>
                </a:solidFill>
                <a:latin typeface="Courier New" pitchFamily="34" charset="0"/>
                <a:ea typeface="Courier New" pitchFamily="34" charset="-122"/>
                <a:cs typeface="Courier New" pitchFamily="34" charset="-120"/>
              </a:rPr>
              <a:t>ITSM 1  ·  GREEN-IT CASE</a:t>
            </a:r>
            <a:endParaRPr lang="en-US" sz="1200" dirty="0"/>
          </a:p>
        </p:txBody>
      </p:sp>
      <p:sp>
        <p:nvSpPr>
          <p:cNvPr id="4" name="Text 1"/>
          <p:cNvSpPr txBox="1"/>
          <p:nvPr/>
        </p:nvSpPr>
        <p:spPr>
          <a:xfrm>
            <a:off x="685800" y="1600200"/>
            <a:ext cx="7315200" cy="1645920"/>
          </a:xfrm>
          <a:prstGeom prst="rect">
            <a:avLst/>
          </a:prstGeom>
          <a:noFill/>
          <a:ln/>
        </p:spPr>
        <p:txBody>
          <a:bodyPr wrap="square" lIns="0" tIns="0" rIns="0" bIns="0" rtlCol="0" anchor="t"/>
          <a:lstStyle/>
          <a:p>
            <a:pPr indent="0" marL="0">
              <a:buNone/>
            </a:pPr>
            <a:r>
              <a:rPr lang="en-US" sz="4400" dirty="0">
                <a:solidFill>
                  <a:srgbClr val="F5F8F8"/>
                </a:solidFill>
                <a:latin typeface="Georgia" pitchFamily="34" charset="0"/>
                <a:ea typeface="Georgia" pitchFamily="34" charset="-122"/>
                <a:cs typeface="Georgia" pitchFamily="34" charset="-120"/>
              </a:rPr>
              <a:t>Value chain, incidents og dimensioner</a:t>
            </a:r>
            <a:endParaRPr lang="en-US" sz="4400" dirty="0"/>
          </a:p>
        </p:txBody>
      </p:sp>
      <p:sp>
        <p:nvSpPr>
          <p:cNvPr id="5" name="Text 2"/>
          <p:cNvSpPr txBox="1"/>
          <p:nvPr/>
        </p:nvSpPr>
        <p:spPr>
          <a:xfrm>
            <a:off x="685800" y="5120640"/>
            <a:ext cx="6400800" cy="365760"/>
          </a:xfrm>
          <a:prstGeom prst="rect">
            <a:avLst/>
          </a:prstGeom>
          <a:noFill/>
          <a:ln/>
        </p:spPr>
        <p:txBody>
          <a:bodyPr wrap="square" lIns="0" tIns="0" rIns="0" bIns="0" rtlCol="0" anchor="t"/>
          <a:lstStyle/>
          <a:p>
            <a:pPr indent="0" marL="0">
              <a:buNone/>
            </a:pPr>
            <a:r>
              <a:rPr lang="en-US" sz="1800" dirty="0">
                <a:solidFill>
                  <a:srgbClr val="A9D3B0"/>
                </a:solidFill>
                <a:latin typeface="Arial" pitchFamily="34" charset="0"/>
                <a:ea typeface="Arial" pitchFamily="34" charset="-122"/>
                <a:cs typeface="Arial" pitchFamily="34" charset="-120"/>
              </a:rPr>
              <a:t>Hans Petur</a:t>
            </a:r>
            <a:endParaRPr lang="en-US" sz="1800" dirty="0"/>
          </a:p>
        </p:txBody>
      </p:sp>
      <p:sp>
        <p:nvSpPr>
          <p:cNvPr id="6" name="Shape 3"/>
          <p:cNvSpPr/>
          <p:nvPr/>
        </p:nvSpPr>
        <p:spPr>
          <a:xfrm>
            <a:off x="8412480" y="1371600"/>
            <a:ext cx="640080" cy="640080"/>
          </a:xfrm>
          <a:prstGeom prst="ellipse">
            <a:avLst/>
          </a:prstGeom>
          <a:solidFill>
            <a:srgbClr val="22302A"/>
          </a:solidFill>
          <a:ln w="12700">
            <a:solidFill>
              <a:srgbClr val="22302A"/>
            </a:solidFill>
            <a:prstDash val="solid"/>
          </a:ln>
        </p:spPr>
      </p:sp>
      <p:pic>
        <p:nvPicPr>
          <p:cNvPr id="7" name="Image 0" descr="preencoded.png">    </p:cNvPr>
          <p:cNvPicPr>
            <a:picLocks noChangeAspect="1"/>
          </p:cNvPicPr>
          <p:nvPr/>
        </p:nvPicPr>
        <p:blipFill>
          <a:blip r:embed="rId1"/>
          <a:stretch>
            <a:fillRect/>
          </a:stretch>
        </p:blipFill>
        <p:spPr>
          <a:xfrm>
            <a:off x="8566099" y="1525219"/>
            <a:ext cx="332842" cy="332842"/>
          </a:xfrm>
          <a:prstGeom prst="rect">
            <a:avLst/>
          </a:prstGeom>
        </p:spPr>
      </p:pic>
      <p:sp>
        <p:nvSpPr>
          <p:cNvPr id="8" name="Text 4"/>
          <p:cNvSpPr txBox="1"/>
          <p:nvPr/>
        </p:nvSpPr>
        <p:spPr>
          <a:xfrm>
            <a:off x="9235440" y="1371600"/>
            <a:ext cx="2560320" cy="274320"/>
          </a:xfrm>
          <a:prstGeom prst="rect">
            <a:avLst/>
          </a:prstGeom>
          <a:noFill/>
          <a:ln/>
        </p:spPr>
        <p:txBody>
          <a:bodyPr wrap="square" lIns="0" tIns="0" rIns="0" bIns="0" rtlCol="0" anchor="t"/>
          <a:lstStyle/>
          <a:p>
            <a:pPr indent="0" marL="0">
              <a:buNone/>
            </a:pPr>
            <a:r>
              <a:rPr lang="en-US" sz="1100" b="1" dirty="0">
                <a:solidFill>
                  <a:srgbClr val="A9D3B0"/>
                </a:solidFill>
                <a:latin typeface="Courier New" pitchFamily="34" charset="0"/>
                <a:ea typeface="Courier New" pitchFamily="34" charset="-122"/>
                <a:cs typeface="Courier New" pitchFamily="34" charset="-120"/>
              </a:rPr>
              <a:t>Opgave 3</a:t>
            </a:r>
            <a:endParaRPr lang="en-US" sz="1100" dirty="0"/>
          </a:p>
        </p:txBody>
      </p:sp>
      <p:sp>
        <p:nvSpPr>
          <p:cNvPr id="9" name="Text 5"/>
          <p:cNvSpPr txBox="1"/>
          <p:nvPr/>
        </p:nvSpPr>
        <p:spPr>
          <a:xfrm>
            <a:off x="9235440" y="1645920"/>
            <a:ext cx="2377440" cy="365760"/>
          </a:xfrm>
          <a:prstGeom prst="rect">
            <a:avLst/>
          </a:prstGeom>
          <a:noFill/>
          <a:ln/>
        </p:spPr>
        <p:txBody>
          <a:bodyPr wrap="square" lIns="0" tIns="0" rIns="0" bIns="0" rtlCol="0" anchor="t"/>
          <a:lstStyle/>
          <a:p>
            <a:pPr indent="0" marL="0">
              <a:buNone/>
            </a:pPr>
            <a:r>
              <a:rPr lang="en-US" sz="1700" dirty="0">
                <a:solidFill>
                  <a:srgbClr val="F5F8F8"/>
                </a:solidFill>
                <a:latin typeface="Arial" pitchFamily="34" charset="0"/>
                <a:ea typeface="Arial" pitchFamily="34" charset="-122"/>
                <a:cs typeface="Arial" pitchFamily="34" charset="-120"/>
              </a:rPr>
              <a:t>Service Value Chain</a:t>
            </a:r>
            <a:endParaRPr lang="en-US" sz="1700" dirty="0"/>
          </a:p>
        </p:txBody>
      </p:sp>
      <p:sp>
        <p:nvSpPr>
          <p:cNvPr id="10" name="Shape 6"/>
          <p:cNvSpPr/>
          <p:nvPr/>
        </p:nvSpPr>
        <p:spPr>
          <a:xfrm>
            <a:off x="8412480" y="2377440"/>
            <a:ext cx="640080" cy="640080"/>
          </a:xfrm>
          <a:prstGeom prst="ellipse">
            <a:avLst/>
          </a:prstGeom>
          <a:solidFill>
            <a:srgbClr val="22302A"/>
          </a:solidFill>
          <a:ln w="12700">
            <a:solidFill>
              <a:srgbClr val="22302A"/>
            </a:solidFill>
            <a:prstDash val="solid"/>
          </a:ln>
        </p:spPr>
      </p:sp>
      <p:pic>
        <p:nvPicPr>
          <p:cNvPr id="11" name="Image 1" descr="preencoded.png">    </p:cNvPr>
          <p:cNvPicPr>
            <a:picLocks noChangeAspect="1"/>
          </p:cNvPicPr>
          <p:nvPr/>
        </p:nvPicPr>
        <p:blipFill>
          <a:blip r:embed="rId2"/>
          <a:stretch>
            <a:fillRect/>
          </a:stretch>
        </p:blipFill>
        <p:spPr>
          <a:xfrm>
            <a:off x="8566099" y="2531059"/>
            <a:ext cx="332842" cy="332842"/>
          </a:xfrm>
          <a:prstGeom prst="rect">
            <a:avLst/>
          </a:prstGeom>
        </p:spPr>
      </p:pic>
      <p:sp>
        <p:nvSpPr>
          <p:cNvPr id="12" name="Text 7"/>
          <p:cNvSpPr txBox="1"/>
          <p:nvPr/>
        </p:nvSpPr>
        <p:spPr>
          <a:xfrm>
            <a:off x="9235440" y="2377440"/>
            <a:ext cx="2560320" cy="274320"/>
          </a:xfrm>
          <a:prstGeom prst="rect">
            <a:avLst/>
          </a:prstGeom>
          <a:noFill/>
          <a:ln/>
        </p:spPr>
        <p:txBody>
          <a:bodyPr wrap="square" lIns="0" tIns="0" rIns="0" bIns="0" rtlCol="0" anchor="t"/>
          <a:lstStyle/>
          <a:p>
            <a:pPr indent="0" marL="0">
              <a:buNone/>
            </a:pPr>
            <a:r>
              <a:rPr lang="en-US" sz="1100" b="1" dirty="0">
                <a:solidFill>
                  <a:srgbClr val="A9D3B0"/>
                </a:solidFill>
                <a:latin typeface="Courier New" pitchFamily="34" charset="0"/>
                <a:ea typeface="Courier New" pitchFamily="34" charset="-122"/>
                <a:cs typeface="Courier New" pitchFamily="34" charset="-120"/>
              </a:rPr>
              <a:t>Opgave 4</a:t>
            </a:r>
            <a:endParaRPr lang="en-US" sz="1100" dirty="0"/>
          </a:p>
        </p:txBody>
      </p:sp>
      <p:sp>
        <p:nvSpPr>
          <p:cNvPr id="13" name="Text 8"/>
          <p:cNvSpPr txBox="1"/>
          <p:nvPr/>
        </p:nvSpPr>
        <p:spPr>
          <a:xfrm>
            <a:off x="9235440" y="2651760"/>
            <a:ext cx="2377440" cy="365760"/>
          </a:xfrm>
          <a:prstGeom prst="rect">
            <a:avLst/>
          </a:prstGeom>
          <a:noFill/>
          <a:ln/>
        </p:spPr>
        <p:txBody>
          <a:bodyPr wrap="square" lIns="0" tIns="0" rIns="0" bIns="0" rtlCol="0" anchor="t"/>
          <a:lstStyle/>
          <a:p>
            <a:pPr indent="0" marL="0">
              <a:buNone/>
            </a:pPr>
            <a:r>
              <a:rPr lang="en-US" sz="1700" dirty="0">
                <a:solidFill>
                  <a:srgbClr val="F5F8F8"/>
                </a:solidFill>
                <a:latin typeface="Arial" pitchFamily="34" charset="0"/>
                <a:ea typeface="Arial" pitchFamily="34" charset="-122"/>
                <a:cs typeface="Arial" pitchFamily="34" charset="-120"/>
              </a:rPr>
              <a:t>Incident management</a:t>
            </a:r>
            <a:endParaRPr lang="en-US" sz="1700" dirty="0"/>
          </a:p>
        </p:txBody>
      </p:sp>
      <p:sp>
        <p:nvSpPr>
          <p:cNvPr id="14" name="Shape 9"/>
          <p:cNvSpPr/>
          <p:nvPr/>
        </p:nvSpPr>
        <p:spPr>
          <a:xfrm>
            <a:off x="8412480" y="3383280"/>
            <a:ext cx="640080" cy="640080"/>
          </a:xfrm>
          <a:prstGeom prst="ellipse">
            <a:avLst/>
          </a:prstGeom>
          <a:solidFill>
            <a:srgbClr val="22302A"/>
          </a:solidFill>
          <a:ln w="12700">
            <a:solidFill>
              <a:srgbClr val="22302A"/>
            </a:solidFill>
            <a:prstDash val="solid"/>
          </a:ln>
        </p:spPr>
      </p:sp>
      <p:pic>
        <p:nvPicPr>
          <p:cNvPr id="15" name="Image 2" descr="preencoded.png">    </p:cNvPr>
          <p:cNvPicPr>
            <a:picLocks noChangeAspect="1"/>
          </p:cNvPicPr>
          <p:nvPr/>
        </p:nvPicPr>
        <p:blipFill>
          <a:blip r:embed="rId3"/>
          <a:stretch>
            <a:fillRect/>
          </a:stretch>
        </p:blipFill>
        <p:spPr>
          <a:xfrm>
            <a:off x="8566099" y="3536899"/>
            <a:ext cx="332842" cy="332842"/>
          </a:xfrm>
          <a:prstGeom prst="rect">
            <a:avLst/>
          </a:prstGeom>
        </p:spPr>
      </p:pic>
      <p:sp>
        <p:nvSpPr>
          <p:cNvPr id="16" name="Text 10"/>
          <p:cNvSpPr txBox="1"/>
          <p:nvPr/>
        </p:nvSpPr>
        <p:spPr>
          <a:xfrm>
            <a:off x="9235440" y="3383280"/>
            <a:ext cx="2560320" cy="274320"/>
          </a:xfrm>
          <a:prstGeom prst="rect">
            <a:avLst/>
          </a:prstGeom>
          <a:noFill/>
          <a:ln/>
        </p:spPr>
        <p:txBody>
          <a:bodyPr wrap="square" lIns="0" tIns="0" rIns="0" bIns="0" rtlCol="0" anchor="t"/>
          <a:lstStyle/>
          <a:p>
            <a:pPr indent="0" marL="0">
              <a:buNone/>
            </a:pPr>
            <a:r>
              <a:rPr lang="en-US" sz="1100" b="1" dirty="0">
                <a:solidFill>
                  <a:srgbClr val="A9D3B0"/>
                </a:solidFill>
                <a:latin typeface="Courier New" pitchFamily="34" charset="0"/>
                <a:ea typeface="Courier New" pitchFamily="34" charset="-122"/>
                <a:cs typeface="Courier New" pitchFamily="34" charset="-120"/>
              </a:rPr>
              <a:t>Opgave 4</a:t>
            </a:r>
            <a:endParaRPr lang="en-US" sz="1100" dirty="0"/>
          </a:p>
        </p:txBody>
      </p:sp>
      <p:sp>
        <p:nvSpPr>
          <p:cNvPr id="17" name="Text 11"/>
          <p:cNvSpPr txBox="1"/>
          <p:nvPr/>
        </p:nvSpPr>
        <p:spPr>
          <a:xfrm>
            <a:off x="9235440" y="3657600"/>
            <a:ext cx="2377440" cy="365760"/>
          </a:xfrm>
          <a:prstGeom prst="rect">
            <a:avLst/>
          </a:prstGeom>
          <a:noFill/>
          <a:ln/>
        </p:spPr>
        <p:txBody>
          <a:bodyPr wrap="square" lIns="0" tIns="0" rIns="0" bIns="0" rtlCol="0" anchor="t"/>
          <a:lstStyle/>
          <a:p>
            <a:pPr indent="0" marL="0">
              <a:buNone/>
            </a:pPr>
            <a:r>
              <a:rPr lang="en-US" sz="1700" dirty="0">
                <a:solidFill>
                  <a:srgbClr val="F5F8F8"/>
                </a:solidFill>
                <a:latin typeface="Arial" pitchFamily="34" charset="0"/>
                <a:ea typeface="Arial" pitchFamily="34" charset="-122"/>
                <a:cs typeface="Arial" pitchFamily="34" charset="-120"/>
              </a:rPr>
              <a:t>Problem management</a:t>
            </a:r>
            <a:endParaRPr lang="en-US" sz="1700" dirty="0"/>
          </a:p>
        </p:txBody>
      </p:sp>
      <p:sp>
        <p:nvSpPr>
          <p:cNvPr id="18" name="Shape 12"/>
          <p:cNvSpPr/>
          <p:nvPr/>
        </p:nvSpPr>
        <p:spPr>
          <a:xfrm>
            <a:off x="8412480" y="4389120"/>
            <a:ext cx="640080" cy="640080"/>
          </a:xfrm>
          <a:prstGeom prst="ellipse">
            <a:avLst/>
          </a:prstGeom>
          <a:solidFill>
            <a:srgbClr val="22302A"/>
          </a:solidFill>
          <a:ln w="12700">
            <a:solidFill>
              <a:srgbClr val="22302A"/>
            </a:solidFill>
            <a:prstDash val="solid"/>
          </a:ln>
        </p:spPr>
      </p:sp>
      <p:pic>
        <p:nvPicPr>
          <p:cNvPr id="19" name="Image 3" descr="preencoded.png">    </p:cNvPr>
          <p:cNvPicPr>
            <a:picLocks noChangeAspect="1"/>
          </p:cNvPicPr>
          <p:nvPr/>
        </p:nvPicPr>
        <p:blipFill>
          <a:blip r:embed="rId4"/>
          <a:stretch>
            <a:fillRect/>
          </a:stretch>
        </p:blipFill>
        <p:spPr>
          <a:xfrm>
            <a:off x="8566099" y="4542739"/>
            <a:ext cx="332842" cy="332842"/>
          </a:xfrm>
          <a:prstGeom prst="rect">
            <a:avLst/>
          </a:prstGeom>
        </p:spPr>
      </p:pic>
      <p:sp>
        <p:nvSpPr>
          <p:cNvPr id="20" name="Text 13"/>
          <p:cNvSpPr txBox="1"/>
          <p:nvPr/>
        </p:nvSpPr>
        <p:spPr>
          <a:xfrm>
            <a:off x="9235440" y="4389120"/>
            <a:ext cx="2560320" cy="274320"/>
          </a:xfrm>
          <a:prstGeom prst="rect">
            <a:avLst/>
          </a:prstGeom>
          <a:noFill/>
          <a:ln/>
        </p:spPr>
        <p:txBody>
          <a:bodyPr wrap="square" lIns="0" tIns="0" rIns="0" bIns="0" rtlCol="0" anchor="t"/>
          <a:lstStyle/>
          <a:p>
            <a:pPr indent="0" marL="0">
              <a:buNone/>
            </a:pPr>
            <a:r>
              <a:rPr lang="en-US" sz="1100" b="1" dirty="0">
                <a:solidFill>
                  <a:srgbClr val="A9D3B0"/>
                </a:solidFill>
                <a:latin typeface="Courier New" pitchFamily="34" charset="0"/>
                <a:ea typeface="Courier New" pitchFamily="34" charset="-122"/>
                <a:cs typeface="Courier New" pitchFamily="34" charset="-120"/>
              </a:rPr>
              <a:t>Opgave 5</a:t>
            </a:r>
            <a:endParaRPr lang="en-US" sz="1100" dirty="0"/>
          </a:p>
        </p:txBody>
      </p:sp>
      <p:sp>
        <p:nvSpPr>
          <p:cNvPr id="21" name="Text 14"/>
          <p:cNvSpPr txBox="1"/>
          <p:nvPr/>
        </p:nvSpPr>
        <p:spPr>
          <a:xfrm>
            <a:off x="9235440" y="4663440"/>
            <a:ext cx="2377440" cy="365760"/>
          </a:xfrm>
          <a:prstGeom prst="rect">
            <a:avLst/>
          </a:prstGeom>
          <a:noFill/>
          <a:ln/>
        </p:spPr>
        <p:txBody>
          <a:bodyPr wrap="square" lIns="0" tIns="0" rIns="0" bIns="0" rtlCol="0" anchor="t"/>
          <a:lstStyle/>
          <a:p>
            <a:pPr indent="0" marL="0">
              <a:buNone/>
            </a:pPr>
            <a:r>
              <a:rPr lang="en-US" sz="1700" dirty="0">
                <a:solidFill>
                  <a:srgbClr val="F5F8F8"/>
                </a:solidFill>
                <a:latin typeface="Arial" pitchFamily="34" charset="0"/>
                <a:ea typeface="Arial" pitchFamily="34" charset="-122"/>
                <a:cs typeface="Arial" pitchFamily="34" charset="-120"/>
              </a:rPr>
              <a:t>De fire dimensioner</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2F6B3A"/>
                </a:solidFill>
                <a:latin typeface="Courier New" pitchFamily="34" charset="0"/>
                <a:ea typeface="Courier New" pitchFamily="34" charset="-122"/>
                <a:cs typeface="Courier New" pitchFamily="34" charset="-120"/>
              </a:rPr>
              <a:t>OPGAVE 3</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dirty="0">
                <a:solidFill>
                  <a:srgbClr val="17221A"/>
                </a:solidFill>
                <a:latin typeface="Georgia" pitchFamily="34" charset="0"/>
                <a:ea typeface="Georgia" pitchFamily="34" charset="-122"/>
                <a:cs typeface="Georgia" pitchFamily="34" charset="-120"/>
              </a:rPr>
              <a:t>Service Value Chain</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dirty="0">
                <a:solidFill>
                  <a:srgbClr val="526066"/>
                </a:solidFill>
                <a:latin typeface="Arial" pitchFamily="34" charset="0"/>
                <a:ea typeface="Arial" pitchFamily="34" charset="-122"/>
                <a:cs typeface="Arial" pitchFamily="34" charset="-120"/>
              </a:rPr>
              <a:t>Hans Petur  ·  Green-IT  ·  ITSM 1</a:t>
            </a:r>
            <a:endParaRPr lang="en-US" sz="1000" dirty="0"/>
          </a:p>
        </p:txBody>
      </p:sp>
      <p:sp>
        <p:nvSpPr>
          <p:cNvPr id="5" name="Text 3"/>
          <p:cNvSpPr txBox="1"/>
          <p:nvPr/>
        </p:nvSpPr>
        <p:spPr>
          <a:xfrm>
            <a:off x="10728655" y="6419088"/>
            <a:ext cx="914400" cy="228600"/>
          </a:xfrm>
          <a:prstGeom prst="rect">
            <a:avLst/>
          </a:prstGeom>
          <a:noFill/>
          <a:ln/>
        </p:spPr>
        <p:txBody>
          <a:bodyPr wrap="square" lIns="0" tIns="0" rIns="0" bIns="0" rtlCol="0" anchor="t"/>
          <a:lstStyle/>
          <a:p>
            <a:pPr algn="r" indent="0" marL="0">
              <a:buNone/>
            </a:pPr>
            <a:r>
              <a:rPr lang="en-US" sz="1000" dirty="0">
                <a:solidFill>
                  <a:srgbClr val="526066"/>
                </a:solidFill>
                <a:latin typeface="Arial" pitchFamily="34" charset="0"/>
                <a:ea typeface="Arial" pitchFamily="34" charset="-122"/>
                <a:cs typeface="Arial" pitchFamily="34" charset="-120"/>
              </a:rPr>
              <a:t>2</a:t>
            </a:r>
            <a:endParaRPr lang="en-US" sz="1000" dirty="0"/>
          </a:p>
        </p:txBody>
      </p:sp>
      <p:sp>
        <p:nvSpPr>
          <p:cNvPr id="7" name="Text 4"/>
          <p:cNvSpPr txBox="1"/>
          <p:nvPr/>
        </p:nvSpPr>
        <p:spPr>
          <a:xfrm>
            <a:off x="548640" y="1463040"/>
            <a:ext cx="11094415" cy="411480"/>
          </a:xfrm>
          <a:prstGeom prst="rect">
            <a:avLst/>
          </a:prstGeom>
          <a:noFill/>
          <a:ln/>
        </p:spPr>
        <p:txBody>
          <a:bodyPr wrap="square" lIns="0" tIns="0" rIns="0" bIns="0" rtlCol="0" anchor="t"/>
          <a:lstStyle/>
          <a:p>
            <a:pPr indent="0" marL="0">
              <a:buNone/>
            </a:pPr>
            <a:r>
              <a:rPr lang="en-US" sz="2000" i="1" dirty="0">
                <a:solidFill>
                  <a:srgbClr val="2F6B3A"/>
                </a:solidFill>
                <a:latin typeface="Georgia" pitchFamily="34" charset="0"/>
                <a:ea typeface="Georgia" pitchFamily="34" charset="-122"/>
                <a:cs typeface="Georgia" pitchFamily="34" charset="-120"/>
              </a:rPr>
              <a:t>6 aktiviteter, der omdanner efterspørgsel og muligheder til værdi</a:t>
            </a:r>
            <a:endParaRPr lang="en-US" sz="2000" dirty="0"/>
          </a:p>
        </p:txBody>
      </p:sp>
      <p:sp>
        <p:nvSpPr>
          <p:cNvPr id="8" name="Shape 5"/>
          <p:cNvSpPr/>
          <p:nvPr/>
        </p:nvSpPr>
        <p:spPr>
          <a:xfrm>
            <a:off x="548640" y="2057400"/>
            <a:ext cx="3515258" cy="1463040"/>
          </a:xfrm>
          <a:prstGeom prst="roundRect">
            <a:avLst>
              <a:gd name="adj" fmla="val 7500"/>
            </a:avLst>
          </a:prstGeom>
          <a:solidFill>
            <a:srgbClr val="FCFDFD"/>
          </a:solidFill>
          <a:ln w="9525">
            <a:solidFill>
              <a:srgbClr val="DDE4E6"/>
            </a:solidFill>
            <a:prstDash val="solid"/>
          </a:ln>
        </p:spPr>
      </p:sp>
      <p:sp>
        <p:nvSpPr>
          <p:cNvPr id="9" name="Shape 6"/>
          <p:cNvSpPr/>
          <p:nvPr/>
        </p:nvSpPr>
        <p:spPr>
          <a:xfrm>
            <a:off x="777240" y="2286000"/>
            <a:ext cx="411480" cy="411480"/>
          </a:xfrm>
          <a:prstGeom prst="ellipse">
            <a:avLst/>
          </a:prstGeom>
          <a:solidFill>
            <a:srgbClr val="2F6B3A"/>
          </a:solidFill>
          <a:ln w="12700">
            <a:solidFill>
              <a:srgbClr val="2F6B3A"/>
            </a:solidFill>
            <a:prstDash val="solid"/>
          </a:ln>
        </p:spPr>
      </p:sp>
      <p:sp>
        <p:nvSpPr>
          <p:cNvPr id="10" name="Text 7"/>
          <p:cNvSpPr txBox="1"/>
          <p:nvPr/>
        </p:nvSpPr>
        <p:spPr>
          <a:xfrm>
            <a:off x="777240" y="22860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txBox="1"/>
          <p:nvPr/>
        </p:nvSpPr>
        <p:spPr>
          <a:xfrm>
            <a:off x="1325880" y="2258568"/>
            <a:ext cx="2600858" cy="45720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Plan</a:t>
            </a:r>
            <a:endParaRPr lang="en-US" sz="1700" dirty="0"/>
          </a:p>
        </p:txBody>
      </p:sp>
      <p:sp>
        <p:nvSpPr>
          <p:cNvPr id="12" name="Text 9"/>
          <p:cNvSpPr txBox="1"/>
          <p:nvPr/>
        </p:nvSpPr>
        <p:spPr>
          <a:xfrm>
            <a:off x="777240" y="2834640"/>
            <a:ext cx="3058058" cy="59436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Ledelsen: hvilke byer får kontor først</a:t>
            </a:r>
            <a:endParaRPr lang="en-US" sz="1400" dirty="0"/>
          </a:p>
        </p:txBody>
      </p:sp>
      <p:sp>
        <p:nvSpPr>
          <p:cNvPr id="13" name="Shape 10"/>
          <p:cNvSpPr/>
          <p:nvPr/>
        </p:nvSpPr>
        <p:spPr>
          <a:xfrm>
            <a:off x="4338218" y="2057400"/>
            <a:ext cx="3515258" cy="1463040"/>
          </a:xfrm>
          <a:prstGeom prst="roundRect">
            <a:avLst>
              <a:gd name="adj" fmla="val 7500"/>
            </a:avLst>
          </a:prstGeom>
          <a:solidFill>
            <a:srgbClr val="FCFDFD"/>
          </a:solidFill>
          <a:ln w="9525">
            <a:solidFill>
              <a:srgbClr val="DDE4E6"/>
            </a:solidFill>
            <a:prstDash val="solid"/>
          </a:ln>
        </p:spPr>
      </p:sp>
      <p:sp>
        <p:nvSpPr>
          <p:cNvPr id="14" name="Shape 11"/>
          <p:cNvSpPr/>
          <p:nvPr/>
        </p:nvSpPr>
        <p:spPr>
          <a:xfrm>
            <a:off x="4566818" y="2286000"/>
            <a:ext cx="411480" cy="411480"/>
          </a:xfrm>
          <a:prstGeom prst="ellipse">
            <a:avLst/>
          </a:prstGeom>
          <a:solidFill>
            <a:srgbClr val="2F6B3A"/>
          </a:solidFill>
          <a:ln w="12700">
            <a:solidFill>
              <a:srgbClr val="2F6B3A"/>
            </a:solidFill>
            <a:prstDash val="solid"/>
          </a:ln>
        </p:spPr>
      </p:sp>
      <p:sp>
        <p:nvSpPr>
          <p:cNvPr id="15" name="Text 12"/>
          <p:cNvSpPr txBox="1"/>
          <p:nvPr/>
        </p:nvSpPr>
        <p:spPr>
          <a:xfrm>
            <a:off x="4566818" y="22860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txBox="1"/>
          <p:nvPr/>
        </p:nvSpPr>
        <p:spPr>
          <a:xfrm>
            <a:off x="5115458" y="2258568"/>
            <a:ext cx="2600858" cy="45720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Improve</a:t>
            </a:r>
            <a:endParaRPr lang="en-US" sz="1700" dirty="0"/>
          </a:p>
        </p:txBody>
      </p:sp>
      <p:sp>
        <p:nvSpPr>
          <p:cNvPr id="17" name="Text 14"/>
          <p:cNvSpPr txBox="1"/>
          <p:nvPr/>
        </p:nvSpPr>
        <p:spPr>
          <a:xfrm>
            <a:off x="4566818" y="2834640"/>
            <a:ext cx="3058058" cy="59436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Gør det bedre, fx færre falske alarmer</a:t>
            </a:r>
            <a:endParaRPr lang="en-US" sz="1400" dirty="0"/>
          </a:p>
        </p:txBody>
      </p:sp>
      <p:sp>
        <p:nvSpPr>
          <p:cNvPr id="18" name="Shape 15"/>
          <p:cNvSpPr/>
          <p:nvPr/>
        </p:nvSpPr>
        <p:spPr>
          <a:xfrm>
            <a:off x="8127797" y="2057400"/>
            <a:ext cx="3515258" cy="1463040"/>
          </a:xfrm>
          <a:prstGeom prst="roundRect">
            <a:avLst>
              <a:gd name="adj" fmla="val 7500"/>
            </a:avLst>
          </a:prstGeom>
          <a:solidFill>
            <a:srgbClr val="FCFDFD"/>
          </a:solidFill>
          <a:ln w="9525">
            <a:solidFill>
              <a:srgbClr val="DDE4E6"/>
            </a:solidFill>
            <a:prstDash val="solid"/>
          </a:ln>
        </p:spPr>
      </p:sp>
      <p:sp>
        <p:nvSpPr>
          <p:cNvPr id="19" name="Shape 16"/>
          <p:cNvSpPr/>
          <p:nvPr/>
        </p:nvSpPr>
        <p:spPr>
          <a:xfrm>
            <a:off x="8356397" y="2286000"/>
            <a:ext cx="411480" cy="411480"/>
          </a:xfrm>
          <a:prstGeom prst="ellipse">
            <a:avLst/>
          </a:prstGeom>
          <a:solidFill>
            <a:srgbClr val="2F6B3A"/>
          </a:solidFill>
          <a:ln w="12700">
            <a:solidFill>
              <a:srgbClr val="2F6B3A"/>
            </a:solidFill>
            <a:prstDash val="solid"/>
          </a:ln>
        </p:spPr>
      </p:sp>
      <p:sp>
        <p:nvSpPr>
          <p:cNvPr id="20" name="Text 17"/>
          <p:cNvSpPr txBox="1"/>
          <p:nvPr/>
        </p:nvSpPr>
        <p:spPr>
          <a:xfrm>
            <a:off x="8356397" y="22860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txBox="1"/>
          <p:nvPr/>
        </p:nvSpPr>
        <p:spPr>
          <a:xfrm>
            <a:off x="8905037" y="2258568"/>
            <a:ext cx="2600858" cy="45720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Engage</a:t>
            </a:r>
            <a:endParaRPr lang="en-US" sz="1700" dirty="0"/>
          </a:p>
        </p:txBody>
      </p:sp>
      <p:sp>
        <p:nvSpPr>
          <p:cNvPr id="22" name="Text 19"/>
          <p:cNvSpPr txBox="1"/>
          <p:nvPr/>
        </p:nvSpPr>
        <p:spPr>
          <a:xfrm>
            <a:off x="8356397" y="2834640"/>
            <a:ext cx="3058058" cy="59436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Sker både i salg og på de nye kontorer</a:t>
            </a:r>
            <a:endParaRPr lang="en-US" sz="1400" dirty="0"/>
          </a:p>
        </p:txBody>
      </p:sp>
      <p:sp>
        <p:nvSpPr>
          <p:cNvPr id="23" name="Shape 20"/>
          <p:cNvSpPr/>
          <p:nvPr/>
        </p:nvSpPr>
        <p:spPr>
          <a:xfrm>
            <a:off x="548640" y="3749040"/>
            <a:ext cx="3515258" cy="1463040"/>
          </a:xfrm>
          <a:prstGeom prst="roundRect">
            <a:avLst>
              <a:gd name="adj" fmla="val 7500"/>
            </a:avLst>
          </a:prstGeom>
          <a:solidFill>
            <a:srgbClr val="FCFDFD"/>
          </a:solidFill>
          <a:ln w="9525">
            <a:solidFill>
              <a:srgbClr val="DDE4E6"/>
            </a:solidFill>
            <a:prstDash val="solid"/>
          </a:ln>
        </p:spPr>
      </p:sp>
      <p:sp>
        <p:nvSpPr>
          <p:cNvPr id="24" name="Shape 21"/>
          <p:cNvSpPr/>
          <p:nvPr/>
        </p:nvSpPr>
        <p:spPr>
          <a:xfrm>
            <a:off x="777240" y="3977640"/>
            <a:ext cx="411480" cy="411480"/>
          </a:xfrm>
          <a:prstGeom prst="ellipse">
            <a:avLst/>
          </a:prstGeom>
          <a:solidFill>
            <a:srgbClr val="2F6B3A"/>
          </a:solidFill>
          <a:ln w="12700">
            <a:solidFill>
              <a:srgbClr val="2F6B3A"/>
            </a:solidFill>
            <a:prstDash val="solid"/>
          </a:ln>
        </p:spPr>
      </p:sp>
      <p:sp>
        <p:nvSpPr>
          <p:cNvPr id="25" name="Text 22"/>
          <p:cNvSpPr txBox="1"/>
          <p:nvPr/>
        </p:nvSpPr>
        <p:spPr>
          <a:xfrm>
            <a:off x="777240" y="3977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txBox="1"/>
          <p:nvPr/>
        </p:nvSpPr>
        <p:spPr>
          <a:xfrm>
            <a:off x="1325880" y="3950208"/>
            <a:ext cx="2600858" cy="45720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Design &amp; transition</a:t>
            </a:r>
            <a:endParaRPr lang="en-US" sz="1700" dirty="0"/>
          </a:p>
        </p:txBody>
      </p:sp>
      <p:sp>
        <p:nvSpPr>
          <p:cNvPr id="27" name="Text 24"/>
          <p:cNvSpPr txBox="1"/>
          <p:nvPr/>
        </p:nvSpPr>
        <p:spPr>
          <a:xfrm>
            <a:off x="777240" y="4526280"/>
            <a:ext cx="3058058" cy="59436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R&amp;D designer, tester og overdrager til drift</a:t>
            </a:r>
            <a:endParaRPr lang="en-US" sz="1400" dirty="0"/>
          </a:p>
        </p:txBody>
      </p:sp>
      <p:sp>
        <p:nvSpPr>
          <p:cNvPr id="28" name="Shape 25"/>
          <p:cNvSpPr/>
          <p:nvPr/>
        </p:nvSpPr>
        <p:spPr>
          <a:xfrm>
            <a:off x="4338218" y="3749040"/>
            <a:ext cx="3515258" cy="1463040"/>
          </a:xfrm>
          <a:prstGeom prst="roundRect">
            <a:avLst>
              <a:gd name="adj" fmla="val 7500"/>
            </a:avLst>
          </a:prstGeom>
          <a:solidFill>
            <a:srgbClr val="FCFDFD"/>
          </a:solidFill>
          <a:ln w="9525">
            <a:solidFill>
              <a:srgbClr val="DDE4E6"/>
            </a:solidFill>
            <a:prstDash val="solid"/>
          </a:ln>
        </p:spPr>
      </p:sp>
      <p:sp>
        <p:nvSpPr>
          <p:cNvPr id="29" name="Shape 26"/>
          <p:cNvSpPr/>
          <p:nvPr/>
        </p:nvSpPr>
        <p:spPr>
          <a:xfrm>
            <a:off x="4566818" y="3977640"/>
            <a:ext cx="411480" cy="411480"/>
          </a:xfrm>
          <a:prstGeom prst="ellipse">
            <a:avLst/>
          </a:prstGeom>
          <a:solidFill>
            <a:srgbClr val="2F6B3A"/>
          </a:solidFill>
          <a:ln w="12700">
            <a:solidFill>
              <a:srgbClr val="2F6B3A"/>
            </a:solidFill>
            <a:prstDash val="solid"/>
          </a:ln>
        </p:spPr>
      </p:sp>
      <p:sp>
        <p:nvSpPr>
          <p:cNvPr id="30" name="Text 27"/>
          <p:cNvSpPr txBox="1"/>
          <p:nvPr/>
        </p:nvSpPr>
        <p:spPr>
          <a:xfrm>
            <a:off x="4566818" y="3977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1" name="Text 28"/>
          <p:cNvSpPr txBox="1"/>
          <p:nvPr/>
        </p:nvSpPr>
        <p:spPr>
          <a:xfrm>
            <a:off x="5115458" y="3950208"/>
            <a:ext cx="2600858" cy="45720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Obtain/build</a:t>
            </a:r>
            <a:endParaRPr lang="en-US" sz="1700" dirty="0"/>
          </a:p>
        </p:txBody>
      </p:sp>
      <p:sp>
        <p:nvSpPr>
          <p:cNvPr id="32" name="Text 29"/>
          <p:cNvSpPr txBox="1"/>
          <p:nvPr/>
        </p:nvSpPr>
        <p:spPr>
          <a:xfrm>
            <a:off x="4566818" y="4526280"/>
            <a:ext cx="3058058" cy="59436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Fabrikken laver sensorerne</a:t>
            </a:r>
            <a:endParaRPr lang="en-US" sz="1400" dirty="0"/>
          </a:p>
        </p:txBody>
      </p:sp>
      <p:sp>
        <p:nvSpPr>
          <p:cNvPr id="33" name="Shape 30"/>
          <p:cNvSpPr/>
          <p:nvPr/>
        </p:nvSpPr>
        <p:spPr>
          <a:xfrm>
            <a:off x="8127797" y="3749040"/>
            <a:ext cx="3515258" cy="1463040"/>
          </a:xfrm>
          <a:prstGeom prst="roundRect">
            <a:avLst>
              <a:gd name="adj" fmla="val 7500"/>
            </a:avLst>
          </a:prstGeom>
          <a:solidFill>
            <a:srgbClr val="FCFDFD"/>
          </a:solidFill>
          <a:ln w="9525">
            <a:solidFill>
              <a:srgbClr val="DDE4E6"/>
            </a:solidFill>
            <a:prstDash val="solid"/>
          </a:ln>
        </p:spPr>
      </p:sp>
      <p:sp>
        <p:nvSpPr>
          <p:cNvPr id="34" name="Shape 31"/>
          <p:cNvSpPr/>
          <p:nvPr/>
        </p:nvSpPr>
        <p:spPr>
          <a:xfrm>
            <a:off x="8356397" y="3977640"/>
            <a:ext cx="411480" cy="411480"/>
          </a:xfrm>
          <a:prstGeom prst="ellipse">
            <a:avLst/>
          </a:prstGeom>
          <a:solidFill>
            <a:srgbClr val="2F6B3A"/>
          </a:solidFill>
          <a:ln w="12700">
            <a:solidFill>
              <a:srgbClr val="2F6B3A"/>
            </a:solidFill>
            <a:prstDash val="solid"/>
          </a:ln>
        </p:spPr>
      </p:sp>
      <p:sp>
        <p:nvSpPr>
          <p:cNvPr id="35" name="Text 32"/>
          <p:cNvSpPr txBox="1"/>
          <p:nvPr/>
        </p:nvSpPr>
        <p:spPr>
          <a:xfrm>
            <a:off x="8356397" y="3977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6" name="Text 33"/>
          <p:cNvSpPr txBox="1"/>
          <p:nvPr/>
        </p:nvSpPr>
        <p:spPr>
          <a:xfrm>
            <a:off x="8905037" y="3950208"/>
            <a:ext cx="2600858" cy="45720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Deliver &amp; support</a:t>
            </a:r>
            <a:endParaRPr lang="en-US" sz="1700" dirty="0"/>
          </a:p>
        </p:txBody>
      </p:sp>
      <p:sp>
        <p:nvSpPr>
          <p:cNvPr id="37" name="Text 34"/>
          <p:cNvSpPr txBox="1"/>
          <p:nvPr/>
        </p:nvSpPr>
        <p:spPr>
          <a:xfrm>
            <a:off x="8356397" y="4526280"/>
            <a:ext cx="3058058" cy="59436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Værkstedet installerer, servicedesken hjælper</a:t>
            </a:r>
            <a:endParaRPr lang="en-US" sz="1400" dirty="0"/>
          </a:p>
        </p:txBody>
      </p:sp>
      <p:sp>
        <p:nvSpPr>
          <p:cNvPr id="38" name="Shape 35"/>
          <p:cNvSpPr/>
          <p:nvPr/>
        </p:nvSpPr>
        <p:spPr>
          <a:xfrm>
            <a:off x="548640" y="5486400"/>
            <a:ext cx="11094415" cy="777240"/>
          </a:xfrm>
          <a:prstGeom prst="roundRect">
            <a:avLst>
              <a:gd name="adj" fmla="val 14118"/>
            </a:avLst>
          </a:prstGeom>
          <a:solidFill>
            <a:srgbClr val="E9F4EA"/>
          </a:solidFill>
          <a:ln w="9525">
            <a:solidFill>
              <a:srgbClr val="A9D3B0"/>
            </a:solidFill>
            <a:prstDash val="solid"/>
          </a:ln>
        </p:spPr>
      </p:sp>
      <p:sp>
        <p:nvSpPr>
          <p:cNvPr id="39" name="Text 36"/>
          <p:cNvSpPr txBox="1"/>
          <p:nvPr/>
        </p:nvSpPr>
        <p:spPr>
          <a:xfrm>
            <a:off x="822960" y="5486400"/>
            <a:ext cx="10545775" cy="777240"/>
          </a:xfrm>
          <a:prstGeom prst="rect">
            <a:avLst/>
          </a:prstGeom>
          <a:noFill/>
          <a:ln/>
        </p:spPr>
        <p:txBody>
          <a:bodyPr wrap="square" lIns="0" tIns="0" rIns="0" bIns="0" rtlCol="0" anchor="ctr"/>
          <a:lstStyle/>
          <a:p>
            <a:pPr indent="0" marL="0">
              <a:buNone/>
            </a:pPr>
            <a:r>
              <a:rPr lang="en-US" sz="1500" b="1" dirty="0">
                <a:solidFill>
                  <a:srgbClr val="1E4A26"/>
                </a:solidFill>
                <a:latin typeface="Arial" pitchFamily="34" charset="0"/>
                <a:ea typeface="Arial" pitchFamily="34" charset="-122"/>
                <a:cs typeface="Arial" pitchFamily="34" charset="-120"/>
              </a:rPr>
              <a:t>Ikke afdelinger.  </a:t>
            </a:r>
            <a:pPr indent="0" marL="0">
              <a:buNone/>
            </a:pPr>
            <a:r>
              <a:rPr lang="en-US" sz="1500" dirty="0">
                <a:solidFill>
                  <a:srgbClr val="1E4A26"/>
                </a:solidFill>
                <a:latin typeface="Arial" pitchFamily="34" charset="0"/>
                <a:ea typeface="Arial" pitchFamily="34" charset="-122"/>
                <a:cs typeface="Arial" pitchFamily="34" charset="-120"/>
              </a:rPr>
              <a:t>Forslag: én ansvarlig pr. aktivitet, så intet ryger ned mellem byen, fabrikken og Jylland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2F6B3A"/>
                </a:solidFill>
                <a:latin typeface="Courier New" pitchFamily="34" charset="0"/>
                <a:ea typeface="Courier New" pitchFamily="34" charset="-122"/>
                <a:cs typeface="Courier New" pitchFamily="34" charset="-120"/>
              </a:rPr>
              <a:t>OPGAVE 3</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dirty="0">
                <a:solidFill>
                  <a:srgbClr val="17221A"/>
                </a:solidFill>
                <a:latin typeface="Georgia" pitchFamily="34" charset="0"/>
                <a:ea typeface="Georgia" pitchFamily="34" charset="-122"/>
                <a:cs typeface="Georgia" pitchFamily="34" charset="-120"/>
              </a:rPr>
              <a:t>Eksempel: ikke et samlebånd</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dirty="0">
                <a:solidFill>
                  <a:srgbClr val="526066"/>
                </a:solidFill>
                <a:latin typeface="Arial" pitchFamily="34" charset="0"/>
                <a:ea typeface="Arial" pitchFamily="34" charset="-122"/>
                <a:cs typeface="Arial" pitchFamily="34" charset="-120"/>
              </a:rPr>
              <a:t>Hans Petur  ·  Green-IT  ·  ITSM 1</a:t>
            </a:r>
            <a:endParaRPr lang="en-US" sz="1000" dirty="0"/>
          </a:p>
        </p:txBody>
      </p:sp>
      <p:sp>
        <p:nvSpPr>
          <p:cNvPr id="5" name="Text 3"/>
          <p:cNvSpPr txBox="1"/>
          <p:nvPr/>
        </p:nvSpPr>
        <p:spPr>
          <a:xfrm>
            <a:off x="10728655" y="6419088"/>
            <a:ext cx="914400" cy="228600"/>
          </a:xfrm>
          <a:prstGeom prst="rect">
            <a:avLst/>
          </a:prstGeom>
          <a:noFill/>
          <a:ln/>
        </p:spPr>
        <p:txBody>
          <a:bodyPr wrap="square" lIns="0" tIns="0" rIns="0" bIns="0" rtlCol="0" anchor="t"/>
          <a:lstStyle/>
          <a:p>
            <a:pPr algn="r" indent="0" marL="0">
              <a:buNone/>
            </a:pPr>
            <a:r>
              <a:rPr lang="en-US" sz="1000" dirty="0">
                <a:solidFill>
                  <a:srgbClr val="526066"/>
                </a:solidFill>
                <a:latin typeface="Arial" pitchFamily="34" charset="0"/>
                <a:ea typeface="Arial" pitchFamily="34" charset="-122"/>
                <a:cs typeface="Arial" pitchFamily="34" charset="-120"/>
              </a:rPr>
              <a:t>3</a:t>
            </a:r>
            <a:endParaRPr lang="en-US" sz="1000" dirty="0"/>
          </a:p>
        </p:txBody>
      </p:sp>
      <p:sp>
        <p:nvSpPr>
          <p:cNvPr id="7" name="Text 4"/>
          <p:cNvSpPr txBox="1"/>
          <p:nvPr/>
        </p:nvSpPr>
        <p:spPr>
          <a:xfrm>
            <a:off x="548640" y="1508760"/>
            <a:ext cx="11094415" cy="274320"/>
          </a:xfrm>
          <a:prstGeom prst="rect">
            <a:avLst/>
          </a:prstGeom>
          <a:noFill/>
          <a:ln/>
        </p:spPr>
        <p:txBody>
          <a:bodyPr wrap="square" lIns="0" tIns="0" rIns="0" bIns="0" rtlCol="0" anchor="t"/>
          <a:lstStyle/>
          <a:p>
            <a:pPr indent="0" marL="0">
              <a:buNone/>
            </a:pPr>
            <a:r>
              <a:rPr lang="en-US" sz="1100" b="1" spc="200" kern="0" dirty="0">
                <a:solidFill>
                  <a:srgbClr val="2F6B3A"/>
                </a:solidFill>
                <a:latin typeface="Courier New" pitchFamily="34" charset="0"/>
                <a:ea typeface="Courier New" pitchFamily="34" charset="-122"/>
                <a:cs typeface="Courier New" pitchFamily="34" charset="-120"/>
              </a:rPr>
              <a:t>EN SVINEPRODUCENT VIL HAVE STALDOVERVÅGNING</a:t>
            </a:r>
            <a:endParaRPr lang="en-US" sz="1100" dirty="0"/>
          </a:p>
        </p:txBody>
      </p:sp>
      <p:sp>
        <p:nvSpPr>
          <p:cNvPr id="8" name="Shape 5"/>
          <p:cNvSpPr/>
          <p:nvPr/>
        </p:nvSpPr>
        <p:spPr>
          <a:xfrm>
            <a:off x="548640" y="1920240"/>
            <a:ext cx="1467351" cy="1828800"/>
          </a:xfrm>
          <a:prstGeom prst="roundRect">
            <a:avLst>
              <a:gd name="adj" fmla="val 7478"/>
            </a:avLst>
          </a:prstGeom>
          <a:solidFill>
            <a:srgbClr val="FCFDFD"/>
          </a:solidFill>
          <a:ln w="9525">
            <a:solidFill>
              <a:srgbClr val="DDE4E6"/>
            </a:solidFill>
            <a:prstDash val="solid"/>
          </a:ln>
        </p:spPr>
      </p:sp>
      <p:sp>
        <p:nvSpPr>
          <p:cNvPr id="9" name="Text 6"/>
          <p:cNvSpPr txBox="1"/>
          <p:nvPr/>
        </p:nvSpPr>
        <p:spPr>
          <a:xfrm>
            <a:off x="548640" y="2011680"/>
            <a:ext cx="1467351" cy="320040"/>
          </a:xfrm>
          <a:prstGeom prst="rect">
            <a:avLst/>
          </a:prstGeom>
          <a:noFill/>
          <a:ln/>
        </p:spPr>
        <p:txBody>
          <a:bodyPr wrap="square" lIns="0" tIns="0" rIns="0" bIns="0" rtlCol="0" anchor="t"/>
          <a:lstStyle/>
          <a:p>
            <a:pPr algn="ctr" indent="0" marL="0">
              <a:buNone/>
            </a:pPr>
            <a:r>
              <a:rPr lang="en-US" sz="1400" b="1" dirty="0">
                <a:solidFill>
                  <a:srgbClr val="2F6B3A"/>
                </a:solidFill>
                <a:latin typeface="Courier New" pitchFamily="34" charset="0"/>
                <a:ea typeface="Courier New" pitchFamily="34" charset="-122"/>
                <a:cs typeface="Courier New" pitchFamily="34" charset="-120"/>
              </a:rPr>
              <a:t>1</a:t>
            </a:r>
            <a:endParaRPr lang="en-US" sz="1400" dirty="0"/>
          </a:p>
        </p:txBody>
      </p:sp>
      <p:sp>
        <p:nvSpPr>
          <p:cNvPr id="10" name="Text 7"/>
          <p:cNvSpPr txBox="1"/>
          <p:nvPr/>
        </p:nvSpPr>
        <p:spPr>
          <a:xfrm>
            <a:off x="548640" y="2331720"/>
            <a:ext cx="1467351" cy="457200"/>
          </a:xfrm>
          <a:prstGeom prst="rect">
            <a:avLst/>
          </a:prstGeom>
          <a:noFill/>
          <a:ln/>
        </p:spPr>
        <p:txBody>
          <a:bodyPr wrap="square" lIns="0" tIns="0" rIns="0" bIns="0" rtlCol="0" anchor="ctr"/>
          <a:lstStyle/>
          <a:p>
            <a:pPr algn="ctr" indent="0" marL="0">
              <a:buNone/>
            </a:pPr>
            <a:r>
              <a:rPr lang="en-US" sz="1600" b="1" dirty="0">
                <a:solidFill>
                  <a:srgbClr val="17221A"/>
                </a:solidFill>
                <a:latin typeface="Arial" pitchFamily="34" charset="0"/>
                <a:ea typeface="Arial" pitchFamily="34" charset="-122"/>
                <a:cs typeface="Arial" pitchFamily="34" charset="-120"/>
              </a:rPr>
              <a:t>Engage</a:t>
            </a:r>
            <a:endParaRPr lang="en-US" sz="1600" dirty="0"/>
          </a:p>
        </p:txBody>
      </p:sp>
      <p:sp>
        <p:nvSpPr>
          <p:cNvPr id="11" name="Text 8"/>
          <p:cNvSpPr txBox="1"/>
          <p:nvPr/>
        </p:nvSpPr>
        <p:spPr>
          <a:xfrm>
            <a:off x="621792" y="2834640"/>
            <a:ext cx="1321047" cy="822960"/>
          </a:xfrm>
          <a:prstGeom prst="rect">
            <a:avLst/>
          </a:prstGeom>
          <a:noFill/>
          <a:ln/>
        </p:spPr>
        <p:txBody>
          <a:bodyPr wrap="square" lIns="0" tIns="0" rIns="0" bIns="0" rtlCol="0" anchor="t"/>
          <a:lstStyle/>
          <a:p>
            <a:pPr algn="ctr" indent="0" marL="0">
              <a:buNone/>
            </a:pPr>
            <a:r>
              <a:rPr lang="en-US" sz="1300" dirty="0">
                <a:solidFill>
                  <a:srgbClr val="526066"/>
                </a:solidFill>
                <a:latin typeface="Arial" pitchFamily="34" charset="0"/>
                <a:ea typeface="Arial" pitchFamily="34" charset="-122"/>
                <a:cs typeface="Arial" pitchFamily="34" charset="-120"/>
              </a:rPr>
              <a:t>Sælgeren finder behovet</a:t>
            </a:r>
            <a:endParaRPr lang="en-US" sz="1300" dirty="0"/>
          </a:p>
        </p:txBody>
      </p:sp>
      <p:sp>
        <p:nvSpPr>
          <p:cNvPr id="12" name="Shape 9"/>
          <p:cNvSpPr/>
          <p:nvPr/>
        </p:nvSpPr>
        <p:spPr>
          <a:xfrm>
            <a:off x="2153151" y="1920240"/>
            <a:ext cx="1467351" cy="1828800"/>
          </a:xfrm>
          <a:prstGeom prst="roundRect">
            <a:avLst>
              <a:gd name="adj" fmla="val 7478"/>
            </a:avLst>
          </a:prstGeom>
          <a:solidFill>
            <a:srgbClr val="FCFDFD"/>
          </a:solidFill>
          <a:ln w="9525">
            <a:solidFill>
              <a:srgbClr val="DDE4E6"/>
            </a:solidFill>
            <a:prstDash val="solid"/>
          </a:ln>
        </p:spPr>
      </p:sp>
      <p:sp>
        <p:nvSpPr>
          <p:cNvPr id="13" name="Text 10"/>
          <p:cNvSpPr txBox="1"/>
          <p:nvPr/>
        </p:nvSpPr>
        <p:spPr>
          <a:xfrm>
            <a:off x="2153151" y="2011680"/>
            <a:ext cx="1467351" cy="320040"/>
          </a:xfrm>
          <a:prstGeom prst="rect">
            <a:avLst/>
          </a:prstGeom>
          <a:noFill/>
          <a:ln/>
        </p:spPr>
        <p:txBody>
          <a:bodyPr wrap="square" lIns="0" tIns="0" rIns="0" bIns="0" rtlCol="0" anchor="t"/>
          <a:lstStyle/>
          <a:p>
            <a:pPr algn="ctr" indent="0" marL="0">
              <a:buNone/>
            </a:pPr>
            <a:r>
              <a:rPr lang="en-US" sz="1400" b="1" dirty="0">
                <a:solidFill>
                  <a:srgbClr val="2F6B3A"/>
                </a:solidFill>
                <a:latin typeface="Courier New" pitchFamily="34" charset="0"/>
                <a:ea typeface="Courier New" pitchFamily="34" charset="-122"/>
                <a:cs typeface="Courier New" pitchFamily="34" charset="-120"/>
              </a:rPr>
              <a:t>2</a:t>
            </a:r>
            <a:endParaRPr lang="en-US" sz="1400" dirty="0"/>
          </a:p>
        </p:txBody>
      </p:sp>
      <p:sp>
        <p:nvSpPr>
          <p:cNvPr id="14" name="Text 11"/>
          <p:cNvSpPr txBox="1"/>
          <p:nvPr/>
        </p:nvSpPr>
        <p:spPr>
          <a:xfrm>
            <a:off x="2153151" y="2331720"/>
            <a:ext cx="1467351" cy="457200"/>
          </a:xfrm>
          <a:prstGeom prst="rect">
            <a:avLst/>
          </a:prstGeom>
          <a:noFill/>
          <a:ln/>
        </p:spPr>
        <p:txBody>
          <a:bodyPr wrap="square" lIns="0" tIns="0" rIns="0" bIns="0" rtlCol="0" anchor="ctr"/>
          <a:lstStyle/>
          <a:p>
            <a:pPr algn="ctr" indent="0" marL="0">
              <a:buNone/>
            </a:pPr>
            <a:r>
              <a:rPr lang="en-US" sz="1600" b="1" dirty="0">
                <a:solidFill>
                  <a:srgbClr val="17221A"/>
                </a:solidFill>
                <a:latin typeface="Arial" pitchFamily="34" charset="0"/>
                <a:ea typeface="Arial" pitchFamily="34" charset="-122"/>
                <a:cs typeface="Arial" pitchFamily="34" charset="-120"/>
              </a:rPr>
              <a:t>Design</a:t>
            </a:r>
            <a:endParaRPr lang="en-US" sz="1600" dirty="0"/>
          </a:p>
        </p:txBody>
      </p:sp>
      <p:sp>
        <p:nvSpPr>
          <p:cNvPr id="15" name="Text 12"/>
          <p:cNvSpPr txBox="1"/>
          <p:nvPr/>
        </p:nvSpPr>
        <p:spPr>
          <a:xfrm>
            <a:off x="2226303" y="2834640"/>
            <a:ext cx="1321047" cy="822960"/>
          </a:xfrm>
          <a:prstGeom prst="rect">
            <a:avLst/>
          </a:prstGeom>
          <a:noFill/>
          <a:ln/>
        </p:spPr>
        <p:txBody>
          <a:bodyPr wrap="square" lIns="0" tIns="0" rIns="0" bIns="0" rtlCol="0" anchor="t"/>
          <a:lstStyle/>
          <a:p>
            <a:pPr algn="ctr" indent="0" marL="0">
              <a:buNone/>
            </a:pPr>
            <a:r>
              <a:rPr lang="en-US" sz="1300" dirty="0">
                <a:solidFill>
                  <a:srgbClr val="526066"/>
                </a:solidFill>
                <a:latin typeface="Arial" pitchFamily="34" charset="0"/>
                <a:ea typeface="Arial" pitchFamily="34" charset="-122"/>
                <a:cs typeface="Arial" pitchFamily="34" charset="-120"/>
              </a:rPr>
              <a:t>R&amp;D tilpasser</a:t>
            </a:r>
            <a:endParaRPr lang="en-US" sz="1300" dirty="0"/>
          </a:p>
        </p:txBody>
      </p:sp>
      <p:sp>
        <p:nvSpPr>
          <p:cNvPr id="16" name="Shape 13"/>
          <p:cNvSpPr/>
          <p:nvPr/>
        </p:nvSpPr>
        <p:spPr>
          <a:xfrm>
            <a:off x="3757661" y="1920240"/>
            <a:ext cx="1467351" cy="1828800"/>
          </a:xfrm>
          <a:prstGeom prst="roundRect">
            <a:avLst>
              <a:gd name="adj" fmla="val 7478"/>
            </a:avLst>
          </a:prstGeom>
          <a:solidFill>
            <a:srgbClr val="FCFDFD"/>
          </a:solidFill>
          <a:ln w="9525">
            <a:solidFill>
              <a:srgbClr val="DDE4E6"/>
            </a:solidFill>
            <a:prstDash val="solid"/>
          </a:ln>
        </p:spPr>
      </p:sp>
      <p:sp>
        <p:nvSpPr>
          <p:cNvPr id="17" name="Text 14"/>
          <p:cNvSpPr txBox="1"/>
          <p:nvPr/>
        </p:nvSpPr>
        <p:spPr>
          <a:xfrm>
            <a:off x="3757661" y="2011680"/>
            <a:ext cx="1467351" cy="320040"/>
          </a:xfrm>
          <a:prstGeom prst="rect">
            <a:avLst/>
          </a:prstGeom>
          <a:noFill/>
          <a:ln/>
        </p:spPr>
        <p:txBody>
          <a:bodyPr wrap="square" lIns="0" tIns="0" rIns="0" bIns="0" rtlCol="0" anchor="t"/>
          <a:lstStyle/>
          <a:p>
            <a:pPr algn="ctr" indent="0" marL="0">
              <a:buNone/>
            </a:pPr>
            <a:r>
              <a:rPr lang="en-US" sz="1400" b="1" dirty="0">
                <a:solidFill>
                  <a:srgbClr val="2F6B3A"/>
                </a:solidFill>
                <a:latin typeface="Courier New" pitchFamily="34" charset="0"/>
                <a:ea typeface="Courier New" pitchFamily="34" charset="-122"/>
                <a:cs typeface="Courier New" pitchFamily="34" charset="-120"/>
              </a:rPr>
              <a:t>3</a:t>
            </a:r>
            <a:endParaRPr lang="en-US" sz="1400" dirty="0"/>
          </a:p>
        </p:txBody>
      </p:sp>
      <p:sp>
        <p:nvSpPr>
          <p:cNvPr id="18" name="Text 15"/>
          <p:cNvSpPr txBox="1"/>
          <p:nvPr/>
        </p:nvSpPr>
        <p:spPr>
          <a:xfrm>
            <a:off x="3757661" y="2331720"/>
            <a:ext cx="1467351" cy="457200"/>
          </a:xfrm>
          <a:prstGeom prst="rect">
            <a:avLst/>
          </a:prstGeom>
          <a:noFill/>
          <a:ln/>
        </p:spPr>
        <p:txBody>
          <a:bodyPr wrap="square" lIns="0" tIns="0" rIns="0" bIns="0" rtlCol="0" anchor="ctr"/>
          <a:lstStyle/>
          <a:p>
            <a:pPr algn="ctr" indent="0" marL="0">
              <a:buNone/>
            </a:pPr>
            <a:r>
              <a:rPr lang="en-US" sz="1600" b="1" dirty="0">
                <a:solidFill>
                  <a:srgbClr val="17221A"/>
                </a:solidFill>
                <a:latin typeface="Arial" pitchFamily="34" charset="0"/>
                <a:ea typeface="Arial" pitchFamily="34" charset="-122"/>
                <a:cs typeface="Arial" pitchFamily="34" charset="-120"/>
              </a:rPr>
              <a:t>Build</a:t>
            </a:r>
            <a:endParaRPr lang="en-US" sz="1600" dirty="0"/>
          </a:p>
        </p:txBody>
      </p:sp>
      <p:sp>
        <p:nvSpPr>
          <p:cNvPr id="19" name="Text 16"/>
          <p:cNvSpPr txBox="1"/>
          <p:nvPr/>
        </p:nvSpPr>
        <p:spPr>
          <a:xfrm>
            <a:off x="3830813" y="2834640"/>
            <a:ext cx="1321047" cy="822960"/>
          </a:xfrm>
          <a:prstGeom prst="rect">
            <a:avLst/>
          </a:prstGeom>
          <a:noFill/>
          <a:ln/>
        </p:spPr>
        <p:txBody>
          <a:bodyPr wrap="square" lIns="0" tIns="0" rIns="0" bIns="0" rtlCol="0" anchor="t"/>
          <a:lstStyle/>
          <a:p>
            <a:pPr algn="ctr" indent="0" marL="0">
              <a:buNone/>
            </a:pPr>
            <a:r>
              <a:rPr lang="en-US" sz="1300" dirty="0">
                <a:solidFill>
                  <a:srgbClr val="526066"/>
                </a:solidFill>
                <a:latin typeface="Arial" pitchFamily="34" charset="0"/>
                <a:ea typeface="Arial" pitchFamily="34" charset="-122"/>
                <a:cs typeface="Arial" pitchFamily="34" charset="-120"/>
              </a:rPr>
              <a:t>Fabrikken laver sensorer</a:t>
            </a:r>
            <a:endParaRPr lang="en-US" sz="1300" dirty="0"/>
          </a:p>
        </p:txBody>
      </p:sp>
      <p:sp>
        <p:nvSpPr>
          <p:cNvPr id="20" name="Shape 17"/>
          <p:cNvSpPr/>
          <p:nvPr/>
        </p:nvSpPr>
        <p:spPr>
          <a:xfrm>
            <a:off x="5362172" y="1920240"/>
            <a:ext cx="1467351" cy="1828800"/>
          </a:xfrm>
          <a:prstGeom prst="roundRect">
            <a:avLst>
              <a:gd name="adj" fmla="val 7478"/>
            </a:avLst>
          </a:prstGeom>
          <a:solidFill>
            <a:srgbClr val="E9F4EA"/>
          </a:solidFill>
          <a:ln w="9525">
            <a:solidFill>
              <a:srgbClr val="2F6B3A"/>
            </a:solidFill>
            <a:prstDash val="solid"/>
          </a:ln>
        </p:spPr>
      </p:sp>
      <p:sp>
        <p:nvSpPr>
          <p:cNvPr id="21" name="Text 18"/>
          <p:cNvSpPr txBox="1"/>
          <p:nvPr/>
        </p:nvSpPr>
        <p:spPr>
          <a:xfrm>
            <a:off x="5362172" y="2011680"/>
            <a:ext cx="1467351" cy="320040"/>
          </a:xfrm>
          <a:prstGeom prst="rect">
            <a:avLst/>
          </a:prstGeom>
          <a:noFill/>
          <a:ln/>
        </p:spPr>
        <p:txBody>
          <a:bodyPr wrap="square" lIns="0" tIns="0" rIns="0" bIns="0" rtlCol="0" anchor="t"/>
          <a:lstStyle/>
          <a:p>
            <a:pPr algn="ctr" indent="0" marL="0">
              <a:buNone/>
            </a:pPr>
            <a:r>
              <a:rPr lang="en-US" sz="1400" b="1" dirty="0">
                <a:solidFill>
                  <a:srgbClr val="2F6B3A"/>
                </a:solidFill>
                <a:latin typeface="Courier New" pitchFamily="34" charset="0"/>
                <a:ea typeface="Courier New" pitchFamily="34" charset="-122"/>
                <a:cs typeface="Courier New" pitchFamily="34" charset="-120"/>
              </a:rPr>
              <a:t>4</a:t>
            </a:r>
            <a:endParaRPr lang="en-US" sz="1400" dirty="0"/>
          </a:p>
        </p:txBody>
      </p:sp>
      <p:sp>
        <p:nvSpPr>
          <p:cNvPr id="22" name="Text 19"/>
          <p:cNvSpPr txBox="1"/>
          <p:nvPr/>
        </p:nvSpPr>
        <p:spPr>
          <a:xfrm>
            <a:off x="5362172" y="2331720"/>
            <a:ext cx="1467351" cy="457200"/>
          </a:xfrm>
          <a:prstGeom prst="rect">
            <a:avLst/>
          </a:prstGeom>
          <a:noFill/>
          <a:ln/>
        </p:spPr>
        <p:txBody>
          <a:bodyPr wrap="square" lIns="0" tIns="0" rIns="0" bIns="0" rtlCol="0" anchor="ctr"/>
          <a:lstStyle/>
          <a:p>
            <a:pPr algn="ctr" indent="0" marL="0">
              <a:buNone/>
            </a:pPr>
            <a:r>
              <a:rPr lang="en-US" sz="1600" b="1" dirty="0">
                <a:solidFill>
                  <a:srgbClr val="17221A"/>
                </a:solidFill>
                <a:latin typeface="Arial" pitchFamily="34" charset="0"/>
                <a:ea typeface="Arial" pitchFamily="34" charset="-122"/>
                <a:cs typeface="Arial" pitchFamily="34" charset="-120"/>
              </a:rPr>
              <a:t>Design</a:t>
            </a:r>
            <a:endParaRPr lang="en-US" sz="1600" dirty="0"/>
          </a:p>
        </p:txBody>
      </p:sp>
      <p:sp>
        <p:nvSpPr>
          <p:cNvPr id="23" name="Text 20"/>
          <p:cNvSpPr txBox="1"/>
          <p:nvPr/>
        </p:nvSpPr>
        <p:spPr>
          <a:xfrm>
            <a:off x="5435324" y="2834640"/>
            <a:ext cx="1321047" cy="822960"/>
          </a:xfrm>
          <a:prstGeom prst="rect">
            <a:avLst/>
          </a:prstGeom>
          <a:noFill/>
          <a:ln/>
        </p:spPr>
        <p:txBody>
          <a:bodyPr wrap="square" lIns="0" tIns="0" rIns="0" bIns="0" rtlCol="0" anchor="t"/>
          <a:lstStyle/>
          <a:p>
            <a:pPr algn="ctr" indent="0" marL="0">
              <a:buNone/>
            </a:pPr>
            <a:r>
              <a:rPr lang="en-US" sz="1300" dirty="0">
                <a:solidFill>
                  <a:srgbClr val="526066"/>
                </a:solidFill>
                <a:latin typeface="Arial" pitchFamily="34" charset="0"/>
                <a:ea typeface="Arial" pitchFamily="34" charset="-122"/>
                <a:cs typeface="Arial" pitchFamily="34" charset="-120"/>
              </a:rPr>
              <a:t>Testes og overdrages</a:t>
            </a:r>
            <a:endParaRPr lang="en-US" sz="1300" dirty="0"/>
          </a:p>
        </p:txBody>
      </p:sp>
      <p:sp>
        <p:nvSpPr>
          <p:cNvPr id="24" name="Shape 21"/>
          <p:cNvSpPr/>
          <p:nvPr/>
        </p:nvSpPr>
        <p:spPr>
          <a:xfrm>
            <a:off x="6966683" y="1920240"/>
            <a:ext cx="1467351" cy="1828800"/>
          </a:xfrm>
          <a:prstGeom prst="roundRect">
            <a:avLst>
              <a:gd name="adj" fmla="val 7478"/>
            </a:avLst>
          </a:prstGeom>
          <a:solidFill>
            <a:srgbClr val="FCFDFD"/>
          </a:solidFill>
          <a:ln w="9525">
            <a:solidFill>
              <a:srgbClr val="DDE4E6"/>
            </a:solidFill>
            <a:prstDash val="solid"/>
          </a:ln>
        </p:spPr>
      </p:sp>
      <p:sp>
        <p:nvSpPr>
          <p:cNvPr id="25" name="Text 22"/>
          <p:cNvSpPr txBox="1"/>
          <p:nvPr/>
        </p:nvSpPr>
        <p:spPr>
          <a:xfrm>
            <a:off x="6966683" y="2011680"/>
            <a:ext cx="1467351" cy="320040"/>
          </a:xfrm>
          <a:prstGeom prst="rect">
            <a:avLst/>
          </a:prstGeom>
          <a:noFill/>
          <a:ln/>
        </p:spPr>
        <p:txBody>
          <a:bodyPr wrap="square" lIns="0" tIns="0" rIns="0" bIns="0" rtlCol="0" anchor="t"/>
          <a:lstStyle/>
          <a:p>
            <a:pPr algn="ctr" indent="0" marL="0">
              <a:buNone/>
            </a:pPr>
            <a:r>
              <a:rPr lang="en-US" sz="1400" b="1" dirty="0">
                <a:solidFill>
                  <a:srgbClr val="2F6B3A"/>
                </a:solidFill>
                <a:latin typeface="Courier New" pitchFamily="34" charset="0"/>
                <a:ea typeface="Courier New" pitchFamily="34" charset="-122"/>
                <a:cs typeface="Courier New" pitchFamily="34" charset="-120"/>
              </a:rPr>
              <a:t>5</a:t>
            </a:r>
            <a:endParaRPr lang="en-US" sz="1400" dirty="0"/>
          </a:p>
        </p:txBody>
      </p:sp>
      <p:sp>
        <p:nvSpPr>
          <p:cNvPr id="26" name="Text 23"/>
          <p:cNvSpPr txBox="1"/>
          <p:nvPr/>
        </p:nvSpPr>
        <p:spPr>
          <a:xfrm>
            <a:off x="6966683" y="2331720"/>
            <a:ext cx="1467351" cy="457200"/>
          </a:xfrm>
          <a:prstGeom prst="rect">
            <a:avLst/>
          </a:prstGeom>
          <a:noFill/>
          <a:ln/>
        </p:spPr>
        <p:txBody>
          <a:bodyPr wrap="square" lIns="0" tIns="0" rIns="0" bIns="0" rtlCol="0" anchor="ctr"/>
          <a:lstStyle/>
          <a:p>
            <a:pPr algn="ctr" indent="0" marL="0">
              <a:buNone/>
            </a:pPr>
            <a:r>
              <a:rPr lang="en-US" sz="1600" b="1" dirty="0">
                <a:solidFill>
                  <a:srgbClr val="17221A"/>
                </a:solidFill>
                <a:latin typeface="Arial" pitchFamily="34" charset="0"/>
                <a:ea typeface="Arial" pitchFamily="34" charset="-122"/>
                <a:cs typeface="Arial" pitchFamily="34" charset="-120"/>
              </a:rPr>
              <a:t>Deliver</a:t>
            </a:r>
            <a:endParaRPr lang="en-US" sz="1600" dirty="0"/>
          </a:p>
        </p:txBody>
      </p:sp>
      <p:sp>
        <p:nvSpPr>
          <p:cNvPr id="27" name="Text 24"/>
          <p:cNvSpPr txBox="1"/>
          <p:nvPr/>
        </p:nvSpPr>
        <p:spPr>
          <a:xfrm>
            <a:off x="7039835" y="2834640"/>
            <a:ext cx="1321047" cy="822960"/>
          </a:xfrm>
          <a:prstGeom prst="rect">
            <a:avLst/>
          </a:prstGeom>
          <a:noFill/>
          <a:ln/>
        </p:spPr>
        <p:txBody>
          <a:bodyPr wrap="square" lIns="0" tIns="0" rIns="0" bIns="0" rtlCol="0" anchor="t"/>
          <a:lstStyle/>
          <a:p>
            <a:pPr algn="ctr" indent="0" marL="0">
              <a:buNone/>
            </a:pPr>
            <a:r>
              <a:rPr lang="en-US" sz="1300" dirty="0">
                <a:solidFill>
                  <a:srgbClr val="526066"/>
                </a:solidFill>
                <a:latin typeface="Arial" pitchFamily="34" charset="0"/>
                <a:ea typeface="Arial" pitchFamily="34" charset="-122"/>
                <a:cs typeface="Arial" pitchFamily="34" charset="-120"/>
              </a:rPr>
              <a:t>Værkstedet installerer</a:t>
            </a:r>
            <a:endParaRPr lang="en-US" sz="1300" dirty="0"/>
          </a:p>
        </p:txBody>
      </p:sp>
      <p:sp>
        <p:nvSpPr>
          <p:cNvPr id="28" name="Shape 25"/>
          <p:cNvSpPr/>
          <p:nvPr/>
        </p:nvSpPr>
        <p:spPr>
          <a:xfrm>
            <a:off x="8571194" y="1920240"/>
            <a:ext cx="1467351" cy="1828800"/>
          </a:xfrm>
          <a:prstGeom prst="roundRect">
            <a:avLst>
              <a:gd name="adj" fmla="val 7478"/>
            </a:avLst>
          </a:prstGeom>
          <a:solidFill>
            <a:srgbClr val="E9F4EA"/>
          </a:solidFill>
          <a:ln w="9525">
            <a:solidFill>
              <a:srgbClr val="2F6B3A"/>
            </a:solidFill>
            <a:prstDash val="solid"/>
          </a:ln>
        </p:spPr>
      </p:sp>
      <p:sp>
        <p:nvSpPr>
          <p:cNvPr id="29" name="Text 26"/>
          <p:cNvSpPr txBox="1"/>
          <p:nvPr/>
        </p:nvSpPr>
        <p:spPr>
          <a:xfrm>
            <a:off x="8571194" y="2011680"/>
            <a:ext cx="1467351" cy="320040"/>
          </a:xfrm>
          <a:prstGeom prst="rect">
            <a:avLst/>
          </a:prstGeom>
          <a:noFill/>
          <a:ln/>
        </p:spPr>
        <p:txBody>
          <a:bodyPr wrap="square" lIns="0" tIns="0" rIns="0" bIns="0" rtlCol="0" anchor="t"/>
          <a:lstStyle/>
          <a:p>
            <a:pPr algn="ctr" indent="0" marL="0">
              <a:buNone/>
            </a:pPr>
            <a:r>
              <a:rPr lang="en-US" sz="1400" b="1" dirty="0">
                <a:solidFill>
                  <a:srgbClr val="2F6B3A"/>
                </a:solidFill>
                <a:latin typeface="Courier New" pitchFamily="34" charset="0"/>
                <a:ea typeface="Courier New" pitchFamily="34" charset="-122"/>
                <a:cs typeface="Courier New" pitchFamily="34" charset="-120"/>
              </a:rPr>
              <a:t>6</a:t>
            </a:r>
            <a:endParaRPr lang="en-US" sz="1400" dirty="0"/>
          </a:p>
        </p:txBody>
      </p:sp>
      <p:sp>
        <p:nvSpPr>
          <p:cNvPr id="30" name="Text 27"/>
          <p:cNvSpPr txBox="1"/>
          <p:nvPr/>
        </p:nvSpPr>
        <p:spPr>
          <a:xfrm>
            <a:off x="8571194" y="2331720"/>
            <a:ext cx="1467351" cy="457200"/>
          </a:xfrm>
          <a:prstGeom prst="rect">
            <a:avLst/>
          </a:prstGeom>
          <a:noFill/>
          <a:ln/>
        </p:spPr>
        <p:txBody>
          <a:bodyPr wrap="square" lIns="0" tIns="0" rIns="0" bIns="0" rtlCol="0" anchor="ctr"/>
          <a:lstStyle/>
          <a:p>
            <a:pPr algn="ctr" indent="0" marL="0">
              <a:buNone/>
            </a:pPr>
            <a:r>
              <a:rPr lang="en-US" sz="1600" b="1" dirty="0">
                <a:solidFill>
                  <a:srgbClr val="17221A"/>
                </a:solidFill>
                <a:latin typeface="Arial" pitchFamily="34" charset="0"/>
                <a:ea typeface="Arial" pitchFamily="34" charset="-122"/>
                <a:cs typeface="Arial" pitchFamily="34" charset="-120"/>
              </a:rPr>
              <a:t>Engage</a:t>
            </a:r>
            <a:endParaRPr lang="en-US" sz="1600" dirty="0"/>
          </a:p>
        </p:txBody>
      </p:sp>
      <p:sp>
        <p:nvSpPr>
          <p:cNvPr id="31" name="Text 28"/>
          <p:cNvSpPr txBox="1"/>
          <p:nvPr/>
        </p:nvSpPr>
        <p:spPr>
          <a:xfrm>
            <a:off x="8644346" y="2834640"/>
            <a:ext cx="1321047" cy="822960"/>
          </a:xfrm>
          <a:prstGeom prst="rect">
            <a:avLst/>
          </a:prstGeom>
          <a:noFill/>
          <a:ln/>
        </p:spPr>
        <p:txBody>
          <a:bodyPr wrap="square" lIns="0" tIns="0" rIns="0" bIns="0" rtlCol="0" anchor="t"/>
          <a:lstStyle/>
          <a:p>
            <a:pPr algn="ctr" indent="0" marL="0">
              <a:buNone/>
            </a:pPr>
            <a:r>
              <a:rPr lang="en-US" sz="1300" dirty="0">
                <a:solidFill>
                  <a:srgbClr val="526066"/>
                </a:solidFill>
                <a:latin typeface="Arial" pitchFamily="34" charset="0"/>
                <a:ea typeface="Arial" pitchFamily="34" charset="-122"/>
                <a:cs typeface="Arial" pitchFamily="34" charset="-120"/>
              </a:rPr>
              <a:t>Opfølgning efter en måned</a:t>
            </a:r>
            <a:endParaRPr lang="en-US" sz="1300" dirty="0"/>
          </a:p>
        </p:txBody>
      </p:sp>
      <p:sp>
        <p:nvSpPr>
          <p:cNvPr id="32" name="Shape 29"/>
          <p:cNvSpPr/>
          <p:nvPr/>
        </p:nvSpPr>
        <p:spPr>
          <a:xfrm>
            <a:off x="10175704" y="1920240"/>
            <a:ext cx="1467351" cy="1828800"/>
          </a:xfrm>
          <a:prstGeom prst="roundRect">
            <a:avLst>
              <a:gd name="adj" fmla="val 7478"/>
            </a:avLst>
          </a:prstGeom>
          <a:solidFill>
            <a:srgbClr val="FCFDFD"/>
          </a:solidFill>
          <a:ln w="9525">
            <a:solidFill>
              <a:srgbClr val="DDE4E6"/>
            </a:solidFill>
            <a:prstDash val="solid"/>
          </a:ln>
        </p:spPr>
      </p:sp>
      <p:sp>
        <p:nvSpPr>
          <p:cNvPr id="33" name="Text 30"/>
          <p:cNvSpPr txBox="1"/>
          <p:nvPr/>
        </p:nvSpPr>
        <p:spPr>
          <a:xfrm>
            <a:off x="10175704" y="2011680"/>
            <a:ext cx="1467351" cy="320040"/>
          </a:xfrm>
          <a:prstGeom prst="rect">
            <a:avLst/>
          </a:prstGeom>
          <a:noFill/>
          <a:ln/>
        </p:spPr>
        <p:txBody>
          <a:bodyPr wrap="square" lIns="0" tIns="0" rIns="0" bIns="0" rtlCol="0" anchor="t"/>
          <a:lstStyle/>
          <a:p>
            <a:pPr algn="ctr" indent="0" marL="0">
              <a:buNone/>
            </a:pPr>
            <a:r>
              <a:rPr lang="en-US" sz="1400" b="1" dirty="0">
                <a:solidFill>
                  <a:srgbClr val="2F6B3A"/>
                </a:solidFill>
                <a:latin typeface="Courier New" pitchFamily="34" charset="0"/>
                <a:ea typeface="Courier New" pitchFamily="34" charset="-122"/>
                <a:cs typeface="Courier New" pitchFamily="34" charset="-120"/>
              </a:rPr>
              <a:t>7</a:t>
            </a:r>
            <a:endParaRPr lang="en-US" sz="1400" dirty="0"/>
          </a:p>
        </p:txBody>
      </p:sp>
      <p:sp>
        <p:nvSpPr>
          <p:cNvPr id="34" name="Text 31"/>
          <p:cNvSpPr txBox="1"/>
          <p:nvPr/>
        </p:nvSpPr>
        <p:spPr>
          <a:xfrm>
            <a:off x="10175704" y="2331720"/>
            <a:ext cx="1467351" cy="457200"/>
          </a:xfrm>
          <a:prstGeom prst="rect">
            <a:avLst/>
          </a:prstGeom>
          <a:noFill/>
          <a:ln/>
        </p:spPr>
        <p:txBody>
          <a:bodyPr wrap="square" lIns="0" tIns="0" rIns="0" bIns="0" rtlCol="0" anchor="ctr"/>
          <a:lstStyle/>
          <a:p>
            <a:pPr algn="ctr" indent="0" marL="0">
              <a:buNone/>
            </a:pPr>
            <a:r>
              <a:rPr lang="en-US" sz="1600" b="1" dirty="0">
                <a:solidFill>
                  <a:srgbClr val="17221A"/>
                </a:solidFill>
                <a:latin typeface="Arial" pitchFamily="34" charset="0"/>
                <a:ea typeface="Arial" pitchFamily="34" charset="-122"/>
                <a:cs typeface="Arial" pitchFamily="34" charset="-120"/>
              </a:rPr>
              <a:t>Improve</a:t>
            </a:r>
            <a:endParaRPr lang="en-US" sz="1600" dirty="0"/>
          </a:p>
        </p:txBody>
      </p:sp>
      <p:sp>
        <p:nvSpPr>
          <p:cNvPr id="35" name="Text 32"/>
          <p:cNvSpPr txBox="1"/>
          <p:nvPr/>
        </p:nvSpPr>
        <p:spPr>
          <a:xfrm>
            <a:off x="10248856" y="2834640"/>
            <a:ext cx="1321047" cy="822960"/>
          </a:xfrm>
          <a:prstGeom prst="rect">
            <a:avLst/>
          </a:prstGeom>
          <a:noFill/>
          <a:ln/>
        </p:spPr>
        <p:txBody>
          <a:bodyPr wrap="square" lIns="0" tIns="0" rIns="0" bIns="0" rtlCol="0" anchor="t"/>
          <a:lstStyle/>
          <a:p>
            <a:pPr algn="ctr" indent="0" marL="0">
              <a:buNone/>
            </a:pPr>
            <a:r>
              <a:rPr lang="en-US" sz="1300" dirty="0">
                <a:solidFill>
                  <a:srgbClr val="526066"/>
                </a:solidFill>
                <a:latin typeface="Arial" pitchFamily="34" charset="0"/>
                <a:ea typeface="Arial" pitchFamily="34" charset="-122"/>
                <a:cs typeface="Arial" pitchFamily="34" charset="-120"/>
              </a:rPr>
              <a:t>Næste gang hurtigere</a:t>
            </a:r>
            <a:endParaRPr lang="en-US" sz="1300" dirty="0"/>
          </a:p>
        </p:txBody>
      </p:sp>
      <p:sp>
        <p:nvSpPr>
          <p:cNvPr id="36" name="Shape 33"/>
          <p:cNvSpPr/>
          <p:nvPr/>
        </p:nvSpPr>
        <p:spPr>
          <a:xfrm>
            <a:off x="548640" y="4069080"/>
            <a:ext cx="5387188" cy="2011680"/>
          </a:xfrm>
          <a:prstGeom prst="roundRect">
            <a:avLst>
              <a:gd name="adj" fmla="val 5455"/>
            </a:avLst>
          </a:prstGeom>
          <a:solidFill>
            <a:srgbClr val="FCFDFD"/>
          </a:solidFill>
          <a:ln w="9525">
            <a:solidFill>
              <a:srgbClr val="DDE4E6"/>
            </a:solidFill>
            <a:prstDash val="solid"/>
          </a:ln>
        </p:spPr>
      </p:sp>
      <p:sp>
        <p:nvSpPr>
          <p:cNvPr id="37" name="Text 34"/>
          <p:cNvSpPr txBox="1"/>
          <p:nvPr/>
        </p:nvSpPr>
        <p:spPr>
          <a:xfrm>
            <a:off x="868680" y="4206240"/>
            <a:ext cx="4747108" cy="411480"/>
          </a:xfrm>
          <a:prstGeom prst="rect">
            <a:avLst/>
          </a:prstGeom>
          <a:noFill/>
          <a:ln/>
        </p:spPr>
        <p:txBody>
          <a:bodyPr wrap="square" lIns="0" tIns="0" rIns="0" bIns="0" rtlCol="0" anchor="t"/>
          <a:lstStyle/>
          <a:p>
            <a:pPr indent="0" marL="0">
              <a:buNone/>
            </a:pPr>
            <a:r>
              <a:rPr lang="en-US" sz="2100" dirty="0">
                <a:solidFill>
                  <a:srgbClr val="17221A"/>
                </a:solidFill>
                <a:latin typeface="Georgia" pitchFamily="34" charset="0"/>
                <a:ea typeface="Georgia" pitchFamily="34" charset="-122"/>
                <a:cs typeface="Georgia" pitchFamily="34" charset="-120"/>
              </a:rPr>
              <a:t>Ikke et samlebånd</a:t>
            </a:r>
            <a:endParaRPr lang="en-US" sz="2100" dirty="0"/>
          </a:p>
        </p:txBody>
      </p:sp>
      <p:sp>
        <p:nvSpPr>
          <p:cNvPr id="38" name="Text 35"/>
          <p:cNvSpPr txBox="1"/>
          <p:nvPr/>
        </p:nvSpPr>
        <p:spPr>
          <a:xfrm>
            <a:off x="868680" y="4663440"/>
            <a:ext cx="4747108" cy="13258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526066"/>
                </a:solidFill>
                <a:latin typeface="Arial" pitchFamily="34" charset="0"/>
                <a:ea typeface="Arial" pitchFamily="34" charset="-122"/>
                <a:cs typeface="Arial" pitchFamily="34" charset="-120"/>
              </a:rPr>
              <a:t>Engage og design bruges to gange</a:t>
            </a:r>
            <a:endParaRPr lang="en-US" sz="1600" dirty="0"/>
          </a:p>
          <a:p>
            <a:pPr marL="342900" indent="-342900">
              <a:spcAft>
                <a:spcPts val="400"/>
              </a:spcAft>
              <a:buSzPct val="100000"/>
              <a:buChar char="•"/>
            </a:pPr>
            <a:r>
              <a:rPr lang="en-US" sz="1600" dirty="0">
                <a:solidFill>
                  <a:srgbClr val="526066"/>
                </a:solidFill>
                <a:latin typeface="Arial" pitchFamily="34" charset="0"/>
                <a:ea typeface="Arial" pitchFamily="34" charset="-122"/>
                <a:cs typeface="Arial" pitchFamily="34" charset="-120"/>
              </a:rPr>
              <a:t>Plan bruges slet ikke</a:t>
            </a:r>
            <a:endParaRPr lang="en-US" sz="1600" dirty="0"/>
          </a:p>
          <a:p>
            <a:pPr marL="342900" indent="-342900">
              <a:spcAft>
                <a:spcPts val="400"/>
              </a:spcAft>
              <a:buSzPct val="100000"/>
              <a:buChar char="•"/>
            </a:pPr>
            <a:r>
              <a:rPr lang="en-US" sz="1600" dirty="0">
                <a:solidFill>
                  <a:srgbClr val="526066"/>
                </a:solidFill>
                <a:latin typeface="Arial" pitchFamily="34" charset="0"/>
                <a:ea typeface="Arial" pitchFamily="34" charset="-122"/>
                <a:cs typeface="Arial" pitchFamily="34" charset="-120"/>
              </a:rPr>
              <a:t>Kundens behov styrer rækkefølgen</a:t>
            </a:r>
            <a:endParaRPr lang="en-US" sz="1600" dirty="0"/>
          </a:p>
        </p:txBody>
      </p:sp>
      <p:sp>
        <p:nvSpPr>
          <p:cNvPr id="39" name="Shape 36"/>
          <p:cNvSpPr/>
          <p:nvPr/>
        </p:nvSpPr>
        <p:spPr>
          <a:xfrm>
            <a:off x="6255868" y="4069080"/>
            <a:ext cx="5387188" cy="2011680"/>
          </a:xfrm>
          <a:prstGeom prst="roundRect">
            <a:avLst>
              <a:gd name="adj" fmla="val 5455"/>
            </a:avLst>
          </a:prstGeom>
          <a:solidFill>
            <a:srgbClr val="E9F4EA"/>
          </a:solidFill>
          <a:ln w="9525">
            <a:solidFill>
              <a:srgbClr val="A9D3B0"/>
            </a:solidFill>
            <a:prstDash val="solid"/>
          </a:ln>
        </p:spPr>
      </p:sp>
      <p:sp>
        <p:nvSpPr>
          <p:cNvPr id="40" name="Text 37"/>
          <p:cNvSpPr txBox="1"/>
          <p:nvPr/>
        </p:nvSpPr>
        <p:spPr>
          <a:xfrm>
            <a:off x="6575908" y="4206240"/>
            <a:ext cx="4747108" cy="411480"/>
          </a:xfrm>
          <a:prstGeom prst="rect">
            <a:avLst/>
          </a:prstGeom>
          <a:noFill/>
          <a:ln/>
        </p:spPr>
        <p:txBody>
          <a:bodyPr wrap="square" lIns="0" tIns="0" rIns="0" bIns="0" rtlCol="0" anchor="t"/>
          <a:lstStyle/>
          <a:p>
            <a:pPr indent="0" marL="0">
              <a:buNone/>
            </a:pPr>
            <a:r>
              <a:rPr lang="en-US" sz="2100" dirty="0">
                <a:solidFill>
                  <a:srgbClr val="1E4A26"/>
                </a:solidFill>
                <a:latin typeface="Georgia" pitchFamily="34" charset="0"/>
                <a:ea typeface="Georgia" pitchFamily="34" charset="-122"/>
                <a:cs typeface="Georgia" pitchFamily="34" charset="-120"/>
              </a:rPr>
              <a:t>Hver aktivitet bidrager</a:t>
            </a:r>
            <a:endParaRPr lang="en-US" sz="2100" dirty="0"/>
          </a:p>
        </p:txBody>
      </p:sp>
      <p:sp>
        <p:nvSpPr>
          <p:cNvPr id="41" name="Text 38"/>
          <p:cNvSpPr txBox="1"/>
          <p:nvPr/>
        </p:nvSpPr>
        <p:spPr>
          <a:xfrm>
            <a:off x="6575908" y="4663440"/>
            <a:ext cx="4747108" cy="132588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rgbClr val="1E4A26"/>
                </a:solidFill>
                <a:latin typeface="Arial" pitchFamily="34" charset="0"/>
                <a:ea typeface="Arial" pitchFamily="34" charset="-122"/>
                <a:cs typeface="Arial" pitchFamily="34" charset="-120"/>
              </a:rPr>
              <a:t>Engage: værdi skabt sammen med landmanden</a:t>
            </a:r>
            <a:endParaRPr lang="en-US" sz="1500" dirty="0"/>
          </a:p>
          <a:p>
            <a:pPr marL="342900" indent="-342900">
              <a:spcAft>
                <a:spcPts val="300"/>
              </a:spcAft>
              <a:buSzPct val="100000"/>
              <a:buChar char="•"/>
            </a:pPr>
            <a:r>
              <a:rPr lang="en-US" sz="1500" dirty="0">
                <a:solidFill>
                  <a:srgbClr val="1E4A26"/>
                </a:solidFill>
                <a:latin typeface="Arial" pitchFamily="34" charset="0"/>
                <a:ea typeface="Arial" pitchFamily="34" charset="-122"/>
                <a:cs typeface="Arial" pitchFamily="34" charset="-120"/>
              </a:rPr>
              <a:t>Design: testes før drift, stabil drift</a:t>
            </a:r>
            <a:endParaRPr lang="en-US" sz="1500" dirty="0"/>
          </a:p>
          <a:p>
            <a:pPr marL="342900" indent="-342900">
              <a:spcAft>
                <a:spcPts val="300"/>
              </a:spcAft>
              <a:buSzPct val="100000"/>
              <a:buChar char="•"/>
            </a:pPr>
            <a:r>
              <a:rPr lang="en-US" sz="1500" dirty="0">
                <a:solidFill>
                  <a:srgbClr val="1E4A26"/>
                </a:solidFill>
                <a:latin typeface="Arial" pitchFamily="34" charset="0"/>
                <a:ea typeface="Arial" pitchFamily="34" charset="-122"/>
                <a:cs typeface="Arial" pitchFamily="34" charset="-120"/>
              </a:rPr>
              <a:t>Deliver og support: værdi hver dag</a:t>
            </a:r>
            <a:endParaRPr lang="en-US" sz="1500" dirty="0"/>
          </a:p>
          <a:p>
            <a:pPr marL="342900" indent="-342900">
              <a:spcAft>
                <a:spcPts val="300"/>
              </a:spcAft>
              <a:buSzPct val="100000"/>
              <a:buChar char="•"/>
            </a:pPr>
            <a:r>
              <a:rPr lang="en-US" sz="1500" dirty="0">
                <a:solidFill>
                  <a:srgbClr val="1E4A26"/>
                </a:solidFill>
                <a:latin typeface="Arial" pitchFamily="34" charset="0"/>
                <a:ea typeface="Arial" pitchFamily="34" charset="-122"/>
                <a:cs typeface="Arial" pitchFamily="34" charset="-120"/>
              </a:rPr>
              <a:t>Improve: fejl bliver forbedringer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2F6B3A"/>
                </a:solidFill>
                <a:latin typeface="Courier New" pitchFamily="34" charset="0"/>
                <a:ea typeface="Courier New" pitchFamily="34" charset="-122"/>
                <a:cs typeface="Courier New" pitchFamily="34" charset="-120"/>
              </a:rPr>
              <a:t>OPGAVE 4</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dirty="0">
                <a:solidFill>
                  <a:srgbClr val="17221A"/>
                </a:solidFill>
                <a:latin typeface="Georgia" pitchFamily="34" charset="0"/>
                <a:ea typeface="Georgia" pitchFamily="34" charset="-122"/>
                <a:cs typeface="Georgia" pitchFamily="34" charset="-120"/>
              </a:rPr>
              <a:t>Incident management</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dirty="0">
                <a:solidFill>
                  <a:srgbClr val="526066"/>
                </a:solidFill>
                <a:latin typeface="Arial" pitchFamily="34" charset="0"/>
                <a:ea typeface="Arial" pitchFamily="34" charset="-122"/>
                <a:cs typeface="Arial" pitchFamily="34" charset="-120"/>
              </a:rPr>
              <a:t>Hans Petur  ·  Green-IT  ·  ITSM 1</a:t>
            </a:r>
            <a:endParaRPr lang="en-US" sz="1000" dirty="0"/>
          </a:p>
        </p:txBody>
      </p:sp>
      <p:sp>
        <p:nvSpPr>
          <p:cNvPr id="5" name="Text 3"/>
          <p:cNvSpPr txBox="1"/>
          <p:nvPr/>
        </p:nvSpPr>
        <p:spPr>
          <a:xfrm>
            <a:off x="10728655" y="6419088"/>
            <a:ext cx="914400" cy="228600"/>
          </a:xfrm>
          <a:prstGeom prst="rect">
            <a:avLst/>
          </a:prstGeom>
          <a:noFill/>
          <a:ln/>
        </p:spPr>
        <p:txBody>
          <a:bodyPr wrap="square" lIns="0" tIns="0" rIns="0" bIns="0" rtlCol="0" anchor="t"/>
          <a:lstStyle/>
          <a:p>
            <a:pPr algn="r" indent="0" marL="0">
              <a:buNone/>
            </a:pPr>
            <a:r>
              <a:rPr lang="en-US" sz="1000" dirty="0">
                <a:solidFill>
                  <a:srgbClr val="526066"/>
                </a:solidFill>
                <a:latin typeface="Arial" pitchFamily="34" charset="0"/>
                <a:ea typeface="Arial" pitchFamily="34" charset="-122"/>
                <a:cs typeface="Arial" pitchFamily="34" charset="-120"/>
              </a:rPr>
              <a:t>4</a:t>
            </a:r>
            <a:endParaRPr lang="en-US" sz="1000" dirty="0"/>
          </a:p>
        </p:txBody>
      </p:sp>
      <p:sp>
        <p:nvSpPr>
          <p:cNvPr id="7" name="Shape 4"/>
          <p:cNvSpPr/>
          <p:nvPr/>
        </p:nvSpPr>
        <p:spPr>
          <a:xfrm>
            <a:off x="548640" y="1463040"/>
            <a:ext cx="11094415" cy="685800"/>
          </a:xfrm>
          <a:prstGeom prst="roundRect">
            <a:avLst>
              <a:gd name="adj" fmla="val 16000"/>
            </a:avLst>
          </a:prstGeom>
          <a:solidFill>
            <a:srgbClr val="E9F4EA"/>
          </a:solidFill>
          <a:ln w="9525">
            <a:solidFill>
              <a:srgbClr val="A9D3B0"/>
            </a:solidFill>
            <a:prstDash val="solid"/>
          </a:ln>
        </p:spPr>
      </p:sp>
      <p:sp>
        <p:nvSpPr>
          <p:cNvPr id="8" name="Text 5"/>
          <p:cNvSpPr txBox="1"/>
          <p:nvPr/>
        </p:nvSpPr>
        <p:spPr>
          <a:xfrm>
            <a:off x="822960" y="1463040"/>
            <a:ext cx="10545775" cy="685800"/>
          </a:xfrm>
          <a:prstGeom prst="rect">
            <a:avLst/>
          </a:prstGeom>
          <a:noFill/>
          <a:ln/>
        </p:spPr>
        <p:txBody>
          <a:bodyPr wrap="square" lIns="0" tIns="0" rIns="0" bIns="0" rtlCol="0" anchor="ctr"/>
          <a:lstStyle/>
          <a:p>
            <a:pPr indent="0" marL="0">
              <a:buNone/>
            </a:pPr>
            <a:r>
              <a:rPr lang="en-US" sz="1500" b="1" dirty="0">
                <a:solidFill>
                  <a:srgbClr val="1E4A26"/>
                </a:solidFill>
                <a:latin typeface="Arial" pitchFamily="34" charset="0"/>
                <a:ea typeface="Arial" pitchFamily="34" charset="-122"/>
                <a:cs typeface="Arial" pitchFamily="34" charset="-120"/>
              </a:rPr>
              <a:t>Incident:  </a:t>
            </a:r>
            <a:pPr indent="0" marL="0">
              <a:buNone/>
            </a:pPr>
            <a:r>
              <a:rPr lang="en-US" sz="1500" dirty="0">
                <a:solidFill>
                  <a:srgbClr val="1E4A26"/>
                </a:solidFill>
                <a:latin typeface="Arial" pitchFamily="34" charset="0"/>
                <a:ea typeface="Arial" pitchFamily="34" charset="-122"/>
                <a:cs typeface="Arial" pitchFamily="34" charset="-120"/>
              </a:rPr>
              <a:t>uplanlagt afbrydelse eller forringelse.  </a:t>
            </a:r>
            <a:pPr indent="0" marL="0">
              <a:buNone/>
            </a:pPr>
            <a:r>
              <a:rPr lang="en-US" sz="1500" b="1" dirty="0">
                <a:solidFill>
                  <a:srgbClr val="1E4A26"/>
                </a:solidFill>
                <a:latin typeface="Arial" pitchFamily="34" charset="0"/>
                <a:ea typeface="Arial" pitchFamily="34" charset="-122"/>
                <a:cs typeface="Arial" pitchFamily="34" charset="-120"/>
              </a:rPr>
              <a:t>Formål:  </a:t>
            </a:r>
            <a:pPr indent="0" marL="0">
              <a:buNone/>
            </a:pPr>
            <a:r>
              <a:rPr lang="en-US" sz="1500" dirty="0">
                <a:solidFill>
                  <a:srgbClr val="1E4A26"/>
                </a:solidFill>
                <a:latin typeface="Arial" pitchFamily="34" charset="0"/>
                <a:ea typeface="Arial" pitchFamily="34" charset="-122"/>
                <a:cs typeface="Arial" pitchFamily="34" charset="-120"/>
              </a:rPr>
              <a:t>op igen hurtigst muligt. Årsagen: problem.</a:t>
            </a:r>
            <a:endParaRPr lang="en-US" sz="1500" dirty="0"/>
          </a:p>
        </p:txBody>
      </p:sp>
      <p:sp>
        <p:nvSpPr>
          <p:cNvPr id="9" name="Shape 6"/>
          <p:cNvSpPr/>
          <p:nvPr/>
        </p:nvSpPr>
        <p:spPr>
          <a:xfrm>
            <a:off x="548640" y="2377440"/>
            <a:ext cx="2036003" cy="777240"/>
          </a:xfrm>
          <a:prstGeom prst="roundRect">
            <a:avLst>
              <a:gd name="adj" fmla="val 14118"/>
            </a:avLst>
          </a:prstGeom>
          <a:solidFill>
            <a:srgbClr val="2F6B3A"/>
          </a:solidFill>
          <a:ln w="9525">
            <a:solidFill>
              <a:srgbClr val="2F6B3A"/>
            </a:solidFill>
            <a:prstDash val="solid"/>
          </a:ln>
        </p:spPr>
      </p:sp>
      <p:sp>
        <p:nvSpPr>
          <p:cNvPr id="10" name="Text 7"/>
          <p:cNvSpPr txBox="1"/>
          <p:nvPr/>
        </p:nvSpPr>
        <p:spPr>
          <a:xfrm>
            <a:off x="548640" y="2377440"/>
            <a:ext cx="2036003"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Registrer</a:t>
            </a:r>
            <a:endParaRPr lang="en-US" sz="1700" dirty="0"/>
          </a:p>
        </p:txBody>
      </p:sp>
      <p:sp>
        <p:nvSpPr>
          <p:cNvPr id="11" name="Shape 8"/>
          <p:cNvSpPr/>
          <p:nvPr/>
        </p:nvSpPr>
        <p:spPr>
          <a:xfrm>
            <a:off x="2602931" y="2761488"/>
            <a:ext cx="192024" cy="914"/>
          </a:xfrm>
          <a:prstGeom prst="line">
            <a:avLst/>
          </a:prstGeom>
          <a:noFill/>
          <a:ln w="19050">
            <a:solidFill>
              <a:srgbClr val="6E7C81"/>
            </a:solidFill>
            <a:prstDash val="solid"/>
            <a:tailEnd type="triangle"/>
          </a:ln>
        </p:spPr>
      </p:sp>
      <p:sp>
        <p:nvSpPr>
          <p:cNvPr id="12" name="Shape 9"/>
          <p:cNvSpPr/>
          <p:nvPr/>
        </p:nvSpPr>
        <p:spPr>
          <a:xfrm>
            <a:off x="2813243" y="2377440"/>
            <a:ext cx="2036003" cy="777240"/>
          </a:xfrm>
          <a:prstGeom prst="roundRect">
            <a:avLst>
              <a:gd name="adj" fmla="val 14118"/>
            </a:avLst>
          </a:prstGeom>
          <a:solidFill>
            <a:srgbClr val="2F6B3A"/>
          </a:solidFill>
          <a:ln w="9525">
            <a:solidFill>
              <a:srgbClr val="2F6B3A"/>
            </a:solidFill>
            <a:prstDash val="solid"/>
          </a:ln>
        </p:spPr>
      </p:sp>
      <p:sp>
        <p:nvSpPr>
          <p:cNvPr id="13" name="Text 10"/>
          <p:cNvSpPr txBox="1"/>
          <p:nvPr/>
        </p:nvSpPr>
        <p:spPr>
          <a:xfrm>
            <a:off x="2813243" y="2377440"/>
            <a:ext cx="2036003"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Prioriter</a:t>
            </a:r>
            <a:endParaRPr lang="en-US" sz="1700" dirty="0"/>
          </a:p>
        </p:txBody>
      </p:sp>
      <p:sp>
        <p:nvSpPr>
          <p:cNvPr id="14" name="Shape 11"/>
          <p:cNvSpPr/>
          <p:nvPr/>
        </p:nvSpPr>
        <p:spPr>
          <a:xfrm>
            <a:off x="4867534" y="2761488"/>
            <a:ext cx="192024" cy="914"/>
          </a:xfrm>
          <a:prstGeom prst="line">
            <a:avLst/>
          </a:prstGeom>
          <a:noFill/>
          <a:ln w="19050">
            <a:solidFill>
              <a:srgbClr val="6E7C81"/>
            </a:solidFill>
            <a:prstDash val="solid"/>
            <a:tailEnd type="triangle"/>
          </a:ln>
        </p:spPr>
      </p:sp>
      <p:sp>
        <p:nvSpPr>
          <p:cNvPr id="15" name="Shape 12"/>
          <p:cNvSpPr/>
          <p:nvPr/>
        </p:nvSpPr>
        <p:spPr>
          <a:xfrm>
            <a:off x="5077846" y="2377440"/>
            <a:ext cx="2036003" cy="777240"/>
          </a:xfrm>
          <a:prstGeom prst="roundRect">
            <a:avLst>
              <a:gd name="adj" fmla="val 14118"/>
            </a:avLst>
          </a:prstGeom>
          <a:solidFill>
            <a:srgbClr val="2F6B3A"/>
          </a:solidFill>
          <a:ln w="9525">
            <a:solidFill>
              <a:srgbClr val="2F6B3A"/>
            </a:solidFill>
            <a:prstDash val="solid"/>
          </a:ln>
        </p:spPr>
      </p:sp>
      <p:sp>
        <p:nvSpPr>
          <p:cNvPr id="16" name="Text 13"/>
          <p:cNvSpPr txBox="1"/>
          <p:nvPr/>
        </p:nvSpPr>
        <p:spPr>
          <a:xfrm>
            <a:off x="5077846" y="2377440"/>
            <a:ext cx="2036003"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Diagnosticer</a:t>
            </a:r>
            <a:endParaRPr lang="en-US" sz="1700" dirty="0"/>
          </a:p>
        </p:txBody>
      </p:sp>
      <p:sp>
        <p:nvSpPr>
          <p:cNvPr id="17" name="Shape 14"/>
          <p:cNvSpPr/>
          <p:nvPr/>
        </p:nvSpPr>
        <p:spPr>
          <a:xfrm>
            <a:off x="7132137" y="2761488"/>
            <a:ext cx="192024" cy="914"/>
          </a:xfrm>
          <a:prstGeom prst="line">
            <a:avLst/>
          </a:prstGeom>
          <a:noFill/>
          <a:ln w="19050">
            <a:solidFill>
              <a:srgbClr val="6E7C81"/>
            </a:solidFill>
            <a:prstDash val="solid"/>
            <a:tailEnd type="triangle"/>
          </a:ln>
        </p:spPr>
      </p:sp>
      <p:sp>
        <p:nvSpPr>
          <p:cNvPr id="18" name="Shape 15"/>
          <p:cNvSpPr/>
          <p:nvPr/>
        </p:nvSpPr>
        <p:spPr>
          <a:xfrm>
            <a:off x="7342449" y="2377440"/>
            <a:ext cx="2036003" cy="777240"/>
          </a:xfrm>
          <a:prstGeom prst="roundRect">
            <a:avLst>
              <a:gd name="adj" fmla="val 14118"/>
            </a:avLst>
          </a:prstGeom>
          <a:solidFill>
            <a:srgbClr val="2F6B3A"/>
          </a:solidFill>
          <a:ln w="9525">
            <a:solidFill>
              <a:srgbClr val="2F6B3A"/>
            </a:solidFill>
            <a:prstDash val="solid"/>
          </a:ln>
        </p:spPr>
      </p:sp>
      <p:sp>
        <p:nvSpPr>
          <p:cNvPr id="19" name="Text 16"/>
          <p:cNvSpPr txBox="1"/>
          <p:nvPr/>
        </p:nvSpPr>
        <p:spPr>
          <a:xfrm>
            <a:off x="7342449" y="2377440"/>
            <a:ext cx="2036003"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Eskaler</a:t>
            </a:r>
            <a:endParaRPr lang="en-US" sz="1700" dirty="0"/>
          </a:p>
        </p:txBody>
      </p:sp>
      <p:sp>
        <p:nvSpPr>
          <p:cNvPr id="20" name="Shape 17"/>
          <p:cNvSpPr/>
          <p:nvPr/>
        </p:nvSpPr>
        <p:spPr>
          <a:xfrm>
            <a:off x="9396740" y="2761488"/>
            <a:ext cx="192024" cy="914"/>
          </a:xfrm>
          <a:prstGeom prst="line">
            <a:avLst/>
          </a:prstGeom>
          <a:noFill/>
          <a:ln w="19050">
            <a:solidFill>
              <a:srgbClr val="6E7C81"/>
            </a:solidFill>
            <a:prstDash val="solid"/>
            <a:tailEnd type="triangle"/>
          </a:ln>
        </p:spPr>
      </p:sp>
      <p:sp>
        <p:nvSpPr>
          <p:cNvPr id="21" name="Shape 18"/>
          <p:cNvSpPr/>
          <p:nvPr/>
        </p:nvSpPr>
        <p:spPr>
          <a:xfrm>
            <a:off x="9607052" y="2377440"/>
            <a:ext cx="2036003" cy="777240"/>
          </a:xfrm>
          <a:prstGeom prst="roundRect">
            <a:avLst>
              <a:gd name="adj" fmla="val 14118"/>
            </a:avLst>
          </a:prstGeom>
          <a:solidFill>
            <a:srgbClr val="2F6B3A"/>
          </a:solidFill>
          <a:ln w="9525">
            <a:solidFill>
              <a:srgbClr val="2F6B3A"/>
            </a:solidFill>
            <a:prstDash val="solid"/>
          </a:ln>
        </p:spPr>
      </p:sp>
      <p:sp>
        <p:nvSpPr>
          <p:cNvPr id="22" name="Text 19"/>
          <p:cNvSpPr txBox="1"/>
          <p:nvPr/>
        </p:nvSpPr>
        <p:spPr>
          <a:xfrm>
            <a:off x="9607052" y="2377440"/>
            <a:ext cx="2036003"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Løs og luk</a:t>
            </a:r>
            <a:endParaRPr lang="en-US" sz="1700" dirty="0"/>
          </a:p>
        </p:txBody>
      </p:sp>
      <p:sp>
        <p:nvSpPr>
          <p:cNvPr id="23" name="Shape 20"/>
          <p:cNvSpPr/>
          <p:nvPr/>
        </p:nvSpPr>
        <p:spPr>
          <a:xfrm>
            <a:off x="548640" y="3383280"/>
            <a:ext cx="5387188" cy="2743200"/>
          </a:xfrm>
          <a:prstGeom prst="roundRect">
            <a:avLst>
              <a:gd name="adj" fmla="val 4000"/>
            </a:avLst>
          </a:prstGeom>
          <a:solidFill>
            <a:srgbClr val="FCFDFD"/>
          </a:solidFill>
          <a:ln w="9525">
            <a:solidFill>
              <a:srgbClr val="DDE4E6"/>
            </a:solidFill>
            <a:prstDash val="solid"/>
          </a:ln>
        </p:spPr>
      </p:sp>
      <p:sp>
        <p:nvSpPr>
          <p:cNvPr id="24" name="Text 21"/>
          <p:cNvSpPr txBox="1"/>
          <p:nvPr/>
        </p:nvSpPr>
        <p:spPr>
          <a:xfrm>
            <a:off x="868680" y="3520440"/>
            <a:ext cx="4747108" cy="411480"/>
          </a:xfrm>
          <a:prstGeom prst="rect">
            <a:avLst/>
          </a:prstGeom>
          <a:noFill/>
          <a:ln/>
        </p:spPr>
        <p:txBody>
          <a:bodyPr wrap="square" lIns="0" tIns="0" rIns="0" bIns="0" rtlCol="0" anchor="t"/>
          <a:lstStyle/>
          <a:p>
            <a:pPr indent="0" marL="0">
              <a:buNone/>
            </a:pPr>
            <a:r>
              <a:rPr lang="en-US" sz="2000" dirty="0">
                <a:solidFill>
                  <a:srgbClr val="17221A"/>
                </a:solidFill>
                <a:latin typeface="Georgia" pitchFamily="34" charset="0"/>
                <a:ea typeface="Georgia" pitchFamily="34" charset="-122"/>
                <a:cs typeface="Georgia" pitchFamily="34" charset="-120"/>
              </a:rPr>
              <a:t>Hvem gør hvad</a:t>
            </a:r>
            <a:endParaRPr lang="en-US" sz="2000" dirty="0"/>
          </a:p>
        </p:txBody>
      </p:sp>
      <p:sp>
        <p:nvSpPr>
          <p:cNvPr id="25" name="Text 22"/>
          <p:cNvSpPr txBox="1"/>
          <p:nvPr/>
        </p:nvSpPr>
        <p:spPr>
          <a:xfrm>
            <a:off x="868680" y="3977640"/>
            <a:ext cx="4747108" cy="20116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526066"/>
                </a:solidFill>
                <a:latin typeface="Arial" pitchFamily="34" charset="0"/>
                <a:ea typeface="Arial" pitchFamily="34" charset="-122"/>
                <a:cs typeface="Arial" pitchFamily="34" charset="-120"/>
              </a:rPr>
              <a:t>Prioritet: hvor slemt og hvor hastende, styrer SLA'en</a:t>
            </a:r>
            <a:endParaRPr lang="en-US" sz="1500" dirty="0"/>
          </a:p>
          <a:p>
            <a:pPr marL="342900" indent="-342900">
              <a:spcAft>
                <a:spcPts val="500"/>
              </a:spcAft>
              <a:buSzPct val="100000"/>
              <a:buChar char="•"/>
            </a:pPr>
            <a:r>
              <a:rPr lang="en-US" sz="1500" dirty="0">
                <a:solidFill>
                  <a:srgbClr val="526066"/>
                </a:solidFill>
                <a:latin typeface="Arial" pitchFamily="34" charset="0"/>
                <a:ea typeface="Arial" pitchFamily="34" charset="-122"/>
                <a:cs typeface="Arial" pitchFamily="34" charset="-120"/>
              </a:rPr>
              <a:t>Eskaler: L1 servicedesk, L2 specialister, L3 R&amp;D</a:t>
            </a:r>
            <a:endParaRPr lang="en-US" sz="1500" dirty="0"/>
          </a:p>
          <a:p>
            <a:pPr marL="342900" indent="-342900">
              <a:spcAft>
                <a:spcPts val="500"/>
              </a:spcAft>
              <a:buSzPct val="100000"/>
              <a:buChar char="•"/>
            </a:pPr>
            <a:r>
              <a:rPr lang="en-US" sz="1500" dirty="0">
                <a:solidFill>
                  <a:srgbClr val="526066"/>
                </a:solidFill>
                <a:latin typeface="Arial" pitchFamily="34" charset="0"/>
                <a:ea typeface="Arial" pitchFamily="34" charset="-122"/>
                <a:cs typeface="Arial" pitchFamily="34" charset="-120"/>
              </a:rPr>
              <a:t>Servicedesken: landmandens ene indgang</a:t>
            </a:r>
            <a:endParaRPr lang="en-US" sz="1500" dirty="0"/>
          </a:p>
          <a:p>
            <a:pPr marL="342900" indent="-342900">
              <a:spcAft>
                <a:spcPts val="500"/>
              </a:spcAft>
              <a:buSzPct val="100000"/>
              <a:buChar char="•"/>
            </a:pPr>
            <a:r>
              <a:rPr lang="en-US" sz="1500" dirty="0">
                <a:solidFill>
                  <a:srgbClr val="526066"/>
                </a:solidFill>
                <a:latin typeface="Arial" pitchFamily="34" charset="0"/>
                <a:ea typeface="Arial" pitchFamily="34" charset="-122"/>
                <a:cs typeface="Arial" pitchFamily="34" charset="-120"/>
              </a:rPr>
              <a:t>Fælles ticketsystem, alle tre steder</a:t>
            </a:r>
            <a:endParaRPr lang="en-US" sz="1500" dirty="0"/>
          </a:p>
        </p:txBody>
      </p:sp>
      <p:sp>
        <p:nvSpPr>
          <p:cNvPr id="26" name="Shape 23"/>
          <p:cNvSpPr/>
          <p:nvPr/>
        </p:nvSpPr>
        <p:spPr>
          <a:xfrm>
            <a:off x="6255868" y="3383280"/>
            <a:ext cx="5387188" cy="2743200"/>
          </a:xfrm>
          <a:prstGeom prst="roundRect">
            <a:avLst>
              <a:gd name="adj" fmla="val 4000"/>
            </a:avLst>
          </a:prstGeom>
          <a:solidFill>
            <a:srgbClr val="FCFDFD"/>
          </a:solidFill>
          <a:ln w="9525">
            <a:solidFill>
              <a:srgbClr val="DDE4E6"/>
            </a:solidFill>
            <a:prstDash val="solid"/>
          </a:ln>
        </p:spPr>
      </p:sp>
      <p:sp>
        <p:nvSpPr>
          <p:cNvPr id="27" name="Shape 24"/>
          <p:cNvSpPr/>
          <p:nvPr/>
        </p:nvSpPr>
        <p:spPr>
          <a:xfrm>
            <a:off x="6530188" y="3520440"/>
            <a:ext cx="457200" cy="457200"/>
          </a:xfrm>
          <a:prstGeom prst="ellipse">
            <a:avLst/>
          </a:prstGeom>
          <a:solidFill>
            <a:srgbClr val="B93A32"/>
          </a:solidFill>
          <a:ln w="12700">
            <a:solidFill>
              <a:srgbClr val="B93A32"/>
            </a:solidFill>
            <a:prstDash val="solid"/>
          </a:ln>
        </p:spPr>
      </p:sp>
      <p:pic>
        <p:nvPicPr>
          <p:cNvPr id="28" name="Image 0" descr="preencoded.png">    </p:cNvPr>
          <p:cNvPicPr>
            <a:picLocks noChangeAspect="1"/>
          </p:cNvPicPr>
          <p:nvPr/>
        </p:nvPicPr>
        <p:blipFill>
          <a:blip r:embed="rId1"/>
          <a:stretch>
            <a:fillRect/>
          </a:stretch>
        </p:blipFill>
        <p:spPr>
          <a:xfrm>
            <a:off x="6639916" y="3630168"/>
            <a:ext cx="237744" cy="237744"/>
          </a:xfrm>
          <a:prstGeom prst="rect">
            <a:avLst/>
          </a:prstGeom>
        </p:spPr>
      </p:pic>
      <p:sp>
        <p:nvSpPr>
          <p:cNvPr id="29" name="Text 25"/>
          <p:cNvSpPr txBox="1"/>
          <p:nvPr/>
        </p:nvSpPr>
        <p:spPr>
          <a:xfrm>
            <a:off x="7124548" y="3520440"/>
            <a:ext cx="4289908" cy="457200"/>
          </a:xfrm>
          <a:prstGeom prst="rect">
            <a:avLst/>
          </a:prstGeom>
          <a:noFill/>
          <a:ln/>
        </p:spPr>
        <p:txBody>
          <a:bodyPr wrap="square" lIns="0" tIns="0" rIns="0" bIns="0" rtlCol="0" anchor="ctr"/>
          <a:lstStyle/>
          <a:p>
            <a:pPr indent="0" marL="0">
              <a:buNone/>
            </a:pPr>
            <a:r>
              <a:rPr lang="en-US" sz="2000" dirty="0">
                <a:solidFill>
                  <a:srgbClr val="17221A"/>
                </a:solidFill>
                <a:latin typeface="Georgia" pitchFamily="34" charset="0"/>
                <a:ea typeface="Georgia" pitchFamily="34" charset="-122"/>
                <a:cs typeface="Georgia" pitchFamily="34" charset="-120"/>
              </a:rPr>
              <a:t>Kvægstald, sommernat</a:t>
            </a:r>
            <a:endParaRPr lang="en-US" sz="2000" dirty="0"/>
          </a:p>
        </p:txBody>
      </p:sp>
      <p:sp>
        <p:nvSpPr>
          <p:cNvPr id="30" name="Text 26"/>
          <p:cNvSpPr txBox="1"/>
          <p:nvPr/>
        </p:nvSpPr>
        <p:spPr>
          <a:xfrm>
            <a:off x="6575908" y="4069080"/>
            <a:ext cx="4747108" cy="19202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526066"/>
                </a:solidFill>
                <a:latin typeface="Arial" pitchFamily="34" charset="0"/>
                <a:ea typeface="Arial" pitchFamily="34" charset="-122"/>
                <a:cs typeface="Arial" pitchFamily="34" charset="-120"/>
              </a:rPr>
              <a:t>Sensorerne sender ikke data: prioritet 1</a:t>
            </a:r>
            <a:endParaRPr lang="en-US" sz="1500" dirty="0"/>
          </a:p>
          <a:p>
            <a:pPr marL="342900" indent="-342900">
              <a:spcAft>
                <a:spcPts val="500"/>
              </a:spcAft>
              <a:buSzPct val="100000"/>
              <a:buChar char="•"/>
            </a:pPr>
            <a:r>
              <a:rPr lang="en-US" sz="1500" dirty="0">
                <a:solidFill>
                  <a:srgbClr val="526066"/>
                </a:solidFill>
                <a:latin typeface="Arial" pitchFamily="34" charset="0"/>
                <a:ea typeface="Arial" pitchFamily="34" charset="-122"/>
                <a:cs typeface="Arial" pitchFamily="34" charset="-120"/>
              </a:rPr>
              <a:t>L2: fejl i gatewayen, tekniker med en ny</a:t>
            </a:r>
            <a:endParaRPr lang="en-US" sz="1500" dirty="0"/>
          </a:p>
          <a:p>
            <a:pPr marL="342900" indent="-342900">
              <a:spcAft>
                <a:spcPts val="500"/>
              </a:spcAft>
              <a:buSzPct val="100000"/>
              <a:buChar char="•"/>
            </a:pPr>
            <a:r>
              <a:rPr lang="en-US" sz="1500" dirty="0">
                <a:solidFill>
                  <a:srgbClr val="526066"/>
                </a:solidFill>
                <a:latin typeface="Arial" pitchFamily="34" charset="0"/>
                <a:ea typeface="Arial" pitchFamily="34" charset="-122"/>
                <a:cs typeface="Arial" pitchFamily="34" charset="-120"/>
              </a:rPr>
              <a:t>Workaround: landmanden tjekker selv dyrene</a:t>
            </a:r>
            <a:endParaRPr lang="en-US" sz="1500" dirty="0"/>
          </a:p>
          <a:p>
            <a:pPr marL="342900" indent="-342900">
              <a:spcAft>
                <a:spcPts val="500"/>
              </a:spcAft>
              <a:buSzPct val="100000"/>
              <a:buChar char="•"/>
            </a:pPr>
            <a:r>
              <a:rPr lang="en-US" sz="1500" dirty="0">
                <a:solidFill>
                  <a:srgbClr val="526066"/>
                </a:solidFill>
                <a:latin typeface="Arial" pitchFamily="34" charset="0"/>
                <a:ea typeface="Arial" pitchFamily="34" charset="-122"/>
                <a:cs typeface="Arial" pitchFamily="34" charset="-120"/>
              </a:rPr>
              <a:t>Mange stalde: major incident med én leder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2F6B3A"/>
                </a:solidFill>
                <a:latin typeface="Courier New" pitchFamily="34" charset="0"/>
                <a:ea typeface="Courier New" pitchFamily="34" charset="-122"/>
                <a:cs typeface="Courier New" pitchFamily="34" charset="-120"/>
              </a:rPr>
              <a:t>OPGAVE 4</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dirty="0">
                <a:solidFill>
                  <a:srgbClr val="17221A"/>
                </a:solidFill>
                <a:latin typeface="Georgia" pitchFamily="34" charset="0"/>
                <a:ea typeface="Georgia" pitchFamily="34" charset="-122"/>
                <a:cs typeface="Georgia" pitchFamily="34" charset="-120"/>
              </a:rPr>
              <a:t>Problem management</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dirty="0">
                <a:solidFill>
                  <a:srgbClr val="526066"/>
                </a:solidFill>
                <a:latin typeface="Arial" pitchFamily="34" charset="0"/>
                <a:ea typeface="Arial" pitchFamily="34" charset="-122"/>
                <a:cs typeface="Arial" pitchFamily="34" charset="-120"/>
              </a:rPr>
              <a:t>Hans Petur  ·  Green-IT  ·  ITSM 1</a:t>
            </a:r>
            <a:endParaRPr lang="en-US" sz="1000" dirty="0"/>
          </a:p>
        </p:txBody>
      </p:sp>
      <p:sp>
        <p:nvSpPr>
          <p:cNvPr id="5" name="Text 3"/>
          <p:cNvSpPr txBox="1"/>
          <p:nvPr/>
        </p:nvSpPr>
        <p:spPr>
          <a:xfrm>
            <a:off x="10728655" y="6419088"/>
            <a:ext cx="914400" cy="228600"/>
          </a:xfrm>
          <a:prstGeom prst="rect">
            <a:avLst/>
          </a:prstGeom>
          <a:noFill/>
          <a:ln/>
        </p:spPr>
        <p:txBody>
          <a:bodyPr wrap="square" lIns="0" tIns="0" rIns="0" bIns="0" rtlCol="0" anchor="t"/>
          <a:lstStyle/>
          <a:p>
            <a:pPr algn="r" indent="0" marL="0">
              <a:buNone/>
            </a:pPr>
            <a:r>
              <a:rPr lang="en-US" sz="1000" dirty="0">
                <a:solidFill>
                  <a:srgbClr val="526066"/>
                </a:solidFill>
                <a:latin typeface="Arial" pitchFamily="34" charset="0"/>
                <a:ea typeface="Arial" pitchFamily="34" charset="-122"/>
                <a:cs typeface="Arial" pitchFamily="34" charset="-120"/>
              </a:rPr>
              <a:t>5</a:t>
            </a:r>
            <a:endParaRPr lang="en-US" sz="1000" dirty="0"/>
          </a:p>
        </p:txBody>
      </p:sp>
      <p:sp>
        <p:nvSpPr>
          <p:cNvPr id="7" name="Shape 4"/>
          <p:cNvSpPr/>
          <p:nvPr/>
        </p:nvSpPr>
        <p:spPr>
          <a:xfrm>
            <a:off x="548640" y="1463040"/>
            <a:ext cx="11094415" cy="685800"/>
          </a:xfrm>
          <a:prstGeom prst="roundRect">
            <a:avLst>
              <a:gd name="adj" fmla="val 16000"/>
            </a:avLst>
          </a:prstGeom>
          <a:solidFill>
            <a:srgbClr val="E9F4EA"/>
          </a:solidFill>
          <a:ln w="9525">
            <a:solidFill>
              <a:srgbClr val="A9D3B0"/>
            </a:solidFill>
            <a:prstDash val="solid"/>
          </a:ln>
        </p:spPr>
      </p:sp>
      <p:sp>
        <p:nvSpPr>
          <p:cNvPr id="8" name="Text 5"/>
          <p:cNvSpPr txBox="1"/>
          <p:nvPr/>
        </p:nvSpPr>
        <p:spPr>
          <a:xfrm>
            <a:off x="822960" y="1463040"/>
            <a:ext cx="10545775" cy="685800"/>
          </a:xfrm>
          <a:prstGeom prst="rect">
            <a:avLst/>
          </a:prstGeom>
          <a:noFill/>
          <a:ln/>
        </p:spPr>
        <p:txBody>
          <a:bodyPr wrap="square" lIns="0" tIns="0" rIns="0" bIns="0" rtlCol="0" anchor="ctr"/>
          <a:lstStyle/>
          <a:p>
            <a:pPr indent="0" marL="0">
              <a:buNone/>
            </a:pPr>
            <a:r>
              <a:rPr lang="en-US" sz="1500" b="1" dirty="0">
                <a:solidFill>
                  <a:srgbClr val="1E4A26"/>
                </a:solidFill>
                <a:latin typeface="Arial" pitchFamily="34" charset="0"/>
                <a:ea typeface="Arial" pitchFamily="34" charset="-122"/>
                <a:cs typeface="Arial" pitchFamily="34" charset="-120"/>
              </a:rPr>
              <a:t>Problem:  </a:t>
            </a:r>
            <a:pPr indent="0" marL="0">
              <a:buNone/>
            </a:pPr>
            <a:r>
              <a:rPr lang="en-US" sz="1500" dirty="0">
                <a:solidFill>
                  <a:srgbClr val="1E4A26"/>
                </a:solidFill>
                <a:latin typeface="Arial" pitchFamily="34" charset="0"/>
                <a:ea typeface="Arial" pitchFamily="34" charset="-122"/>
                <a:cs typeface="Arial" pitchFamily="34" charset="-120"/>
              </a:rPr>
              <a:t>årsagen, eller den mulige årsag, til incidents.  </a:t>
            </a:r>
            <a:pPr indent="0" marL="0">
              <a:buNone/>
            </a:pPr>
            <a:r>
              <a:rPr lang="en-US" sz="1500" b="1" dirty="0">
                <a:solidFill>
                  <a:srgbClr val="1E4A26"/>
                </a:solidFill>
                <a:latin typeface="Arial" pitchFamily="34" charset="0"/>
                <a:ea typeface="Arial" pitchFamily="34" charset="-122"/>
                <a:cs typeface="Arial" pitchFamily="34" charset="-120"/>
              </a:rPr>
              <a:t>Formål:  </a:t>
            </a:r>
            <a:pPr indent="0" marL="0">
              <a:buNone/>
            </a:pPr>
            <a:r>
              <a:rPr lang="en-US" sz="1500" dirty="0">
                <a:solidFill>
                  <a:srgbClr val="1E4A26"/>
                </a:solidFill>
                <a:latin typeface="Arial" pitchFamily="34" charset="0"/>
                <a:ea typeface="Arial" pitchFamily="34" charset="-122"/>
                <a:cs typeface="Arial" pitchFamily="34" charset="-120"/>
              </a:rPr>
              <a:t>så det ikke sker igen.</a:t>
            </a:r>
            <a:endParaRPr lang="en-US" sz="1500" dirty="0"/>
          </a:p>
        </p:txBody>
      </p:sp>
      <p:sp>
        <p:nvSpPr>
          <p:cNvPr id="9" name="Shape 6"/>
          <p:cNvSpPr/>
          <p:nvPr/>
        </p:nvSpPr>
        <p:spPr>
          <a:xfrm>
            <a:off x="548640" y="2377440"/>
            <a:ext cx="3515258" cy="1325880"/>
          </a:xfrm>
          <a:prstGeom prst="roundRect">
            <a:avLst>
              <a:gd name="adj" fmla="val 8276"/>
            </a:avLst>
          </a:prstGeom>
          <a:solidFill>
            <a:srgbClr val="FCFDFD"/>
          </a:solidFill>
          <a:ln w="9525">
            <a:solidFill>
              <a:srgbClr val="DDE4E6"/>
            </a:solidFill>
            <a:prstDash val="solid"/>
          </a:ln>
        </p:spPr>
      </p:sp>
      <p:sp>
        <p:nvSpPr>
          <p:cNvPr id="10" name="Text 7"/>
          <p:cNvSpPr txBox="1"/>
          <p:nvPr/>
        </p:nvSpPr>
        <p:spPr>
          <a:xfrm>
            <a:off x="822960" y="2487168"/>
            <a:ext cx="2966618" cy="384048"/>
          </a:xfrm>
          <a:prstGeom prst="rect">
            <a:avLst/>
          </a:prstGeom>
          <a:noFill/>
          <a:ln/>
        </p:spPr>
        <p:txBody>
          <a:bodyPr wrap="square" lIns="0" tIns="0" rIns="0" bIns="0" rtlCol="0" anchor="t"/>
          <a:lstStyle/>
          <a:p>
            <a:pPr indent="0" marL="0">
              <a:buNone/>
            </a:pPr>
            <a:r>
              <a:rPr lang="en-US" sz="1800" b="1" dirty="0">
                <a:solidFill>
                  <a:srgbClr val="17221A"/>
                </a:solidFill>
                <a:latin typeface="Arial" pitchFamily="34" charset="0"/>
                <a:ea typeface="Arial" pitchFamily="34" charset="-122"/>
                <a:cs typeface="Arial" pitchFamily="34" charset="-120"/>
              </a:rPr>
              <a:t>1  Identification</a:t>
            </a:r>
            <a:endParaRPr lang="en-US" sz="1800" dirty="0"/>
          </a:p>
        </p:txBody>
      </p:sp>
      <p:sp>
        <p:nvSpPr>
          <p:cNvPr id="11" name="Text 8"/>
          <p:cNvSpPr txBox="1"/>
          <p:nvPr/>
        </p:nvSpPr>
        <p:spPr>
          <a:xfrm>
            <a:off x="822960" y="2880360"/>
            <a:ext cx="2966618" cy="73152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Gentagne incidents, efter major incident eller proaktivt</a:t>
            </a:r>
            <a:endParaRPr lang="en-US" sz="1400" dirty="0"/>
          </a:p>
        </p:txBody>
      </p:sp>
      <p:sp>
        <p:nvSpPr>
          <p:cNvPr id="12" name="Shape 9"/>
          <p:cNvSpPr/>
          <p:nvPr/>
        </p:nvSpPr>
        <p:spPr>
          <a:xfrm>
            <a:off x="4338218" y="2377440"/>
            <a:ext cx="3515258" cy="1325880"/>
          </a:xfrm>
          <a:prstGeom prst="roundRect">
            <a:avLst>
              <a:gd name="adj" fmla="val 8276"/>
            </a:avLst>
          </a:prstGeom>
          <a:solidFill>
            <a:srgbClr val="FCFDFD"/>
          </a:solidFill>
          <a:ln w="9525">
            <a:solidFill>
              <a:srgbClr val="DDE4E6"/>
            </a:solidFill>
            <a:prstDash val="solid"/>
          </a:ln>
        </p:spPr>
      </p:sp>
      <p:sp>
        <p:nvSpPr>
          <p:cNvPr id="13" name="Text 10"/>
          <p:cNvSpPr txBox="1"/>
          <p:nvPr/>
        </p:nvSpPr>
        <p:spPr>
          <a:xfrm>
            <a:off x="4612538" y="2487168"/>
            <a:ext cx="2966618" cy="384048"/>
          </a:xfrm>
          <a:prstGeom prst="rect">
            <a:avLst/>
          </a:prstGeom>
          <a:noFill/>
          <a:ln/>
        </p:spPr>
        <p:txBody>
          <a:bodyPr wrap="square" lIns="0" tIns="0" rIns="0" bIns="0" rtlCol="0" anchor="t"/>
          <a:lstStyle/>
          <a:p>
            <a:pPr indent="0" marL="0">
              <a:buNone/>
            </a:pPr>
            <a:r>
              <a:rPr lang="en-US" sz="1800" b="1" dirty="0">
                <a:solidFill>
                  <a:srgbClr val="17221A"/>
                </a:solidFill>
                <a:latin typeface="Arial" pitchFamily="34" charset="0"/>
                <a:ea typeface="Arial" pitchFamily="34" charset="-122"/>
                <a:cs typeface="Arial" pitchFamily="34" charset="-120"/>
              </a:rPr>
              <a:t>2  Problem control</a:t>
            </a:r>
            <a:endParaRPr lang="en-US" sz="1800" dirty="0"/>
          </a:p>
        </p:txBody>
      </p:sp>
      <p:sp>
        <p:nvSpPr>
          <p:cNvPr id="14" name="Text 11"/>
          <p:cNvSpPr txBox="1"/>
          <p:nvPr/>
        </p:nvSpPr>
        <p:spPr>
          <a:xfrm>
            <a:off x="4612538" y="2880360"/>
            <a:ext cx="2966618" cy="73152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Root cause og workaround. Kendt, ikke løst: known error</a:t>
            </a:r>
            <a:endParaRPr lang="en-US" sz="1400" dirty="0"/>
          </a:p>
        </p:txBody>
      </p:sp>
      <p:sp>
        <p:nvSpPr>
          <p:cNvPr id="15" name="Shape 12"/>
          <p:cNvSpPr/>
          <p:nvPr/>
        </p:nvSpPr>
        <p:spPr>
          <a:xfrm>
            <a:off x="8127797" y="2377440"/>
            <a:ext cx="3515258" cy="1325880"/>
          </a:xfrm>
          <a:prstGeom prst="roundRect">
            <a:avLst>
              <a:gd name="adj" fmla="val 8276"/>
            </a:avLst>
          </a:prstGeom>
          <a:solidFill>
            <a:srgbClr val="FCFDFD"/>
          </a:solidFill>
          <a:ln w="9525">
            <a:solidFill>
              <a:srgbClr val="DDE4E6"/>
            </a:solidFill>
            <a:prstDash val="solid"/>
          </a:ln>
        </p:spPr>
      </p:sp>
      <p:sp>
        <p:nvSpPr>
          <p:cNvPr id="16" name="Text 13"/>
          <p:cNvSpPr txBox="1"/>
          <p:nvPr/>
        </p:nvSpPr>
        <p:spPr>
          <a:xfrm>
            <a:off x="8402117" y="2487168"/>
            <a:ext cx="2966618" cy="384048"/>
          </a:xfrm>
          <a:prstGeom prst="rect">
            <a:avLst/>
          </a:prstGeom>
          <a:noFill/>
          <a:ln/>
        </p:spPr>
        <p:txBody>
          <a:bodyPr wrap="square" lIns="0" tIns="0" rIns="0" bIns="0" rtlCol="0" anchor="t"/>
          <a:lstStyle/>
          <a:p>
            <a:pPr indent="0" marL="0">
              <a:buNone/>
            </a:pPr>
            <a:r>
              <a:rPr lang="en-US" sz="1800" b="1" dirty="0">
                <a:solidFill>
                  <a:srgbClr val="17221A"/>
                </a:solidFill>
                <a:latin typeface="Arial" pitchFamily="34" charset="0"/>
                <a:ea typeface="Arial" pitchFamily="34" charset="-122"/>
                <a:cs typeface="Arial" pitchFamily="34" charset="-120"/>
              </a:rPr>
              <a:t>3  Error control</a:t>
            </a:r>
            <a:endParaRPr lang="en-US" sz="1800" dirty="0"/>
          </a:p>
        </p:txBody>
      </p:sp>
      <p:sp>
        <p:nvSpPr>
          <p:cNvPr id="17" name="Text 14"/>
          <p:cNvSpPr txBox="1"/>
          <p:nvPr/>
        </p:nvSpPr>
        <p:spPr>
          <a:xfrm>
            <a:off x="8402117" y="2880360"/>
            <a:ext cx="2966618" cy="731520"/>
          </a:xfrm>
          <a:prstGeom prst="rect">
            <a:avLst/>
          </a:prstGeom>
          <a:noFill/>
          <a:ln/>
        </p:spPr>
        <p:txBody>
          <a:bodyPr wrap="square" lIns="0" tIns="0" rIns="0" bIns="0" rtlCol="0" anchor="t"/>
          <a:lstStyle/>
          <a:p>
            <a:pPr indent="0" marL="0">
              <a:buNone/>
            </a:pPr>
            <a:r>
              <a:rPr lang="en-US" sz="1400" dirty="0">
                <a:solidFill>
                  <a:srgbClr val="526066"/>
                </a:solidFill>
                <a:latin typeface="Arial" pitchFamily="34" charset="0"/>
                <a:ea typeface="Arial" pitchFamily="34" charset="-122"/>
                <a:cs typeface="Arial" pitchFamily="34" charset="-120"/>
              </a:rPr>
              <a:t>Den rigtige løsning går til change control</a:t>
            </a:r>
            <a:endParaRPr lang="en-US" sz="1400" dirty="0"/>
          </a:p>
        </p:txBody>
      </p:sp>
      <p:sp>
        <p:nvSpPr>
          <p:cNvPr id="18" name="Shape 15"/>
          <p:cNvSpPr/>
          <p:nvPr/>
        </p:nvSpPr>
        <p:spPr>
          <a:xfrm>
            <a:off x="548640" y="3931920"/>
            <a:ext cx="5387188" cy="2194560"/>
          </a:xfrm>
          <a:prstGeom prst="roundRect">
            <a:avLst>
              <a:gd name="adj" fmla="val 5000"/>
            </a:avLst>
          </a:prstGeom>
          <a:solidFill>
            <a:srgbClr val="FCFDFD"/>
          </a:solidFill>
          <a:ln w="9525">
            <a:solidFill>
              <a:srgbClr val="DDE4E6"/>
            </a:solidFill>
            <a:prstDash val="solid"/>
          </a:ln>
        </p:spPr>
      </p:sp>
      <p:sp>
        <p:nvSpPr>
          <p:cNvPr id="19" name="Text 16"/>
          <p:cNvSpPr txBox="1"/>
          <p:nvPr/>
        </p:nvSpPr>
        <p:spPr>
          <a:xfrm>
            <a:off x="868680" y="4069080"/>
            <a:ext cx="4747108" cy="411480"/>
          </a:xfrm>
          <a:prstGeom prst="rect">
            <a:avLst/>
          </a:prstGeom>
          <a:noFill/>
          <a:ln/>
        </p:spPr>
        <p:txBody>
          <a:bodyPr wrap="square" lIns="0" tIns="0" rIns="0" bIns="0" rtlCol="0" anchor="t"/>
          <a:lstStyle/>
          <a:p>
            <a:pPr indent="0" marL="0">
              <a:buNone/>
            </a:pPr>
            <a:r>
              <a:rPr lang="en-US" sz="2000" dirty="0">
                <a:solidFill>
                  <a:srgbClr val="17221A"/>
                </a:solidFill>
                <a:latin typeface="Georgia" pitchFamily="34" charset="0"/>
                <a:ea typeface="Georgia" pitchFamily="34" charset="-122"/>
                <a:cs typeface="Georgia" pitchFamily="34" charset="-120"/>
              </a:rPr>
              <a:t>Firmwarefejlen</a:t>
            </a:r>
            <a:endParaRPr lang="en-US" sz="2000" dirty="0"/>
          </a:p>
        </p:txBody>
      </p:sp>
      <p:sp>
        <p:nvSpPr>
          <p:cNvPr id="20" name="Text 17"/>
          <p:cNvSpPr txBox="1"/>
          <p:nvPr/>
        </p:nvSpPr>
        <p:spPr>
          <a:xfrm>
            <a:off x="868680" y="4526280"/>
            <a:ext cx="4747108" cy="150876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rgbClr val="526066"/>
                </a:solidFill>
                <a:latin typeface="Arial" pitchFamily="34" charset="0"/>
                <a:ea typeface="Arial" pitchFamily="34" charset="-122"/>
                <a:cs typeface="Arial" pitchFamily="34" charset="-120"/>
              </a:rPr>
              <a:t>Efter opdatering: friland-sensorer mister net om natten, 15 kunder</a:t>
            </a:r>
            <a:endParaRPr lang="en-US" sz="1500" dirty="0"/>
          </a:p>
          <a:p>
            <a:pPr marL="342900" indent="-342900">
              <a:spcAft>
                <a:spcPts val="300"/>
              </a:spcAft>
              <a:buSzPct val="100000"/>
              <a:buChar char="•"/>
            </a:pPr>
            <a:r>
              <a:rPr lang="en-US" sz="1500" dirty="0">
                <a:solidFill>
                  <a:srgbClr val="526066"/>
                </a:solidFill>
                <a:latin typeface="Arial" pitchFamily="34" charset="0"/>
                <a:ea typeface="Arial" pitchFamily="34" charset="-122"/>
                <a:cs typeface="Arial" pitchFamily="34" charset="-120"/>
              </a:rPr>
              <a:t>Årsag: strømspar, vågner ikke ved svagt signal</a:t>
            </a:r>
            <a:endParaRPr lang="en-US" sz="1500" dirty="0"/>
          </a:p>
          <a:p>
            <a:pPr marL="342900" indent="-342900">
              <a:spcAft>
                <a:spcPts val="300"/>
              </a:spcAft>
              <a:buSzPct val="100000"/>
              <a:buChar char="•"/>
            </a:pPr>
            <a:r>
              <a:rPr lang="en-US" sz="1500" dirty="0">
                <a:solidFill>
                  <a:srgbClr val="526066"/>
                </a:solidFill>
                <a:latin typeface="Arial" pitchFamily="34" charset="0"/>
                <a:ea typeface="Arial" pitchFamily="34" charset="-122"/>
                <a:cs typeface="Arial" pitchFamily="34" charset="-120"/>
              </a:rPr>
              <a:t>Workaround: slå strømspar fra, known error</a:t>
            </a:r>
            <a:endParaRPr lang="en-US" sz="1500" dirty="0"/>
          </a:p>
          <a:p>
            <a:pPr marL="342900" indent="-342900">
              <a:spcAft>
                <a:spcPts val="300"/>
              </a:spcAft>
              <a:buSzPct val="100000"/>
              <a:buChar char="•"/>
            </a:pPr>
            <a:r>
              <a:rPr lang="en-US" sz="1500" dirty="0">
                <a:solidFill>
                  <a:srgbClr val="526066"/>
                </a:solidFill>
                <a:latin typeface="Arial" pitchFamily="34" charset="0"/>
                <a:ea typeface="Arial" pitchFamily="34" charset="-122"/>
                <a:cs typeface="Arial" pitchFamily="34" charset="-120"/>
              </a:rPr>
              <a:t>Rettet firmware via change control</a:t>
            </a:r>
            <a:endParaRPr lang="en-US" sz="1500" dirty="0"/>
          </a:p>
        </p:txBody>
      </p:sp>
      <p:sp>
        <p:nvSpPr>
          <p:cNvPr id="21" name="Shape 18"/>
          <p:cNvSpPr/>
          <p:nvPr/>
        </p:nvSpPr>
        <p:spPr>
          <a:xfrm>
            <a:off x="6255868" y="3931920"/>
            <a:ext cx="5387188" cy="2194560"/>
          </a:xfrm>
          <a:prstGeom prst="roundRect">
            <a:avLst>
              <a:gd name="adj" fmla="val 5000"/>
            </a:avLst>
          </a:prstGeom>
          <a:solidFill>
            <a:srgbClr val="E9F4EA"/>
          </a:solidFill>
          <a:ln w="9525">
            <a:solidFill>
              <a:srgbClr val="A9D3B0"/>
            </a:solidFill>
            <a:prstDash val="solid"/>
          </a:ln>
        </p:spPr>
      </p:sp>
      <p:sp>
        <p:nvSpPr>
          <p:cNvPr id="22" name="Text 19"/>
          <p:cNvSpPr txBox="1"/>
          <p:nvPr/>
        </p:nvSpPr>
        <p:spPr>
          <a:xfrm>
            <a:off x="6575908" y="4069080"/>
            <a:ext cx="4747108" cy="411480"/>
          </a:xfrm>
          <a:prstGeom prst="rect">
            <a:avLst/>
          </a:prstGeom>
          <a:noFill/>
          <a:ln/>
        </p:spPr>
        <p:txBody>
          <a:bodyPr wrap="square" lIns="0" tIns="0" rIns="0" bIns="0" rtlCol="0" anchor="t"/>
          <a:lstStyle/>
          <a:p>
            <a:pPr indent="0" marL="0">
              <a:buNone/>
            </a:pPr>
            <a:r>
              <a:rPr lang="en-US" sz="2000" dirty="0">
                <a:solidFill>
                  <a:srgbClr val="1E4A26"/>
                </a:solidFill>
                <a:latin typeface="Georgia" pitchFamily="34" charset="0"/>
                <a:ea typeface="Georgia" pitchFamily="34" charset="-122"/>
                <a:cs typeface="Georgia" pitchFamily="34" charset="-120"/>
              </a:rPr>
              <a:t>Incident og problem</a:t>
            </a:r>
            <a:endParaRPr lang="en-US" sz="2000" dirty="0"/>
          </a:p>
        </p:txBody>
      </p:sp>
      <p:sp>
        <p:nvSpPr>
          <p:cNvPr id="23" name="Text 20"/>
          <p:cNvSpPr txBox="1"/>
          <p:nvPr/>
        </p:nvSpPr>
        <p:spPr>
          <a:xfrm>
            <a:off x="6575908" y="4526280"/>
            <a:ext cx="4747108" cy="150876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rgbClr val="1E4A26"/>
                </a:solidFill>
                <a:latin typeface="Arial" pitchFamily="34" charset="0"/>
                <a:ea typeface="Arial" pitchFamily="34" charset="-122"/>
                <a:cs typeface="Arial" pitchFamily="34" charset="-120"/>
              </a:rPr>
              <a:t>Incident får servicen op</a:t>
            </a:r>
            <a:endParaRPr lang="en-US" sz="1500" dirty="0"/>
          </a:p>
          <a:p>
            <a:pPr marL="342900" indent="-342900">
              <a:spcAft>
                <a:spcPts val="300"/>
              </a:spcAft>
              <a:buSzPct val="100000"/>
              <a:buChar char="•"/>
            </a:pPr>
            <a:r>
              <a:rPr lang="en-US" sz="1500" dirty="0">
                <a:solidFill>
                  <a:srgbClr val="1E4A26"/>
                </a:solidFill>
                <a:latin typeface="Arial" pitchFamily="34" charset="0"/>
                <a:ea typeface="Arial" pitchFamily="34" charset="-122"/>
                <a:cs typeface="Arial" pitchFamily="34" charset="-120"/>
              </a:rPr>
              <a:t>Problem fjerner årsagen</a:t>
            </a:r>
            <a:endParaRPr lang="en-US" sz="1500" dirty="0"/>
          </a:p>
          <a:p>
            <a:pPr marL="342900" indent="-342900">
              <a:spcAft>
                <a:spcPts val="300"/>
              </a:spcAft>
              <a:buSzPct val="100000"/>
              <a:buChar char="•"/>
            </a:pPr>
            <a:r>
              <a:rPr lang="en-US" sz="1500" dirty="0">
                <a:solidFill>
                  <a:srgbClr val="1E4A26"/>
                </a:solidFill>
                <a:latin typeface="Arial" pitchFamily="34" charset="0"/>
                <a:ea typeface="Arial" pitchFamily="34" charset="-122"/>
                <a:cs typeface="Arial" pitchFamily="34" charset="-120"/>
              </a:rPr>
              <a:t>Incident kan lukkes, selvom problemet er åbent</a:t>
            </a:r>
            <a:endParaRPr lang="en-US" sz="1500" dirty="0"/>
          </a:p>
          <a:p>
            <a:pPr marL="342900" indent="-342900">
              <a:spcAft>
                <a:spcPts val="300"/>
              </a:spcAft>
              <a:buSzPct val="100000"/>
              <a:buChar char="•"/>
            </a:pPr>
            <a:r>
              <a:rPr lang="en-US" sz="1500" dirty="0">
                <a:solidFill>
                  <a:srgbClr val="1E4A26"/>
                </a:solidFill>
                <a:latin typeface="Arial" pitchFamily="34" charset="0"/>
                <a:ea typeface="Arial" pitchFamily="34" charset="-122"/>
                <a:cs typeface="Arial" pitchFamily="34" charset="-120"/>
              </a:rPr>
              <a:t>Known errors: næste løses hurtigere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2F6B3A"/>
                </a:solidFill>
                <a:latin typeface="Courier New" pitchFamily="34" charset="0"/>
                <a:ea typeface="Courier New" pitchFamily="34" charset="-122"/>
                <a:cs typeface="Courier New" pitchFamily="34" charset="-120"/>
              </a:rPr>
              <a:t>OPGAVE 5</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indent="0" marL="0">
              <a:buNone/>
            </a:pPr>
            <a:r>
              <a:rPr lang="en-US" sz="3200" dirty="0">
                <a:solidFill>
                  <a:srgbClr val="17221A"/>
                </a:solidFill>
                <a:latin typeface="Georgia" pitchFamily="34" charset="0"/>
                <a:ea typeface="Georgia" pitchFamily="34" charset="-122"/>
                <a:cs typeface="Georgia" pitchFamily="34" charset="-120"/>
              </a:rPr>
              <a:t>De fire dimensioner</a:t>
            </a:r>
            <a:endParaRPr lang="en-US" sz="32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indent="0" marL="0">
              <a:buNone/>
            </a:pPr>
            <a:r>
              <a:rPr lang="en-US" sz="1000" dirty="0">
                <a:solidFill>
                  <a:srgbClr val="526066"/>
                </a:solidFill>
                <a:latin typeface="Arial" pitchFamily="34" charset="0"/>
                <a:ea typeface="Arial" pitchFamily="34" charset="-122"/>
                <a:cs typeface="Arial" pitchFamily="34" charset="-120"/>
              </a:rPr>
              <a:t>Hans Petur  ·  Green-IT  ·  ITSM 1</a:t>
            </a:r>
            <a:endParaRPr lang="en-US" sz="1000" dirty="0"/>
          </a:p>
        </p:txBody>
      </p:sp>
      <p:sp>
        <p:nvSpPr>
          <p:cNvPr id="5" name="Text 3"/>
          <p:cNvSpPr txBox="1"/>
          <p:nvPr/>
        </p:nvSpPr>
        <p:spPr>
          <a:xfrm>
            <a:off x="10728655" y="6419088"/>
            <a:ext cx="914400" cy="228600"/>
          </a:xfrm>
          <a:prstGeom prst="rect">
            <a:avLst/>
          </a:prstGeom>
          <a:noFill/>
          <a:ln/>
        </p:spPr>
        <p:txBody>
          <a:bodyPr wrap="square" lIns="0" tIns="0" rIns="0" bIns="0" rtlCol="0" anchor="t"/>
          <a:lstStyle/>
          <a:p>
            <a:pPr algn="r" indent="0" marL="0">
              <a:buNone/>
            </a:pPr>
            <a:r>
              <a:rPr lang="en-US" sz="1000" dirty="0">
                <a:solidFill>
                  <a:srgbClr val="526066"/>
                </a:solidFill>
                <a:latin typeface="Arial" pitchFamily="34" charset="0"/>
                <a:ea typeface="Arial" pitchFamily="34" charset="-122"/>
                <a:cs typeface="Arial" pitchFamily="34" charset="-120"/>
              </a:rPr>
              <a:t>6</a:t>
            </a:r>
            <a:endParaRPr lang="en-US" sz="1000" dirty="0"/>
          </a:p>
        </p:txBody>
      </p:sp>
      <p:sp>
        <p:nvSpPr>
          <p:cNvPr id="7" name="Text 4"/>
          <p:cNvSpPr txBox="1"/>
          <p:nvPr/>
        </p:nvSpPr>
        <p:spPr>
          <a:xfrm>
            <a:off x="548640" y="1463040"/>
            <a:ext cx="11094415" cy="411480"/>
          </a:xfrm>
          <a:prstGeom prst="rect">
            <a:avLst/>
          </a:prstGeom>
          <a:noFill/>
          <a:ln/>
        </p:spPr>
        <p:txBody>
          <a:bodyPr wrap="square" lIns="0" tIns="0" rIns="0" bIns="0" rtlCol="0" anchor="t"/>
          <a:lstStyle/>
          <a:p>
            <a:pPr indent="0" marL="0">
              <a:buNone/>
            </a:pPr>
            <a:r>
              <a:rPr lang="en-US" sz="1900" i="1" dirty="0">
                <a:solidFill>
                  <a:srgbClr val="2F6B3A"/>
                </a:solidFill>
                <a:latin typeface="Georgia" pitchFamily="34" charset="0"/>
                <a:ea typeface="Georgia" pitchFamily="34" charset="-122"/>
                <a:cs typeface="Georgia" pitchFamily="34" charset="-120"/>
              </a:rPr>
              <a:t>En service skal ses fra fire sider. Mangler én, går det galt.</a:t>
            </a:r>
            <a:endParaRPr lang="en-US" sz="1900" dirty="0"/>
          </a:p>
        </p:txBody>
      </p:sp>
      <p:sp>
        <p:nvSpPr>
          <p:cNvPr id="8" name="Shape 5"/>
          <p:cNvSpPr/>
          <p:nvPr/>
        </p:nvSpPr>
        <p:spPr>
          <a:xfrm>
            <a:off x="548640" y="2011680"/>
            <a:ext cx="5387188" cy="1600200"/>
          </a:xfrm>
          <a:prstGeom prst="roundRect">
            <a:avLst>
              <a:gd name="adj" fmla="val 6857"/>
            </a:avLst>
          </a:prstGeom>
          <a:solidFill>
            <a:srgbClr val="FCFDFD"/>
          </a:solidFill>
          <a:ln w="9525">
            <a:solidFill>
              <a:srgbClr val="DDE4E6"/>
            </a:solidFill>
            <a:prstDash val="solid"/>
          </a:ln>
        </p:spPr>
      </p:sp>
      <p:sp>
        <p:nvSpPr>
          <p:cNvPr id="9" name="Shape 6"/>
          <p:cNvSpPr/>
          <p:nvPr/>
        </p:nvSpPr>
        <p:spPr>
          <a:xfrm>
            <a:off x="777240" y="2240280"/>
            <a:ext cx="502920" cy="502920"/>
          </a:xfrm>
          <a:prstGeom prst="ellipse">
            <a:avLst/>
          </a:prstGeom>
          <a:solidFill>
            <a:srgbClr val="2F6B3A"/>
          </a:solidFill>
          <a:ln w="12700">
            <a:solidFill>
              <a:srgbClr val="2F6B3A"/>
            </a:solidFill>
            <a:prstDash val="solid"/>
          </a:ln>
        </p:spPr>
      </p:sp>
      <p:pic>
        <p:nvPicPr>
          <p:cNvPr id="10" name="Image 0" descr="preencoded.png">    </p:cNvPr>
          <p:cNvPicPr>
            <a:picLocks noChangeAspect="1"/>
          </p:cNvPicPr>
          <p:nvPr/>
        </p:nvPicPr>
        <p:blipFill>
          <a:blip r:embed="rId1"/>
          <a:stretch>
            <a:fillRect/>
          </a:stretch>
        </p:blipFill>
        <p:spPr>
          <a:xfrm>
            <a:off x="897941" y="2360981"/>
            <a:ext cx="261518" cy="261518"/>
          </a:xfrm>
          <a:prstGeom prst="rect">
            <a:avLst/>
          </a:prstGeom>
        </p:spPr>
      </p:pic>
      <p:sp>
        <p:nvSpPr>
          <p:cNvPr id="11" name="Text 7"/>
          <p:cNvSpPr txBox="1"/>
          <p:nvPr/>
        </p:nvSpPr>
        <p:spPr>
          <a:xfrm>
            <a:off x="1417320" y="2212848"/>
            <a:ext cx="4335628" cy="54864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Organisationer og mennesker</a:t>
            </a:r>
            <a:endParaRPr lang="en-US" sz="1700" dirty="0"/>
          </a:p>
        </p:txBody>
      </p:sp>
      <p:sp>
        <p:nvSpPr>
          <p:cNvPr id="12" name="Text 8"/>
          <p:cNvSpPr txBox="1"/>
          <p:nvPr/>
        </p:nvSpPr>
        <p:spPr>
          <a:xfrm>
            <a:off x="822960" y="2834640"/>
            <a:ext cx="4884268"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526066"/>
                </a:solidFill>
                <a:latin typeface="Arial" pitchFamily="34" charset="0"/>
                <a:ea typeface="Arial" pitchFamily="34" charset="-122"/>
                <a:cs typeface="Arial" pitchFamily="34" charset="-120"/>
              </a:rPr>
              <a:t>R&amp;D i byen, salg på fabrikken: os og dem</a:t>
            </a:r>
            <a:endParaRPr lang="en-US" sz="1400" dirty="0"/>
          </a:p>
          <a:p>
            <a:pPr marL="342900" indent="-342900">
              <a:spcAft>
                <a:spcPts val="300"/>
              </a:spcAft>
              <a:buSzPct val="100000"/>
              <a:buChar char="•"/>
            </a:pPr>
            <a:r>
              <a:rPr lang="en-US" sz="1400" dirty="0">
                <a:solidFill>
                  <a:srgbClr val="526066"/>
                </a:solidFill>
                <a:latin typeface="Arial" pitchFamily="34" charset="0"/>
                <a:ea typeface="Arial" pitchFamily="34" charset="-122"/>
                <a:cs typeface="Arial" pitchFamily="34" charset="-120"/>
              </a:rPr>
              <a:t>Klare roller, sig det tidligt, når noget går galt</a:t>
            </a:r>
            <a:endParaRPr lang="en-US" sz="1400" dirty="0"/>
          </a:p>
        </p:txBody>
      </p:sp>
      <p:sp>
        <p:nvSpPr>
          <p:cNvPr id="13" name="Shape 9"/>
          <p:cNvSpPr/>
          <p:nvPr/>
        </p:nvSpPr>
        <p:spPr>
          <a:xfrm>
            <a:off x="6255868" y="2011680"/>
            <a:ext cx="5387188" cy="1600200"/>
          </a:xfrm>
          <a:prstGeom prst="roundRect">
            <a:avLst>
              <a:gd name="adj" fmla="val 6857"/>
            </a:avLst>
          </a:prstGeom>
          <a:solidFill>
            <a:srgbClr val="FCFDFD"/>
          </a:solidFill>
          <a:ln w="9525">
            <a:solidFill>
              <a:srgbClr val="DDE4E6"/>
            </a:solidFill>
            <a:prstDash val="solid"/>
          </a:ln>
        </p:spPr>
      </p:sp>
      <p:sp>
        <p:nvSpPr>
          <p:cNvPr id="14" name="Shape 10"/>
          <p:cNvSpPr/>
          <p:nvPr/>
        </p:nvSpPr>
        <p:spPr>
          <a:xfrm>
            <a:off x="6484468" y="2240280"/>
            <a:ext cx="502920" cy="502920"/>
          </a:xfrm>
          <a:prstGeom prst="ellipse">
            <a:avLst/>
          </a:prstGeom>
          <a:solidFill>
            <a:srgbClr val="2F6B3A"/>
          </a:solidFill>
          <a:ln w="12700">
            <a:solidFill>
              <a:srgbClr val="2F6B3A"/>
            </a:solidFill>
            <a:prstDash val="solid"/>
          </a:ln>
        </p:spPr>
      </p:sp>
      <p:pic>
        <p:nvPicPr>
          <p:cNvPr id="15" name="Image 1" descr="preencoded.png">    </p:cNvPr>
          <p:cNvPicPr>
            <a:picLocks noChangeAspect="1"/>
          </p:cNvPicPr>
          <p:nvPr/>
        </p:nvPicPr>
        <p:blipFill>
          <a:blip r:embed="rId2"/>
          <a:stretch>
            <a:fillRect/>
          </a:stretch>
        </p:blipFill>
        <p:spPr>
          <a:xfrm>
            <a:off x="6605168" y="2360981"/>
            <a:ext cx="261518" cy="261518"/>
          </a:xfrm>
          <a:prstGeom prst="rect">
            <a:avLst/>
          </a:prstGeom>
        </p:spPr>
      </p:pic>
      <p:sp>
        <p:nvSpPr>
          <p:cNvPr id="16" name="Text 11"/>
          <p:cNvSpPr txBox="1"/>
          <p:nvPr/>
        </p:nvSpPr>
        <p:spPr>
          <a:xfrm>
            <a:off x="7124548" y="2212848"/>
            <a:ext cx="4335628" cy="54864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Information og teknologi</a:t>
            </a:r>
            <a:endParaRPr lang="en-US" sz="1700" dirty="0"/>
          </a:p>
        </p:txBody>
      </p:sp>
      <p:sp>
        <p:nvSpPr>
          <p:cNvPr id="17" name="Text 12"/>
          <p:cNvSpPr txBox="1"/>
          <p:nvPr/>
        </p:nvSpPr>
        <p:spPr>
          <a:xfrm>
            <a:off x="6530188" y="2834640"/>
            <a:ext cx="4884268"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526066"/>
                </a:solidFill>
                <a:latin typeface="Arial" pitchFamily="34" charset="0"/>
                <a:ea typeface="Arial" pitchFamily="34" charset="-122"/>
                <a:cs typeface="Arial" pitchFamily="34" charset="-120"/>
              </a:rPr>
              <a:t>Sensordata er kernen, landmanden ejer dem</a:t>
            </a:r>
            <a:endParaRPr lang="en-US" sz="1400" dirty="0"/>
          </a:p>
          <a:p>
            <a:pPr marL="342900" indent="-342900">
              <a:spcAft>
                <a:spcPts val="300"/>
              </a:spcAft>
              <a:buSzPct val="100000"/>
              <a:buChar char="•"/>
            </a:pPr>
            <a:r>
              <a:rPr lang="en-US" sz="1400" dirty="0">
                <a:solidFill>
                  <a:srgbClr val="526066"/>
                </a:solidFill>
                <a:latin typeface="Arial" pitchFamily="34" charset="0"/>
                <a:ea typeface="Arial" pitchFamily="34" charset="-122"/>
                <a:cs typeface="Arial" pitchFamily="34" charset="-120"/>
              </a:rPr>
              <a:t>Persondata: GDPR. Skal kunne vokse</a:t>
            </a:r>
            <a:endParaRPr lang="en-US" sz="1400" dirty="0"/>
          </a:p>
        </p:txBody>
      </p:sp>
      <p:sp>
        <p:nvSpPr>
          <p:cNvPr id="18" name="Shape 13"/>
          <p:cNvSpPr/>
          <p:nvPr/>
        </p:nvSpPr>
        <p:spPr>
          <a:xfrm>
            <a:off x="548640" y="3794760"/>
            <a:ext cx="5387188" cy="1600200"/>
          </a:xfrm>
          <a:prstGeom prst="roundRect">
            <a:avLst>
              <a:gd name="adj" fmla="val 6857"/>
            </a:avLst>
          </a:prstGeom>
          <a:solidFill>
            <a:srgbClr val="FCFDFD"/>
          </a:solidFill>
          <a:ln w="9525">
            <a:solidFill>
              <a:srgbClr val="DDE4E6"/>
            </a:solidFill>
            <a:prstDash val="solid"/>
          </a:ln>
        </p:spPr>
      </p:sp>
      <p:sp>
        <p:nvSpPr>
          <p:cNvPr id="19" name="Shape 14"/>
          <p:cNvSpPr/>
          <p:nvPr/>
        </p:nvSpPr>
        <p:spPr>
          <a:xfrm>
            <a:off x="777240" y="4023360"/>
            <a:ext cx="502920" cy="502920"/>
          </a:xfrm>
          <a:prstGeom prst="ellipse">
            <a:avLst/>
          </a:prstGeom>
          <a:solidFill>
            <a:srgbClr val="2F6B3A"/>
          </a:solidFill>
          <a:ln w="12700">
            <a:solidFill>
              <a:srgbClr val="2F6B3A"/>
            </a:solidFill>
            <a:prstDash val="solid"/>
          </a:ln>
        </p:spPr>
      </p:sp>
      <p:pic>
        <p:nvPicPr>
          <p:cNvPr id="20" name="Image 2" descr="preencoded.png">    </p:cNvPr>
          <p:cNvPicPr>
            <a:picLocks noChangeAspect="1"/>
          </p:cNvPicPr>
          <p:nvPr/>
        </p:nvPicPr>
        <p:blipFill>
          <a:blip r:embed="rId3"/>
          <a:stretch>
            <a:fillRect/>
          </a:stretch>
        </p:blipFill>
        <p:spPr>
          <a:xfrm>
            <a:off x="897941" y="4144061"/>
            <a:ext cx="261518" cy="261518"/>
          </a:xfrm>
          <a:prstGeom prst="rect">
            <a:avLst/>
          </a:prstGeom>
        </p:spPr>
      </p:pic>
      <p:sp>
        <p:nvSpPr>
          <p:cNvPr id="21" name="Text 15"/>
          <p:cNvSpPr txBox="1"/>
          <p:nvPr/>
        </p:nvSpPr>
        <p:spPr>
          <a:xfrm>
            <a:off x="1417320" y="3995928"/>
            <a:ext cx="4335628" cy="54864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Partnere og leverandører</a:t>
            </a:r>
            <a:endParaRPr lang="en-US" sz="1700" dirty="0"/>
          </a:p>
        </p:txBody>
      </p:sp>
      <p:sp>
        <p:nvSpPr>
          <p:cNvPr id="22" name="Text 16"/>
          <p:cNvSpPr txBox="1"/>
          <p:nvPr/>
        </p:nvSpPr>
        <p:spPr>
          <a:xfrm>
            <a:off x="822960" y="4617720"/>
            <a:ext cx="4884268"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526066"/>
                </a:solidFill>
                <a:latin typeface="Arial" pitchFamily="34" charset="0"/>
                <a:ea typeface="Arial" pitchFamily="34" charset="-122"/>
                <a:cs typeface="Arial" pitchFamily="34" charset="-120"/>
              </a:rPr>
              <a:t>Hosting, sensorleverandører, teleselskaber</a:t>
            </a:r>
            <a:endParaRPr lang="en-US" sz="1400" dirty="0"/>
          </a:p>
          <a:p>
            <a:pPr marL="342900" indent="-342900">
              <a:spcAft>
                <a:spcPts val="300"/>
              </a:spcAft>
              <a:buSzPct val="100000"/>
              <a:buChar char="•"/>
            </a:pPr>
            <a:r>
              <a:rPr lang="en-US" sz="1400" dirty="0">
                <a:solidFill>
                  <a:srgbClr val="526066"/>
                </a:solidFill>
                <a:latin typeface="Arial" pitchFamily="34" charset="0"/>
                <a:ea typeface="Arial" pitchFamily="34" charset="-122"/>
                <a:cs typeface="Arial" pitchFamily="34" charset="-120"/>
              </a:rPr>
              <a:t>Er de nede, er Green-IT nede: failover</a:t>
            </a:r>
            <a:endParaRPr lang="en-US" sz="1400" dirty="0"/>
          </a:p>
        </p:txBody>
      </p:sp>
      <p:sp>
        <p:nvSpPr>
          <p:cNvPr id="23" name="Shape 17"/>
          <p:cNvSpPr/>
          <p:nvPr/>
        </p:nvSpPr>
        <p:spPr>
          <a:xfrm>
            <a:off x="6255868" y="3794760"/>
            <a:ext cx="5387188" cy="1600200"/>
          </a:xfrm>
          <a:prstGeom prst="roundRect">
            <a:avLst>
              <a:gd name="adj" fmla="val 6857"/>
            </a:avLst>
          </a:prstGeom>
          <a:solidFill>
            <a:srgbClr val="FCFDFD"/>
          </a:solidFill>
          <a:ln w="9525">
            <a:solidFill>
              <a:srgbClr val="DDE4E6"/>
            </a:solidFill>
            <a:prstDash val="solid"/>
          </a:ln>
        </p:spPr>
      </p:sp>
      <p:sp>
        <p:nvSpPr>
          <p:cNvPr id="24" name="Shape 18"/>
          <p:cNvSpPr/>
          <p:nvPr/>
        </p:nvSpPr>
        <p:spPr>
          <a:xfrm>
            <a:off x="6484468" y="4023360"/>
            <a:ext cx="502920" cy="502920"/>
          </a:xfrm>
          <a:prstGeom prst="ellipse">
            <a:avLst/>
          </a:prstGeom>
          <a:solidFill>
            <a:srgbClr val="2F6B3A"/>
          </a:solidFill>
          <a:ln w="12700">
            <a:solidFill>
              <a:srgbClr val="2F6B3A"/>
            </a:solidFill>
            <a:prstDash val="solid"/>
          </a:ln>
        </p:spPr>
      </p:sp>
      <p:pic>
        <p:nvPicPr>
          <p:cNvPr id="25" name="Image 3" descr="preencoded.png">    </p:cNvPr>
          <p:cNvPicPr>
            <a:picLocks noChangeAspect="1"/>
          </p:cNvPicPr>
          <p:nvPr/>
        </p:nvPicPr>
        <p:blipFill>
          <a:blip r:embed="rId4"/>
          <a:stretch>
            <a:fillRect/>
          </a:stretch>
        </p:blipFill>
        <p:spPr>
          <a:xfrm>
            <a:off x="6605168" y="4144061"/>
            <a:ext cx="261518" cy="261518"/>
          </a:xfrm>
          <a:prstGeom prst="rect">
            <a:avLst/>
          </a:prstGeom>
        </p:spPr>
      </p:pic>
      <p:sp>
        <p:nvSpPr>
          <p:cNvPr id="26" name="Text 19"/>
          <p:cNvSpPr txBox="1"/>
          <p:nvPr/>
        </p:nvSpPr>
        <p:spPr>
          <a:xfrm>
            <a:off x="7124548" y="3995928"/>
            <a:ext cx="4335628" cy="548640"/>
          </a:xfrm>
          <a:prstGeom prst="rect">
            <a:avLst/>
          </a:prstGeom>
          <a:noFill/>
          <a:ln/>
        </p:spPr>
        <p:txBody>
          <a:bodyPr wrap="square" lIns="0" tIns="0" rIns="0" bIns="0" rtlCol="0" anchor="ctr"/>
          <a:lstStyle/>
          <a:p>
            <a:pPr indent="0" marL="0">
              <a:buNone/>
            </a:pPr>
            <a:r>
              <a:rPr lang="en-US" sz="1700" b="1" dirty="0">
                <a:solidFill>
                  <a:srgbClr val="17221A"/>
                </a:solidFill>
                <a:latin typeface="Arial" pitchFamily="34" charset="0"/>
                <a:ea typeface="Arial" pitchFamily="34" charset="-122"/>
                <a:cs typeface="Arial" pitchFamily="34" charset="-120"/>
              </a:rPr>
              <a:t>Værdistrømme og processer</a:t>
            </a:r>
            <a:endParaRPr lang="en-US" sz="1700" dirty="0"/>
          </a:p>
        </p:txBody>
      </p:sp>
      <p:sp>
        <p:nvSpPr>
          <p:cNvPr id="27" name="Text 20"/>
          <p:cNvSpPr txBox="1"/>
          <p:nvPr/>
        </p:nvSpPr>
        <p:spPr>
          <a:xfrm>
            <a:off x="6530188" y="4617720"/>
            <a:ext cx="4884268"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526066"/>
                </a:solidFill>
                <a:latin typeface="Arial" pitchFamily="34" charset="0"/>
                <a:ea typeface="Arial" pitchFamily="34" charset="-122"/>
                <a:cs typeface="Arial" pitchFamily="34" charset="-120"/>
              </a:rPr>
              <a:t>Går på tværs af fabrikken og byen</a:t>
            </a:r>
            <a:endParaRPr lang="en-US" sz="1400" dirty="0"/>
          </a:p>
          <a:p>
            <a:pPr marL="342900" indent="-342900">
              <a:spcAft>
                <a:spcPts val="300"/>
              </a:spcAft>
              <a:buSzPct val="100000"/>
              <a:buChar char="•"/>
            </a:pPr>
            <a:r>
              <a:rPr lang="en-US" sz="1400" dirty="0">
                <a:solidFill>
                  <a:srgbClr val="526066"/>
                </a:solidFill>
                <a:latin typeface="Arial" pitchFamily="34" charset="0"/>
                <a:ea typeface="Arial" pitchFamily="34" charset="-122"/>
                <a:cs typeface="Arial" pitchFamily="34" charset="-120"/>
              </a:rPr>
              <a:t>Sager venter i overgangene, faste processer</a:t>
            </a:r>
            <a:endParaRPr lang="en-US" sz="1400" dirty="0"/>
          </a:p>
        </p:txBody>
      </p:sp>
      <p:sp>
        <p:nvSpPr>
          <p:cNvPr id="28" name="Shape 21"/>
          <p:cNvSpPr/>
          <p:nvPr/>
        </p:nvSpPr>
        <p:spPr>
          <a:xfrm>
            <a:off x="548640" y="5669280"/>
            <a:ext cx="11094415" cy="548640"/>
          </a:xfrm>
          <a:prstGeom prst="roundRect">
            <a:avLst>
              <a:gd name="adj" fmla="val 20000"/>
            </a:avLst>
          </a:prstGeom>
          <a:solidFill>
            <a:srgbClr val="E9F4EA"/>
          </a:solidFill>
          <a:ln w="9525">
            <a:solidFill>
              <a:srgbClr val="A9D3B0"/>
            </a:solidFill>
            <a:prstDash val="solid"/>
          </a:ln>
        </p:spPr>
      </p:sp>
      <p:sp>
        <p:nvSpPr>
          <p:cNvPr id="29" name="Text 22"/>
          <p:cNvSpPr txBox="1"/>
          <p:nvPr/>
        </p:nvSpPr>
        <p:spPr>
          <a:xfrm>
            <a:off x="822960" y="5669280"/>
            <a:ext cx="10545775" cy="548640"/>
          </a:xfrm>
          <a:prstGeom prst="rect">
            <a:avLst/>
          </a:prstGeom>
          <a:noFill/>
          <a:ln/>
        </p:spPr>
        <p:txBody>
          <a:bodyPr wrap="square" lIns="0" tIns="0" rIns="0" bIns="0" rtlCol="0" anchor="ctr"/>
          <a:lstStyle/>
          <a:p>
            <a:pPr indent="0" marL="0">
              <a:buNone/>
            </a:pPr>
            <a:r>
              <a:rPr lang="en-US" sz="1500" b="1" dirty="0">
                <a:solidFill>
                  <a:srgbClr val="1E4A26"/>
                </a:solidFill>
                <a:latin typeface="Arial" pitchFamily="34" charset="0"/>
                <a:ea typeface="Arial" pitchFamily="34" charset="-122"/>
                <a:cs typeface="Arial" pitchFamily="34" charset="-120"/>
              </a:rPr>
              <a:t>Udefra (PESTLE)  </a:t>
            </a:r>
            <a:pPr indent="0" marL="0">
              <a:buNone/>
            </a:pPr>
            <a:r>
              <a:rPr lang="en-US" sz="1500" dirty="0">
                <a:solidFill>
                  <a:srgbClr val="1E4A26"/>
                </a:solidFill>
                <a:latin typeface="Arial" pitchFamily="34" charset="0"/>
                <a:ea typeface="Arial" pitchFamily="34" charset="-122"/>
                <a:cs typeface="Arial" pitchFamily="34" charset="-120"/>
              </a:rPr>
              <a:t>GDPR, NIS2 og krav om bæredygtighed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Green-IT, Hans Petur</dc:title>
  <dc:subject>PptxGenJS Presentation</dc:subject>
  <dc:creator>Hans Petur vid Streym Hansen</dc:creator>
  <cp:lastModifiedBy>Hans Petur vid Streym Hansen</cp:lastModifiedBy>
  <cp:revision>1</cp:revision>
  <dcterms:created xsi:type="dcterms:W3CDTF">2026-10-08T17:48:02Z</dcterms:created>
  <dcterms:modified xsi:type="dcterms:W3CDTF">2026-10-08T17:48:02Z</dcterms:modified>
</cp:coreProperties>
</file>