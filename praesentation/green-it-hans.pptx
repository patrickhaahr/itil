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15 sek. "Min del er opgave 3 om Service Value Chain, Incident og Problem Management i opgave 4 og de fire dimensioner i opgave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45 sek. Seks aktiviteter, der omdanner kundens behov til værdi. Ikke afdelinger: engage laver både salg og de nye kontorer. Forslag: hver aktivitet får en ansvarlig, så intet falder mellem bygningen i byen, fabrikken og kontorerne i Jylland.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45 sek. Svineproducenten: sælgeren afklarer (engage), R&amp;D tilpasser (design), fabrikken laver sensorer (build), test (design), værkstedet installerer (deliver), opfølgning (engage), næste gang hurtigere (improve). Engage og design to gange, plan slet ikke. En sensorfejl kan gå direkte fra engage til deliver og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Uplanlagt afbrydelse eller forringelse. Få servicen op igen hurtigst muligt, ikke finde årsagen. Registrer, prioriter, diagnosticer, eskaler, løs. Prioriteten styrer SLA-tiderne. L1 servicedesk, L2 specialister, L3 R&amp;D. Eksempel: kvægstald om natten, prioritet 1, gatewayens mobilforbindelse, reservegateway, workaround manuelt tilsyn. Mange stalde: major incident med én leder.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Et problem er årsagen til en eller flere incidents. Tre faser: identification (mønster i gentagne incidents), control (root cause, workaround, known error), error control (permanent løsning via Change Control). Eksempel: firmware, 15 kunder, strømsparetilstand. Sammenhæng: incident genopretter, problem fjerner årsagen. Incident kan lukkes, selv om problemet er åbent. Known errors gør servicedesken hurtigere.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1 min. Mangler én, fejler servicen. Udenom: GDPR, NIS2, bæredygtighed. Mennesker: dem og os mellem byen og fabrikken, klare roller, meld fejl tidligt. Information og teknologi: sensordata, landmanden ejer data, GDPR, skalering. Leverandører: hosting, sensorer, tele, deres nedetid lægges oven i, failover. Værdistrømme og processer: overgangene mellem bygningerne er der, sagerne venter, faste processer. Afslut: "Det var min del. Så giver jeg ordet videre til Patrick."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21A"/>
        </a:solidFill>
      </p:bgPr>
    </p:bg>
    <p:spTree>
      <p:nvGrpSpPr>
        <p:cNvPr id="1" name=""/>
        <p:cNvGrpSpPr/>
        <p:nvPr/>
      </p:nvGrpSpPr>
      <p:grpSpPr>
        <a:xfrm>
          <a:off x="0" y="0"/>
          <a:ext cx="0" cy="0"/>
          <a:chOff x="0" y="0"/>
          <a:chExt cx="0" cy="0"/>
        </a:xfrm>
      </p:grpSpPr>
      <p:sp>
        <p:nvSpPr>
          <p:cNvPr id="3" name="Text 0"/>
          <p:cNvSpPr txBox="1"/>
          <p:nvPr/>
        </p:nvSpPr>
        <p:spPr>
          <a:xfrm>
            <a:off x="685800" y="1188720"/>
            <a:ext cx="6400800" cy="274320"/>
          </a:xfrm>
          <a:prstGeom prst="rect">
            <a:avLst/>
          </a:prstGeom>
          <a:noFill/>
          <a:ln/>
        </p:spPr>
        <p:txBody>
          <a:bodyPr wrap="square" lIns="0" tIns="0" rIns="0" bIns="0" rtlCol="0" anchor="t"/>
          <a:lstStyle/>
          <a:p>
            <a:pPr indent="0" marL="0">
              <a:buNone/>
            </a:pPr>
            <a:r>
              <a:rPr lang="en-US" sz="1200" b="1" spc="200" kern="0" dirty="0">
                <a:solidFill>
                  <a:srgbClr val="A9D3B0"/>
                </a:solidFill>
                <a:latin typeface="Courier New" pitchFamily="34" charset="0"/>
                <a:ea typeface="Courier New" pitchFamily="34" charset="-122"/>
                <a:cs typeface="Courier New" pitchFamily="34" charset="-120"/>
              </a:rPr>
              <a:t>ITSM 1  ·  GREEN-IT CASE</a:t>
            </a:r>
            <a:endParaRPr lang="en-US" sz="1200" dirty="0"/>
          </a:p>
        </p:txBody>
      </p:sp>
      <p:sp>
        <p:nvSpPr>
          <p:cNvPr id="4" name="Text 1"/>
          <p:cNvSpPr txBox="1"/>
          <p:nvPr/>
        </p:nvSpPr>
        <p:spPr>
          <a:xfrm>
            <a:off x="685800" y="1600200"/>
            <a:ext cx="7772400" cy="1645920"/>
          </a:xfrm>
          <a:prstGeom prst="rect">
            <a:avLst/>
          </a:prstGeom>
          <a:noFill/>
          <a:ln/>
        </p:spPr>
        <p:txBody>
          <a:bodyPr wrap="square" lIns="0" tIns="0" rIns="0" bIns="0" rtlCol="0" anchor="t"/>
          <a:lstStyle/>
          <a:p>
            <a:pPr indent="0" marL="0">
              <a:buNone/>
            </a:pPr>
            <a:r>
              <a:rPr lang="en-US" sz="4400" dirty="0">
                <a:solidFill>
                  <a:srgbClr val="F5F8F8"/>
                </a:solidFill>
                <a:latin typeface="Georgia" pitchFamily="34" charset="0"/>
                <a:ea typeface="Georgia" pitchFamily="34" charset="-122"/>
                <a:cs typeface="Georgia" pitchFamily="34" charset="-120"/>
              </a:rPr>
              <a:t>Value chain, incidents og dimensioner</a:t>
            </a:r>
            <a:endParaRPr lang="en-US" sz="4400" dirty="0"/>
          </a:p>
        </p:txBody>
      </p:sp>
      <p:sp>
        <p:nvSpPr>
          <p:cNvPr id="5" name="Text 2"/>
          <p:cNvSpPr txBox="1"/>
          <p:nvPr/>
        </p:nvSpPr>
        <p:spPr>
          <a:xfrm>
            <a:off x="685800" y="5120640"/>
            <a:ext cx="6400800" cy="365760"/>
          </a:xfrm>
          <a:prstGeom prst="rect">
            <a:avLst/>
          </a:prstGeom>
          <a:noFill/>
          <a:ln/>
        </p:spPr>
        <p:txBody>
          <a:bodyPr wrap="square" lIns="0" tIns="0" rIns="0" bIns="0" rtlCol="0" anchor="t"/>
          <a:lstStyle/>
          <a:p>
            <a:pPr indent="0" marL="0">
              <a:buNone/>
            </a:pPr>
            <a:r>
              <a:rPr lang="en-US" sz="1800" dirty="0">
                <a:solidFill>
                  <a:srgbClr val="A9D3B0"/>
                </a:solidFill>
                <a:latin typeface="Arial" pitchFamily="34" charset="0"/>
                <a:ea typeface="Arial" pitchFamily="34" charset="-122"/>
                <a:cs typeface="Arial" pitchFamily="34" charset="-120"/>
              </a:rPr>
              <a:t>Hans Petur  ·  opgave 3, 4 og 5</a:t>
            </a:r>
            <a:endParaRPr lang="en-US" sz="1800" dirty="0"/>
          </a:p>
        </p:txBody>
      </p:sp>
      <p:sp>
        <p:nvSpPr>
          <p:cNvPr id="6" name="Shape 3"/>
          <p:cNvSpPr/>
          <p:nvPr/>
        </p:nvSpPr>
        <p:spPr>
          <a:xfrm>
            <a:off x="8595360" y="1463040"/>
            <a:ext cx="640080" cy="640080"/>
          </a:xfrm>
          <a:prstGeom prst="ellipse">
            <a:avLst/>
          </a:prstGeom>
          <a:solidFill>
            <a:srgbClr val="22302A"/>
          </a:solidFill>
          <a:ln w="12700">
            <a:solidFill>
              <a:srgbClr val="22302A"/>
            </a:solidFill>
            <a:prstDash val="solid"/>
          </a:ln>
        </p:spPr>
      </p:sp>
      <p:pic>
        <p:nvPicPr>
          <p:cNvPr id="7" name="Image 0" descr="preencoded.png">    </p:cNvPr>
          <p:cNvPicPr>
            <a:picLocks noChangeAspect="1"/>
          </p:cNvPicPr>
          <p:nvPr/>
        </p:nvPicPr>
        <p:blipFill>
          <a:blip r:embed="rId1"/>
          <a:stretch>
            <a:fillRect/>
          </a:stretch>
        </p:blipFill>
        <p:spPr>
          <a:xfrm>
            <a:off x="8748979" y="1616659"/>
            <a:ext cx="332842" cy="332842"/>
          </a:xfrm>
          <a:prstGeom prst="rect">
            <a:avLst/>
          </a:prstGeom>
        </p:spPr>
      </p:pic>
      <p:sp>
        <p:nvSpPr>
          <p:cNvPr id="8" name="Text 4"/>
          <p:cNvSpPr txBox="1"/>
          <p:nvPr/>
        </p:nvSpPr>
        <p:spPr>
          <a:xfrm>
            <a:off x="9418320" y="1463040"/>
            <a:ext cx="2377440" cy="640080"/>
          </a:xfrm>
          <a:prstGeom prst="rect">
            <a:avLst/>
          </a:prstGeom>
          <a:noFill/>
          <a:ln/>
        </p:spPr>
        <p:txBody>
          <a:bodyPr wrap="square" lIns="0" tIns="0" rIns="0" bIns="0" rtlCol="0" anchor="ctr"/>
          <a:lstStyle/>
          <a:p>
            <a:pPr indent="0" marL="0">
              <a:buNone/>
            </a:pPr>
            <a:r>
              <a:rPr lang="en-US" sz="1800" dirty="0">
                <a:solidFill>
                  <a:srgbClr val="F5F8F8"/>
                </a:solidFill>
                <a:latin typeface="Arial" pitchFamily="34" charset="0"/>
                <a:ea typeface="Arial" pitchFamily="34" charset="-122"/>
                <a:cs typeface="Arial" pitchFamily="34" charset="-120"/>
              </a:rPr>
              <a:t>Service Value Chain</a:t>
            </a:r>
            <a:endParaRPr lang="en-US" sz="1800" dirty="0"/>
          </a:p>
        </p:txBody>
      </p:sp>
      <p:sp>
        <p:nvSpPr>
          <p:cNvPr id="9" name="Shape 5"/>
          <p:cNvSpPr/>
          <p:nvPr/>
        </p:nvSpPr>
        <p:spPr>
          <a:xfrm>
            <a:off x="8595360" y="2423160"/>
            <a:ext cx="640080" cy="640080"/>
          </a:xfrm>
          <a:prstGeom prst="ellipse">
            <a:avLst/>
          </a:prstGeom>
          <a:solidFill>
            <a:srgbClr val="22302A"/>
          </a:solidFill>
          <a:ln w="12700">
            <a:solidFill>
              <a:srgbClr val="22302A"/>
            </a:solidFill>
            <a:prstDash val="solid"/>
          </a:ln>
        </p:spPr>
      </p:sp>
      <p:pic>
        <p:nvPicPr>
          <p:cNvPr id="10" name="Image 1" descr="preencoded.png">    </p:cNvPr>
          <p:cNvPicPr>
            <a:picLocks noChangeAspect="1"/>
          </p:cNvPicPr>
          <p:nvPr/>
        </p:nvPicPr>
        <p:blipFill>
          <a:blip r:embed="rId2"/>
          <a:stretch>
            <a:fillRect/>
          </a:stretch>
        </p:blipFill>
        <p:spPr>
          <a:xfrm>
            <a:off x="8748979" y="2576779"/>
            <a:ext cx="332842" cy="332842"/>
          </a:xfrm>
          <a:prstGeom prst="rect">
            <a:avLst/>
          </a:prstGeom>
        </p:spPr>
      </p:pic>
      <p:sp>
        <p:nvSpPr>
          <p:cNvPr id="11" name="Text 6"/>
          <p:cNvSpPr txBox="1"/>
          <p:nvPr/>
        </p:nvSpPr>
        <p:spPr>
          <a:xfrm>
            <a:off x="9418320" y="2423160"/>
            <a:ext cx="2377440" cy="640080"/>
          </a:xfrm>
          <a:prstGeom prst="rect">
            <a:avLst/>
          </a:prstGeom>
          <a:noFill/>
          <a:ln/>
        </p:spPr>
        <p:txBody>
          <a:bodyPr wrap="square" lIns="0" tIns="0" rIns="0" bIns="0" rtlCol="0" anchor="ctr"/>
          <a:lstStyle/>
          <a:p>
            <a:pPr indent="0" marL="0">
              <a:buNone/>
            </a:pPr>
            <a:r>
              <a:rPr lang="en-US" sz="1800" dirty="0">
                <a:solidFill>
                  <a:srgbClr val="F5F8F8"/>
                </a:solidFill>
                <a:latin typeface="Arial" pitchFamily="34" charset="0"/>
                <a:ea typeface="Arial" pitchFamily="34" charset="-122"/>
                <a:cs typeface="Arial" pitchFamily="34" charset="-120"/>
              </a:rPr>
              <a:t>Incident</a:t>
            </a:r>
            <a:endParaRPr lang="en-US" sz="1800" dirty="0"/>
          </a:p>
        </p:txBody>
      </p:sp>
      <p:sp>
        <p:nvSpPr>
          <p:cNvPr id="12" name="Shape 7"/>
          <p:cNvSpPr/>
          <p:nvPr/>
        </p:nvSpPr>
        <p:spPr>
          <a:xfrm>
            <a:off x="8595360" y="3383280"/>
            <a:ext cx="640080" cy="640080"/>
          </a:xfrm>
          <a:prstGeom prst="ellipse">
            <a:avLst/>
          </a:prstGeom>
          <a:solidFill>
            <a:srgbClr val="22302A"/>
          </a:solidFill>
          <a:ln w="12700">
            <a:solidFill>
              <a:srgbClr val="22302A"/>
            </a:solidFill>
            <a:prstDash val="solid"/>
          </a:ln>
        </p:spPr>
      </p:sp>
      <p:pic>
        <p:nvPicPr>
          <p:cNvPr id="13" name="Image 2" descr="preencoded.png">    </p:cNvPr>
          <p:cNvPicPr>
            <a:picLocks noChangeAspect="1"/>
          </p:cNvPicPr>
          <p:nvPr/>
        </p:nvPicPr>
        <p:blipFill>
          <a:blip r:embed="rId3"/>
          <a:stretch>
            <a:fillRect/>
          </a:stretch>
        </p:blipFill>
        <p:spPr>
          <a:xfrm>
            <a:off x="8748979" y="3536899"/>
            <a:ext cx="332842" cy="332842"/>
          </a:xfrm>
          <a:prstGeom prst="rect">
            <a:avLst/>
          </a:prstGeom>
        </p:spPr>
      </p:pic>
      <p:sp>
        <p:nvSpPr>
          <p:cNvPr id="14" name="Text 8"/>
          <p:cNvSpPr txBox="1"/>
          <p:nvPr/>
        </p:nvSpPr>
        <p:spPr>
          <a:xfrm>
            <a:off x="9418320" y="3383280"/>
            <a:ext cx="2377440" cy="640080"/>
          </a:xfrm>
          <a:prstGeom prst="rect">
            <a:avLst/>
          </a:prstGeom>
          <a:noFill/>
          <a:ln/>
        </p:spPr>
        <p:txBody>
          <a:bodyPr wrap="square" lIns="0" tIns="0" rIns="0" bIns="0" rtlCol="0" anchor="ctr"/>
          <a:lstStyle/>
          <a:p>
            <a:pPr indent="0" marL="0">
              <a:buNone/>
            </a:pPr>
            <a:r>
              <a:rPr lang="en-US" sz="1800" dirty="0">
                <a:solidFill>
                  <a:srgbClr val="F5F8F8"/>
                </a:solidFill>
                <a:latin typeface="Arial" pitchFamily="34" charset="0"/>
                <a:ea typeface="Arial" pitchFamily="34" charset="-122"/>
                <a:cs typeface="Arial" pitchFamily="34" charset="-120"/>
              </a:rPr>
              <a:t>Problem</a:t>
            </a:r>
            <a:endParaRPr lang="en-US" sz="1800" dirty="0"/>
          </a:p>
        </p:txBody>
      </p:sp>
      <p:sp>
        <p:nvSpPr>
          <p:cNvPr id="15" name="Shape 9"/>
          <p:cNvSpPr/>
          <p:nvPr/>
        </p:nvSpPr>
        <p:spPr>
          <a:xfrm>
            <a:off x="8595360" y="4343400"/>
            <a:ext cx="640080" cy="640080"/>
          </a:xfrm>
          <a:prstGeom prst="ellipse">
            <a:avLst/>
          </a:prstGeom>
          <a:solidFill>
            <a:srgbClr val="22302A"/>
          </a:solidFill>
          <a:ln w="12700">
            <a:solidFill>
              <a:srgbClr val="22302A"/>
            </a:solidFill>
            <a:prstDash val="solid"/>
          </a:ln>
        </p:spPr>
      </p:sp>
      <p:pic>
        <p:nvPicPr>
          <p:cNvPr id="16" name="Image 3" descr="preencoded.png">    </p:cNvPr>
          <p:cNvPicPr>
            <a:picLocks noChangeAspect="1"/>
          </p:cNvPicPr>
          <p:nvPr/>
        </p:nvPicPr>
        <p:blipFill>
          <a:blip r:embed="rId4"/>
          <a:stretch>
            <a:fillRect/>
          </a:stretch>
        </p:blipFill>
        <p:spPr>
          <a:xfrm>
            <a:off x="8748979" y="4497019"/>
            <a:ext cx="332842" cy="332842"/>
          </a:xfrm>
          <a:prstGeom prst="rect">
            <a:avLst/>
          </a:prstGeom>
        </p:spPr>
      </p:pic>
      <p:sp>
        <p:nvSpPr>
          <p:cNvPr id="17" name="Text 10"/>
          <p:cNvSpPr txBox="1"/>
          <p:nvPr/>
        </p:nvSpPr>
        <p:spPr>
          <a:xfrm>
            <a:off x="9418320" y="4343400"/>
            <a:ext cx="2377440" cy="640080"/>
          </a:xfrm>
          <a:prstGeom prst="rect">
            <a:avLst/>
          </a:prstGeom>
          <a:noFill/>
          <a:ln/>
        </p:spPr>
        <p:txBody>
          <a:bodyPr wrap="square" lIns="0" tIns="0" rIns="0" bIns="0" rtlCol="0" anchor="ctr"/>
          <a:lstStyle/>
          <a:p>
            <a:pPr indent="0" marL="0">
              <a:buNone/>
            </a:pPr>
            <a:r>
              <a:rPr lang="en-US" sz="1800" dirty="0">
                <a:solidFill>
                  <a:srgbClr val="F5F8F8"/>
                </a:solidFill>
                <a:latin typeface="Arial" pitchFamily="34" charset="0"/>
                <a:ea typeface="Arial" pitchFamily="34" charset="-122"/>
                <a:cs typeface="Arial" pitchFamily="34" charset="-120"/>
              </a:rPr>
              <a:t>Fire dimensioner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Service Value Chain</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2</a:t>
            </a:r>
            <a:endParaRPr lang="en-US" sz="1000" dirty="0"/>
          </a:p>
        </p:txBody>
      </p:sp>
      <p:sp>
        <p:nvSpPr>
          <p:cNvPr id="7" name="Shape 4"/>
          <p:cNvSpPr/>
          <p:nvPr/>
        </p:nvSpPr>
        <p:spPr>
          <a:xfrm>
            <a:off x="548640" y="1737360"/>
            <a:ext cx="3515258" cy="1691640"/>
          </a:xfrm>
          <a:prstGeom prst="roundRect">
            <a:avLst>
              <a:gd name="adj" fmla="val 6486"/>
            </a:avLst>
          </a:prstGeom>
          <a:solidFill>
            <a:srgbClr val="FCFDFD"/>
          </a:solidFill>
          <a:ln w="9525">
            <a:solidFill>
              <a:srgbClr val="DDE4E6"/>
            </a:solidFill>
            <a:prstDash val="solid"/>
          </a:ln>
        </p:spPr>
      </p:sp>
      <p:sp>
        <p:nvSpPr>
          <p:cNvPr id="8" name="Shape 5"/>
          <p:cNvSpPr/>
          <p:nvPr/>
        </p:nvSpPr>
        <p:spPr>
          <a:xfrm>
            <a:off x="822960" y="2011680"/>
            <a:ext cx="457200" cy="457200"/>
          </a:xfrm>
          <a:prstGeom prst="ellipse">
            <a:avLst/>
          </a:prstGeom>
          <a:solidFill>
            <a:srgbClr val="2F6B3A"/>
          </a:solidFill>
          <a:ln w="12700">
            <a:solidFill>
              <a:srgbClr val="2F6B3A"/>
            </a:solidFill>
            <a:prstDash val="solid"/>
          </a:ln>
        </p:spPr>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822960" y="2606040"/>
            <a:ext cx="2966618" cy="36576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Plan</a:t>
            </a:r>
            <a:endParaRPr lang="en-US" sz="1900" dirty="0"/>
          </a:p>
        </p:txBody>
      </p:sp>
      <p:sp>
        <p:nvSpPr>
          <p:cNvPr id="11" name="Text 8"/>
          <p:cNvSpPr txBox="1"/>
          <p:nvPr/>
        </p:nvSpPr>
        <p:spPr>
          <a:xfrm>
            <a:off x="822960" y="2971800"/>
            <a:ext cx="2966618" cy="36576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Ledelsen: hvilke byer først</a:t>
            </a:r>
            <a:endParaRPr lang="en-US" sz="1500" dirty="0"/>
          </a:p>
        </p:txBody>
      </p:sp>
      <p:sp>
        <p:nvSpPr>
          <p:cNvPr id="12" name="Shape 9"/>
          <p:cNvSpPr/>
          <p:nvPr/>
        </p:nvSpPr>
        <p:spPr>
          <a:xfrm>
            <a:off x="4338218" y="1737360"/>
            <a:ext cx="3515258" cy="1691640"/>
          </a:xfrm>
          <a:prstGeom prst="roundRect">
            <a:avLst>
              <a:gd name="adj" fmla="val 6486"/>
            </a:avLst>
          </a:prstGeom>
          <a:solidFill>
            <a:srgbClr val="FCFDFD"/>
          </a:solidFill>
          <a:ln w="9525">
            <a:solidFill>
              <a:srgbClr val="DDE4E6"/>
            </a:solidFill>
            <a:prstDash val="solid"/>
          </a:ln>
        </p:spPr>
      </p:sp>
      <p:sp>
        <p:nvSpPr>
          <p:cNvPr id="13" name="Shape 10"/>
          <p:cNvSpPr/>
          <p:nvPr/>
        </p:nvSpPr>
        <p:spPr>
          <a:xfrm>
            <a:off x="4612538" y="2011680"/>
            <a:ext cx="457200" cy="457200"/>
          </a:xfrm>
          <a:prstGeom prst="ellipse">
            <a:avLst/>
          </a:prstGeom>
          <a:solidFill>
            <a:srgbClr val="2F6B3A"/>
          </a:solidFill>
          <a:ln w="12700">
            <a:solidFill>
              <a:srgbClr val="2F6B3A"/>
            </a:solidFill>
            <a:prstDash val="solid"/>
          </a:ln>
        </p:spPr>
      </p:sp>
      <p:sp>
        <p:nvSpPr>
          <p:cNvPr id="14" name="Text 11"/>
          <p:cNvSpPr txBox="1"/>
          <p:nvPr/>
        </p:nvSpPr>
        <p:spPr>
          <a:xfrm>
            <a:off x="4612538"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2"/>
          <p:cNvSpPr txBox="1"/>
          <p:nvPr/>
        </p:nvSpPr>
        <p:spPr>
          <a:xfrm>
            <a:off x="4612538" y="2606040"/>
            <a:ext cx="2966618" cy="36576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Improve</a:t>
            </a:r>
            <a:endParaRPr lang="en-US" sz="1900" dirty="0"/>
          </a:p>
        </p:txBody>
      </p:sp>
      <p:sp>
        <p:nvSpPr>
          <p:cNvPr id="16" name="Text 13"/>
          <p:cNvSpPr txBox="1"/>
          <p:nvPr/>
        </p:nvSpPr>
        <p:spPr>
          <a:xfrm>
            <a:off x="4612538" y="2971800"/>
            <a:ext cx="2966618" cy="36576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Færre falske alarmer</a:t>
            </a:r>
            <a:endParaRPr lang="en-US" sz="1500" dirty="0"/>
          </a:p>
        </p:txBody>
      </p:sp>
      <p:sp>
        <p:nvSpPr>
          <p:cNvPr id="17" name="Shape 14"/>
          <p:cNvSpPr/>
          <p:nvPr/>
        </p:nvSpPr>
        <p:spPr>
          <a:xfrm>
            <a:off x="8127797" y="1737360"/>
            <a:ext cx="3515258" cy="1691640"/>
          </a:xfrm>
          <a:prstGeom prst="roundRect">
            <a:avLst>
              <a:gd name="adj" fmla="val 6486"/>
            </a:avLst>
          </a:prstGeom>
          <a:solidFill>
            <a:srgbClr val="FCFDFD"/>
          </a:solidFill>
          <a:ln w="9525">
            <a:solidFill>
              <a:srgbClr val="DDE4E6"/>
            </a:solidFill>
            <a:prstDash val="solid"/>
          </a:ln>
        </p:spPr>
      </p:sp>
      <p:sp>
        <p:nvSpPr>
          <p:cNvPr id="18" name="Shape 15"/>
          <p:cNvSpPr/>
          <p:nvPr/>
        </p:nvSpPr>
        <p:spPr>
          <a:xfrm>
            <a:off x="8402117" y="2011680"/>
            <a:ext cx="457200" cy="457200"/>
          </a:xfrm>
          <a:prstGeom prst="ellipse">
            <a:avLst/>
          </a:prstGeom>
          <a:solidFill>
            <a:srgbClr val="2F6B3A"/>
          </a:solidFill>
          <a:ln w="12700">
            <a:solidFill>
              <a:srgbClr val="2F6B3A"/>
            </a:solidFill>
            <a:prstDash val="solid"/>
          </a:ln>
        </p:spPr>
      </p:sp>
      <p:sp>
        <p:nvSpPr>
          <p:cNvPr id="19" name="Text 16"/>
          <p:cNvSpPr txBox="1"/>
          <p:nvPr/>
        </p:nvSpPr>
        <p:spPr>
          <a:xfrm>
            <a:off x="8402117" y="2011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0" name="Text 17"/>
          <p:cNvSpPr txBox="1"/>
          <p:nvPr/>
        </p:nvSpPr>
        <p:spPr>
          <a:xfrm>
            <a:off x="8402117" y="2606040"/>
            <a:ext cx="2966618" cy="36576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Engage</a:t>
            </a:r>
            <a:endParaRPr lang="en-US" sz="1900" dirty="0"/>
          </a:p>
        </p:txBody>
      </p:sp>
      <p:sp>
        <p:nvSpPr>
          <p:cNvPr id="21" name="Text 18"/>
          <p:cNvSpPr txBox="1"/>
          <p:nvPr/>
        </p:nvSpPr>
        <p:spPr>
          <a:xfrm>
            <a:off x="8402117" y="2971800"/>
            <a:ext cx="2966618" cy="36576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Salg taler med landmænd</a:t>
            </a:r>
            <a:endParaRPr lang="en-US" sz="1500" dirty="0"/>
          </a:p>
        </p:txBody>
      </p:sp>
      <p:sp>
        <p:nvSpPr>
          <p:cNvPr id="22" name="Shape 19"/>
          <p:cNvSpPr/>
          <p:nvPr/>
        </p:nvSpPr>
        <p:spPr>
          <a:xfrm>
            <a:off x="548640" y="3703320"/>
            <a:ext cx="3515258" cy="1691640"/>
          </a:xfrm>
          <a:prstGeom prst="roundRect">
            <a:avLst>
              <a:gd name="adj" fmla="val 6486"/>
            </a:avLst>
          </a:prstGeom>
          <a:solidFill>
            <a:srgbClr val="FCFDFD"/>
          </a:solidFill>
          <a:ln w="9525">
            <a:solidFill>
              <a:srgbClr val="DDE4E6"/>
            </a:solidFill>
            <a:prstDash val="solid"/>
          </a:ln>
        </p:spPr>
      </p:sp>
      <p:sp>
        <p:nvSpPr>
          <p:cNvPr id="23" name="Shape 20"/>
          <p:cNvSpPr/>
          <p:nvPr/>
        </p:nvSpPr>
        <p:spPr>
          <a:xfrm>
            <a:off x="822960" y="3977640"/>
            <a:ext cx="457200" cy="457200"/>
          </a:xfrm>
          <a:prstGeom prst="ellipse">
            <a:avLst/>
          </a:prstGeom>
          <a:solidFill>
            <a:srgbClr val="2F6B3A"/>
          </a:solidFill>
          <a:ln w="12700">
            <a:solidFill>
              <a:srgbClr val="2F6B3A"/>
            </a:solidFill>
            <a:prstDash val="solid"/>
          </a:ln>
        </p:spPr>
      </p:sp>
      <p:sp>
        <p:nvSpPr>
          <p:cNvPr id="24" name="Text 21"/>
          <p:cNvSpPr txBox="1"/>
          <p:nvPr/>
        </p:nvSpPr>
        <p:spPr>
          <a:xfrm>
            <a:off x="822960" y="39776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5" name="Text 22"/>
          <p:cNvSpPr txBox="1"/>
          <p:nvPr/>
        </p:nvSpPr>
        <p:spPr>
          <a:xfrm>
            <a:off x="822960" y="4572000"/>
            <a:ext cx="2966618" cy="36576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Design &amp; transition</a:t>
            </a:r>
            <a:endParaRPr lang="en-US" sz="1900" dirty="0"/>
          </a:p>
        </p:txBody>
      </p:sp>
      <p:sp>
        <p:nvSpPr>
          <p:cNvPr id="26" name="Text 23"/>
          <p:cNvSpPr txBox="1"/>
          <p:nvPr/>
        </p:nvSpPr>
        <p:spPr>
          <a:xfrm>
            <a:off x="822960" y="4937760"/>
            <a:ext cx="2966618" cy="36576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R&amp;D designer og tester</a:t>
            </a:r>
            <a:endParaRPr lang="en-US" sz="1500" dirty="0"/>
          </a:p>
        </p:txBody>
      </p:sp>
      <p:sp>
        <p:nvSpPr>
          <p:cNvPr id="27" name="Shape 24"/>
          <p:cNvSpPr/>
          <p:nvPr/>
        </p:nvSpPr>
        <p:spPr>
          <a:xfrm>
            <a:off x="4338218" y="3703320"/>
            <a:ext cx="3515258" cy="1691640"/>
          </a:xfrm>
          <a:prstGeom prst="roundRect">
            <a:avLst>
              <a:gd name="adj" fmla="val 6486"/>
            </a:avLst>
          </a:prstGeom>
          <a:solidFill>
            <a:srgbClr val="FCFDFD"/>
          </a:solidFill>
          <a:ln w="9525">
            <a:solidFill>
              <a:srgbClr val="DDE4E6"/>
            </a:solidFill>
            <a:prstDash val="solid"/>
          </a:ln>
        </p:spPr>
      </p:sp>
      <p:sp>
        <p:nvSpPr>
          <p:cNvPr id="28" name="Shape 25"/>
          <p:cNvSpPr/>
          <p:nvPr/>
        </p:nvSpPr>
        <p:spPr>
          <a:xfrm>
            <a:off x="4612538" y="3977640"/>
            <a:ext cx="457200" cy="457200"/>
          </a:xfrm>
          <a:prstGeom prst="ellipse">
            <a:avLst/>
          </a:prstGeom>
          <a:solidFill>
            <a:srgbClr val="2F6B3A"/>
          </a:solidFill>
          <a:ln w="12700">
            <a:solidFill>
              <a:srgbClr val="2F6B3A"/>
            </a:solidFill>
            <a:prstDash val="solid"/>
          </a:ln>
        </p:spPr>
      </p:sp>
      <p:sp>
        <p:nvSpPr>
          <p:cNvPr id="29" name="Text 26"/>
          <p:cNvSpPr txBox="1"/>
          <p:nvPr/>
        </p:nvSpPr>
        <p:spPr>
          <a:xfrm>
            <a:off x="4612538" y="39776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30" name="Text 27"/>
          <p:cNvSpPr txBox="1"/>
          <p:nvPr/>
        </p:nvSpPr>
        <p:spPr>
          <a:xfrm>
            <a:off x="4612538" y="4572000"/>
            <a:ext cx="2966618" cy="36576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Obtain/build</a:t>
            </a:r>
            <a:endParaRPr lang="en-US" sz="1900" dirty="0"/>
          </a:p>
        </p:txBody>
      </p:sp>
      <p:sp>
        <p:nvSpPr>
          <p:cNvPr id="31" name="Text 28"/>
          <p:cNvSpPr txBox="1"/>
          <p:nvPr/>
        </p:nvSpPr>
        <p:spPr>
          <a:xfrm>
            <a:off x="4612538" y="4937760"/>
            <a:ext cx="2966618" cy="36576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Fabrikken laver sensorer</a:t>
            </a:r>
            <a:endParaRPr lang="en-US" sz="1500" dirty="0"/>
          </a:p>
        </p:txBody>
      </p:sp>
      <p:sp>
        <p:nvSpPr>
          <p:cNvPr id="32" name="Shape 29"/>
          <p:cNvSpPr/>
          <p:nvPr/>
        </p:nvSpPr>
        <p:spPr>
          <a:xfrm>
            <a:off x="8127797" y="3703320"/>
            <a:ext cx="3515258" cy="1691640"/>
          </a:xfrm>
          <a:prstGeom prst="roundRect">
            <a:avLst>
              <a:gd name="adj" fmla="val 6486"/>
            </a:avLst>
          </a:prstGeom>
          <a:solidFill>
            <a:srgbClr val="FCFDFD"/>
          </a:solidFill>
          <a:ln w="9525">
            <a:solidFill>
              <a:srgbClr val="DDE4E6"/>
            </a:solidFill>
            <a:prstDash val="solid"/>
          </a:ln>
        </p:spPr>
      </p:sp>
      <p:sp>
        <p:nvSpPr>
          <p:cNvPr id="33" name="Shape 30"/>
          <p:cNvSpPr/>
          <p:nvPr/>
        </p:nvSpPr>
        <p:spPr>
          <a:xfrm>
            <a:off x="8402117" y="3977640"/>
            <a:ext cx="457200" cy="457200"/>
          </a:xfrm>
          <a:prstGeom prst="ellipse">
            <a:avLst/>
          </a:prstGeom>
          <a:solidFill>
            <a:srgbClr val="2F6B3A"/>
          </a:solidFill>
          <a:ln w="12700">
            <a:solidFill>
              <a:srgbClr val="2F6B3A"/>
            </a:solidFill>
            <a:prstDash val="solid"/>
          </a:ln>
        </p:spPr>
      </p:sp>
      <p:sp>
        <p:nvSpPr>
          <p:cNvPr id="34" name="Text 31"/>
          <p:cNvSpPr txBox="1"/>
          <p:nvPr/>
        </p:nvSpPr>
        <p:spPr>
          <a:xfrm>
            <a:off x="8402117" y="39776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5" name="Text 32"/>
          <p:cNvSpPr txBox="1"/>
          <p:nvPr/>
        </p:nvSpPr>
        <p:spPr>
          <a:xfrm>
            <a:off x="8402117" y="4572000"/>
            <a:ext cx="2966618" cy="36576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Deliver &amp; support</a:t>
            </a:r>
            <a:endParaRPr lang="en-US" sz="1900" dirty="0"/>
          </a:p>
        </p:txBody>
      </p:sp>
      <p:sp>
        <p:nvSpPr>
          <p:cNvPr id="36" name="Text 33"/>
          <p:cNvSpPr txBox="1"/>
          <p:nvPr/>
        </p:nvSpPr>
        <p:spPr>
          <a:xfrm>
            <a:off x="8402117" y="4937760"/>
            <a:ext cx="2966618" cy="36576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Værksted og servicedesk</a:t>
            </a:r>
            <a:endParaRPr lang="en-US" sz="1500" dirty="0"/>
          </a:p>
        </p:txBody>
      </p:sp>
      <p:sp>
        <p:nvSpPr>
          <p:cNvPr id="37" name="Shape 34"/>
          <p:cNvSpPr/>
          <p:nvPr/>
        </p:nvSpPr>
        <p:spPr>
          <a:xfrm>
            <a:off x="548640" y="5715000"/>
            <a:ext cx="11094415" cy="548640"/>
          </a:xfrm>
          <a:prstGeom prst="roundRect">
            <a:avLst>
              <a:gd name="adj" fmla="val 20000"/>
            </a:avLst>
          </a:prstGeom>
          <a:solidFill>
            <a:srgbClr val="E9F4EA"/>
          </a:solidFill>
          <a:ln w="9525">
            <a:solidFill>
              <a:srgbClr val="A9D3B0"/>
            </a:solidFill>
            <a:prstDash val="solid"/>
          </a:ln>
        </p:spPr>
      </p:sp>
      <p:sp>
        <p:nvSpPr>
          <p:cNvPr id="38" name="Text 35"/>
          <p:cNvSpPr txBox="1"/>
          <p:nvPr/>
        </p:nvSpPr>
        <p:spPr>
          <a:xfrm>
            <a:off x="822960" y="5715000"/>
            <a:ext cx="10545775" cy="548640"/>
          </a:xfrm>
          <a:prstGeom prst="rect">
            <a:avLst/>
          </a:prstGeom>
          <a:noFill/>
          <a:ln/>
        </p:spPr>
        <p:txBody>
          <a:bodyPr wrap="square" lIns="0" tIns="0" rIns="0" bIns="0" rtlCol="0" anchor="ctr"/>
          <a:lstStyle/>
          <a:p>
            <a:pPr indent="0" marL="0">
              <a:buNone/>
            </a:pPr>
            <a:r>
              <a:rPr lang="en-US" sz="1600" b="1" dirty="0">
                <a:solidFill>
                  <a:srgbClr val="1E4A26"/>
                </a:solidFill>
                <a:latin typeface="Arial" pitchFamily="34" charset="0"/>
                <a:ea typeface="Arial" pitchFamily="34" charset="-122"/>
                <a:cs typeface="Arial" pitchFamily="34" charset="-120"/>
              </a:rPr>
              <a:t>Forslag  </a:t>
            </a:r>
            <a:pPr indent="0" marL="0">
              <a:buNone/>
            </a:pPr>
            <a:r>
              <a:rPr lang="en-US" sz="1600" dirty="0">
                <a:solidFill>
                  <a:srgbClr val="1E4A26"/>
                </a:solidFill>
                <a:latin typeface="Arial" pitchFamily="34" charset="0"/>
                <a:ea typeface="Arial" pitchFamily="34" charset="-122"/>
                <a:cs typeface="Arial" pitchFamily="34" charset="-120"/>
              </a:rPr>
              <a:t>hver aktivitet får en ansvarlig på tværs af lokationerne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Ikke et samlebånd</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548640" y="1645920"/>
            <a:ext cx="11094415"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EN SVINEPRODUCENT VIL HAVE STALDOVERVÅGNING</a:t>
            </a:r>
            <a:endParaRPr lang="en-US" sz="1100" dirty="0"/>
          </a:p>
        </p:txBody>
      </p:sp>
      <p:sp>
        <p:nvSpPr>
          <p:cNvPr id="8" name="Shape 5"/>
          <p:cNvSpPr/>
          <p:nvPr/>
        </p:nvSpPr>
        <p:spPr>
          <a:xfrm>
            <a:off x="548640" y="2103120"/>
            <a:ext cx="1443838" cy="1371600"/>
          </a:xfrm>
          <a:prstGeom prst="roundRect">
            <a:avLst>
              <a:gd name="adj" fmla="val 8000"/>
            </a:avLst>
          </a:prstGeom>
          <a:solidFill>
            <a:srgbClr val="FCFDFD"/>
          </a:solidFill>
          <a:ln w="9525">
            <a:solidFill>
              <a:srgbClr val="DDE4E6"/>
            </a:solidFill>
            <a:prstDash val="solid"/>
          </a:ln>
        </p:spPr>
      </p:sp>
      <p:sp>
        <p:nvSpPr>
          <p:cNvPr id="9" name="Text 6"/>
          <p:cNvSpPr txBox="1"/>
          <p:nvPr/>
        </p:nvSpPr>
        <p:spPr>
          <a:xfrm>
            <a:off x="548640"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1</a:t>
            </a:r>
            <a:endParaRPr lang="en-US" sz="1400" dirty="0"/>
          </a:p>
        </p:txBody>
      </p:sp>
      <p:sp>
        <p:nvSpPr>
          <p:cNvPr id="10" name="Text 7"/>
          <p:cNvSpPr txBox="1"/>
          <p:nvPr/>
        </p:nvSpPr>
        <p:spPr>
          <a:xfrm>
            <a:off x="548640"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11" name="Shape 8"/>
          <p:cNvSpPr/>
          <p:nvPr/>
        </p:nvSpPr>
        <p:spPr>
          <a:xfrm>
            <a:off x="2157070" y="2103120"/>
            <a:ext cx="1443838" cy="1371600"/>
          </a:xfrm>
          <a:prstGeom prst="roundRect">
            <a:avLst>
              <a:gd name="adj" fmla="val 8000"/>
            </a:avLst>
          </a:prstGeom>
          <a:solidFill>
            <a:srgbClr val="FCFDFD"/>
          </a:solidFill>
          <a:ln w="9525">
            <a:solidFill>
              <a:srgbClr val="DDE4E6"/>
            </a:solidFill>
            <a:prstDash val="solid"/>
          </a:ln>
        </p:spPr>
      </p:sp>
      <p:sp>
        <p:nvSpPr>
          <p:cNvPr id="12" name="Text 9"/>
          <p:cNvSpPr txBox="1"/>
          <p:nvPr/>
        </p:nvSpPr>
        <p:spPr>
          <a:xfrm>
            <a:off x="2157070"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2</a:t>
            </a:r>
            <a:endParaRPr lang="en-US" sz="1400" dirty="0"/>
          </a:p>
        </p:txBody>
      </p:sp>
      <p:sp>
        <p:nvSpPr>
          <p:cNvPr id="13" name="Text 10"/>
          <p:cNvSpPr txBox="1"/>
          <p:nvPr/>
        </p:nvSpPr>
        <p:spPr>
          <a:xfrm>
            <a:off x="2157070"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14" name="Shape 11"/>
          <p:cNvSpPr/>
          <p:nvPr/>
        </p:nvSpPr>
        <p:spPr>
          <a:xfrm>
            <a:off x="3765499" y="2103120"/>
            <a:ext cx="1443838" cy="1371600"/>
          </a:xfrm>
          <a:prstGeom prst="roundRect">
            <a:avLst>
              <a:gd name="adj" fmla="val 8000"/>
            </a:avLst>
          </a:prstGeom>
          <a:solidFill>
            <a:srgbClr val="FCFDFD"/>
          </a:solidFill>
          <a:ln w="9525">
            <a:solidFill>
              <a:srgbClr val="DDE4E6"/>
            </a:solidFill>
            <a:prstDash val="solid"/>
          </a:ln>
        </p:spPr>
      </p:sp>
      <p:sp>
        <p:nvSpPr>
          <p:cNvPr id="15" name="Text 12"/>
          <p:cNvSpPr txBox="1"/>
          <p:nvPr/>
        </p:nvSpPr>
        <p:spPr>
          <a:xfrm>
            <a:off x="3765499"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3</a:t>
            </a:r>
            <a:endParaRPr lang="en-US" sz="1400" dirty="0"/>
          </a:p>
        </p:txBody>
      </p:sp>
      <p:sp>
        <p:nvSpPr>
          <p:cNvPr id="16" name="Text 13"/>
          <p:cNvSpPr txBox="1"/>
          <p:nvPr/>
        </p:nvSpPr>
        <p:spPr>
          <a:xfrm>
            <a:off x="3765499"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Build</a:t>
            </a:r>
            <a:endParaRPr lang="en-US" sz="1600" dirty="0"/>
          </a:p>
        </p:txBody>
      </p:sp>
      <p:sp>
        <p:nvSpPr>
          <p:cNvPr id="17" name="Shape 14"/>
          <p:cNvSpPr/>
          <p:nvPr/>
        </p:nvSpPr>
        <p:spPr>
          <a:xfrm>
            <a:off x="5373929" y="2103120"/>
            <a:ext cx="1443838" cy="1371600"/>
          </a:xfrm>
          <a:prstGeom prst="roundRect">
            <a:avLst>
              <a:gd name="adj" fmla="val 8000"/>
            </a:avLst>
          </a:prstGeom>
          <a:solidFill>
            <a:srgbClr val="E9F4EA"/>
          </a:solidFill>
          <a:ln w="9525">
            <a:solidFill>
              <a:srgbClr val="2F6B3A"/>
            </a:solidFill>
            <a:prstDash val="solid"/>
          </a:ln>
        </p:spPr>
      </p:sp>
      <p:sp>
        <p:nvSpPr>
          <p:cNvPr id="18" name="Text 15"/>
          <p:cNvSpPr txBox="1"/>
          <p:nvPr/>
        </p:nvSpPr>
        <p:spPr>
          <a:xfrm>
            <a:off x="5373929"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4</a:t>
            </a:r>
            <a:endParaRPr lang="en-US" sz="1400" dirty="0"/>
          </a:p>
        </p:txBody>
      </p:sp>
      <p:sp>
        <p:nvSpPr>
          <p:cNvPr id="19" name="Text 16"/>
          <p:cNvSpPr txBox="1"/>
          <p:nvPr/>
        </p:nvSpPr>
        <p:spPr>
          <a:xfrm>
            <a:off x="5373929"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20" name="Shape 17"/>
          <p:cNvSpPr/>
          <p:nvPr/>
        </p:nvSpPr>
        <p:spPr>
          <a:xfrm>
            <a:off x="6982358" y="2103120"/>
            <a:ext cx="1443838" cy="1371600"/>
          </a:xfrm>
          <a:prstGeom prst="roundRect">
            <a:avLst>
              <a:gd name="adj" fmla="val 8000"/>
            </a:avLst>
          </a:prstGeom>
          <a:solidFill>
            <a:srgbClr val="FCFDFD"/>
          </a:solidFill>
          <a:ln w="9525">
            <a:solidFill>
              <a:srgbClr val="DDE4E6"/>
            </a:solidFill>
            <a:prstDash val="solid"/>
          </a:ln>
        </p:spPr>
      </p:sp>
      <p:sp>
        <p:nvSpPr>
          <p:cNvPr id="21" name="Text 18"/>
          <p:cNvSpPr txBox="1"/>
          <p:nvPr/>
        </p:nvSpPr>
        <p:spPr>
          <a:xfrm>
            <a:off x="6982358"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5</a:t>
            </a:r>
            <a:endParaRPr lang="en-US" sz="1400" dirty="0"/>
          </a:p>
        </p:txBody>
      </p:sp>
      <p:sp>
        <p:nvSpPr>
          <p:cNvPr id="22" name="Text 19"/>
          <p:cNvSpPr txBox="1"/>
          <p:nvPr/>
        </p:nvSpPr>
        <p:spPr>
          <a:xfrm>
            <a:off x="6982358"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Deliver</a:t>
            </a:r>
            <a:endParaRPr lang="en-US" sz="1600" dirty="0"/>
          </a:p>
        </p:txBody>
      </p:sp>
      <p:sp>
        <p:nvSpPr>
          <p:cNvPr id="23" name="Shape 20"/>
          <p:cNvSpPr/>
          <p:nvPr/>
        </p:nvSpPr>
        <p:spPr>
          <a:xfrm>
            <a:off x="8590788" y="2103120"/>
            <a:ext cx="1443838" cy="1371600"/>
          </a:xfrm>
          <a:prstGeom prst="roundRect">
            <a:avLst>
              <a:gd name="adj" fmla="val 8000"/>
            </a:avLst>
          </a:prstGeom>
          <a:solidFill>
            <a:srgbClr val="E9F4EA"/>
          </a:solidFill>
          <a:ln w="9525">
            <a:solidFill>
              <a:srgbClr val="2F6B3A"/>
            </a:solidFill>
            <a:prstDash val="solid"/>
          </a:ln>
        </p:spPr>
      </p:sp>
      <p:sp>
        <p:nvSpPr>
          <p:cNvPr id="24" name="Text 21"/>
          <p:cNvSpPr txBox="1"/>
          <p:nvPr/>
        </p:nvSpPr>
        <p:spPr>
          <a:xfrm>
            <a:off x="8590788"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6</a:t>
            </a:r>
            <a:endParaRPr lang="en-US" sz="1400" dirty="0"/>
          </a:p>
        </p:txBody>
      </p:sp>
      <p:sp>
        <p:nvSpPr>
          <p:cNvPr id="25" name="Text 22"/>
          <p:cNvSpPr txBox="1"/>
          <p:nvPr/>
        </p:nvSpPr>
        <p:spPr>
          <a:xfrm>
            <a:off x="8590788"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26" name="Shape 23"/>
          <p:cNvSpPr/>
          <p:nvPr/>
        </p:nvSpPr>
        <p:spPr>
          <a:xfrm>
            <a:off x="10199218" y="2103120"/>
            <a:ext cx="1443838" cy="1371600"/>
          </a:xfrm>
          <a:prstGeom prst="roundRect">
            <a:avLst>
              <a:gd name="adj" fmla="val 8000"/>
            </a:avLst>
          </a:prstGeom>
          <a:solidFill>
            <a:srgbClr val="FCFDFD"/>
          </a:solidFill>
          <a:ln w="9525">
            <a:solidFill>
              <a:srgbClr val="DDE4E6"/>
            </a:solidFill>
            <a:prstDash val="solid"/>
          </a:ln>
        </p:spPr>
      </p:sp>
      <p:sp>
        <p:nvSpPr>
          <p:cNvPr id="27" name="Text 24"/>
          <p:cNvSpPr txBox="1"/>
          <p:nvPr/>
        </p:nvSpPr>
        <p:spPr>
          <a:xfrm>
            <a:off x="10199218" y="2194560"/>
            <a:ext cx="1443838" cy="36576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7</a:t>
            </a:r>
            <a:endParaRPr lang="en-US" sz="1400" dirty="0"/>
          </a:p>
        </p:txBody>
      </p:sp>
      <p:sp>
        <p:nvSpPr>
          <p:cNvPr id="28" name="Text 25"/>
          <p:cNvSpPr txBox="1"/>
          <p:nvPr/>
        </p:nvSpPr>
        <p:spPr>
          <a:xfrm>
            <a:off x="10199218" y="2606040"/>
            <a:ext cx="1443838" cy="64008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Improve</a:t>
            </a:r>
            <a:endParaRPr lang="en-US" sz="1600" dirty="0"/>
          </a:p>
        </p:txBody>
      </p:sp>
      <p:sp>
        <p:nvSpPr>
          <p:cNvPr id="29" name="Shape 26"/>
          <p:cNvSpPr/>
          <p:nvPr/>
        </p:nvSpPr>
        <p:spPr>
          <a:xfrm>
            <a:off x="548640" y="3977640"/>
            <a:ext cx="5387188" cy="2011680"/>
          </a:xfrm>
          <a:prstGeom prst="roundRect">
            <a:avLst>
              <a:gd name="adj" fmla="val 5455"/>
            </a:avLst>
          </a:prstGeom>
          <a:solidFill>
            <a:srgbClr val="FCFDFD"/>
          </a:solidFill>
          <a:ln w="9525">
            <a:solidFill>
              <a:srgbClr val="DDE4E6"/>
            </a:solidFill>
            <a:prstDash val="solid"/>
          </a:ln>
        </p:spPr>
      </p:sp>
      <p:sp>
        <p:nvSpPr>
          <p:cNvPr id="30" name="Text 27"/>
          <p:cNvSpPr txBox="1"/>
          <p:nvPr/>
        </p:nvSpPr>
        <p:spPr>
          <a:xfrm>
            <a:off x="868680" y="4160520"/>
            <a:ext cx="4747108" cy="411480"/>
          </a:xfrm>
          <a:prstGeom prst="rect">
            <a:avLst/>
          </a:prstGeom>
          <a:noFill/>
          <a:ln/>
        </p:spPr>
        <p:txBody>
          <a:bodyPr wrap="square" lIns="0" tIns="0" rIns="0" bIns="0" rtlCol="0" anchor="t"/>
          <a:lstStyle/>
          <a:p>
            <a:pPr indent="0" marL="0">
              <a:buNone/>
            </a:pPr>
            <a:r>
              <a:rPr lang="en-US" sz="2200" dirty="0">
                <a:solidFill>
                  <a:srgbClr val="17221A"/>
                </a:solidFill>
                <a:latin typeface="Georgia" pitchFamily="34" charset="0"/>
                <a:ea typeface="Georgia" pitchFamily="34" charset="-122"/>
                <a:cs typeface="Georgia" pitchFamily="34" charset="-120"/>
              </a:rPr>
              <a:t>To gange</a:t>
            </a:r>
            <a:endParaRPr lang="en-US" sz="2200" dirty="0"/>
          </a:p>
        </p:txBody>
      </p:sp>
      <p:sp>
        <p:nvSpPr>
          <p:cNvPr id="31" name="Text 28"/>
          <p:cNvSpPr txBox="1"/>
          <p:nvPr/>
        </p:nvSpPr>
        <p:spPr>
          <a:xfrm>
            <a:off x="868680" y="4663440"/>
            <a:ext cx="4747108" cy="1097280"/>
          </a:xfrm>
          <a:prstGeom prst="rect">
            <a:avLst/>
          </a:prstGeom>
          <a:noFill/>
          <a:ln/>
        </p:spPr>
        <p:txBody>
          <a:bodyPr wrap="square" lIns="0" tIns="0" rIns="0" bIns="0" rtlCol="0" anchor="t"/>
          <a:lstStyle/>
          <a:p>
            <a:pPr indent="0" marL="0">
              <a:buNone/>
            </a:pPr>
            <a:r>
              <a:rPr lang="en-US" sz="1700" dirty="0">
                <a:solidFill>
                  <a:srgbClr val="526066"/>
                </a:solidFill>
                <a:latin typeface="Arial" pitchFamily="34" charset="0"/>
                <a:ea typeface="Arial" pitchFamily="34" charset="-122"/>
                <a:cs typeface="Arial" pitchFamily="34" charset="-120"/>
              </a:rPr>
              <a:t>Engage og design bruges to gange. Plan bruges slet ikke.</a:t>
            </a:r>
            <a:endParaRPr lang="en-US" sz="1700" dirty="0"/>
          </a:p>
        </p:txBody>
      </p:sp>
      <p:sp>
        <p:nvSpPr>
          <p:cNvPr id="32" name="Shape 29"/>
          <p:cNvSpPr/>
          <p:nvPr/>
        </p:nvSpPr>
        <p:spPr>
          <a:xfrm>
            <a:off x="6255868" y="3977640"/>
            <a:ext cx="5387188" cy="2011680"/>
          </a:xfrm>
          <a:prstGeom prst="roundRect">
            <a:avLst>
              <a:gd name="adj" fmla="val 5455"/>
            </a:avLst>
          </a:prstGeom>
          <a:solidFill>
            <a:srgbClr val="E9F4EA"/>
          </a:solidFill>
          <a:ln w="9525">
            <a:solidFill>
              <a:srgbClr val="A9D3B0"/>
            </a:solidFill>
            <a:prstDash val="solid"/>
          </a:ln>
        </p:spPr>
      </p:sp>
      <p:sp>
        <p:nvSpPr>
          <p:cNvPr id="33" name="Text 30"/>
          <p:cNvSpPr txBox="1"/>
          <p:nvPr/>
        </p:nvSpPr>
        <p:spPr>
          <a:xfrm>
            <a:off x="6575908" y="4160520"/>
            <a:ext cx="4747108" cy="411480"/>
          </a:xfrm>
          <a:prstGeom prst="rect">
            <a:avLst/>
          </a:prstGeom>
          <a:noFill/>
          <a:ln/>
        </p:spPr>
        <p:txBody>
          <a:bodyPr wrap="square" lIns="0" tIns="0" rIns="0" bIns="0" rtlCol="0" anchor="t"/>
          <a:lstStyle/>
          <a:p>
            <a:pPr indent="0" marL="0">
              <a:buNone/>
            </a:pPr>
            <a:r>
              <a:rPr lang="en-US" sz="2200" dirty="0">
                <a:solidFill>
                  <a:srgbClr val="1E4A26"/>
                </a:solidFill>
                <a:latin typeface="Georgia" pitchFamily="34" charset="0"/>
                <a:ea typeface="Georgia" pitchFamily="34" charset="-122"/>
                <a:cs typeface="Georgia" pitchFamily="34" charset="-120"/>
              </a:rPr>
              <a:t>Kombineres efter behov</a:t>
            </a:r>
            <a:endParaRPr lang="en-US" sz="2200" dirty="0"/>
          </a:p>
        </p:txBody>
      </p:sp>
      <p:sp>
        <p:nvSpPr>
          <p:cNvPr id="34" name="Text 31"/>
          <p:cNvSpPr txBox="1"/>
          <p:nvPr/>
        </p:nvSpPr>
        <p:spPr>
          <a:xfrm>
            <a:off x="6575908" y="4663440"/>
            <a:ext cx="4747108" cy="1097280"/>
          </a:xfrm>
          <a:prstGeom prst="rect">
            <a:avLst/>
          </a:prstGeom>
          <a:noFill/>
          <a:ln/>
        </p:spPr>
        <p:txBody>
          <a:bodyPr wrap="square" lIns="0" tIns="0" rIns="0" bIns="0" rtlCol="0" anchor="t"/>
          <a:lstStyle/>
          <a:p>
            <a:pPr indent="0" marL="0">
              <a:buNone/>
            </a:pPr>
            <a:r>
              <a:rPr lang="en-US" sz="1700" dirty="0">
                <a:solidFill>
                  <a:srgbClr val="1E4A26"/>
                </a:solidFill>
                <a:latin typeface="Arial" pitchFamily="34" charset="0"/>
                <a:ea typeface="Arial" pitchFamily="34" charset="-122"/>
                <a:cs typeface="Arial" pitchFamily="34" charset="-120"/>
              </a:rPr>
              <a:t>En sensorfejl: engage, direkte til deliver og support.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Incident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4</a:t>
            </a:r>
            <a:endParaRPr lang="en-US" sz="1000" dirty="0"/>
          </a:p>
        </p:txBody>
      </p:sp>
      <p:sp>
        <p:nvSpPr>
          <p:cNvPr id="7" name="Text 4"/>
          <p:cNvSpPr txBox="1"/>
          <p:nvPr/>
        </p:nvSpPr>
        <p:spPr>
          <a:xfrm>
            <a:off x="548640" y="1508760"/>
            <a:ext cx="11094415" cy="457200"/>
          </a:xfrm>
          <a:prstGeom prst="rect">
            <a:avLst/>
          </a:prstGeom>
          <a:noFill/>
          <a:ln/>
        </p:spPr>
        <p:txBody>
          <a:bodyPr wrap="square" lIns="0" tIns="0" rIns="0" bIns="0" rtlCol="0" anchor="t"/>
          <a:lstStyle/>
          <a:p>
            <a:pPr indent="0" marL="0">
              <a:buNone/>
            </a:pPr>
            <a:r>
              <a:rPr lang="en-US" sz="2100" i="1" dirty="0">
                <a:solidFill>
                  <a:srgbClr val="2F6B3A"/>
                </a:solidFill>
                <a:latin typeface="Georgia" pitchFamily="34" charset="0"/>
                <a:ea typeface="Georgia" pitchFamily="34" charset="-122"/>
                <a:cs typeface="Georgia" pitchFamily="34" charset="-120"/>
              </a:rPr>
              <a:t>Få servicen op igen, hurtigst muligt</a:t>
            </a:r>
            <a:endParaRPr lang="en-US" sz="2100" dirty="0"/>
          </a:p>
        </p:txBody>
      </p:sp>
      <p:sp>
        <p:nvSpPr>
          <p:cNvPr id="8" name="Shape 5"/>
          <p:cNvSpPr/>
          <p:nvPr/>
        </p:nvSpPr>
        <p:spPr>
          <a:xfrm>
            <a:off x="548640" y="2194560"/>
            <a:ext cx="2036003" cy="1005840"/>
          </a:xfrm>
          <a:prstGeom prst="roundRect">
            <a:avLst>
              <a:gd name="adj" fmla="val 10909"/>
            </a:avLst>
          </a:prstGeom>
          <a:solidFill>
            <a:srgbClr val="2F6B3A"/>
          </a:solidFill>
          <a:ln w="9525">
            <a:solidFill>
              <a:srgbClr val="2F6B3A"/>
            </a:solidFill>
            <a:prstDash val="solid"/>
          </a:ln>
        </p:spPr>
      </p:sp>
      <p:sp>
        <p:nvSpPr>
          <p:cNvPr id="9" name="Text 6"/>
          <p:cNvSpPr txBox="1"/>
          <p:nvPr/>
        </p:nvSpPr>
        <p:spPr>
          <a:xfrm>
            <a:off x="548640" y="2194560"/>
            <a:ext cx="2036003" cy="10058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Registrer</a:t>
            </a:r>
            <a:endParaRPr lang="en-US" sz="1800" dirty="0"/>
          </a:p>
        </p:txBody>
      </p:sp>
      <p:sp>
        <p:nvSpPr>
          <p:cNvPr id="10" name="Shape 7"/>
          <p:cNvSpPr/>
          <p:nvPr/>
        </p:nvSpPr>
        <p:spPr>
          <a:xfrm>
            <a:off x="2602931" y="2697480"/>
            <a:ext cx="192024" cy="914"/>
          </a:xfrm>
          <a:prstGeom prst="line">
            <a:avLst/>
          </a:prstGeom>
          <a:noFill/>
          <a:ln w="19050">
            <a:solidFill>
              <a:srgbClr val="6E7C81"/>
            </a:solidFill>
            <a:prstDash val="solid"/>
            <a:tailEnd type="triangle"/>
          </a:ln>
        </p:spPr>
      </p:sp>
      <p:sp>
        <p:nvSpPr>
          <p:cNvPr id="11" name="Shape 8"/>
          <p:cNvSpPr/>
          <p:nvPr/>
        </p:nvSpPr>
        <p:spPr>
          <a:xfrm>
            <a:off x="2813243" y="2194560"/>
            <a:ext cx="2036003" cy="1005840"/>
          </a:xfrm>
          <a:prstGeom prst="roundRect">
            <a:avLst>
              <a:gd name="adj" fmla="val 10909"/>
            </a:avLst>
          </a:prstGeom>
          <a:solidFill>
            <a:srgbClr val="2F6B3A"/>
          </a:solidFill>
          <a:ln w="9525">
            <a:solidFill>
              <a:srgbClr val="2F6B3A"/>
            </a:solidFill>
            <a:prstDash val="solid"/>
          </a:ln>
        </p:spPr>
      </p:sp>
      <p:sp>
        <p:nvSpPr>
          <p:cNvPr id="12" name="Text 9"/>
          <p:cNvSpPr txBox="1"/>
          <p:nvPr/>
        </p:nvSpPr>
        <p:spPr>
          <a:xfrm>
            <a:off x="2813243" y="2194560"/>
            <a:ext cx="2036003" cy="10058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Prioriter</a:t>
            </a:r>
            <a:endParaRPr lang="en-US" sz="1800" dirty="0"/>
          </a:p>
        </p:txBody>
      </p:sp>
      <p:sp>
        <p:nvSpPr>
          <p:cNvPr id="13" name="Shape 10"/>
          <p:cNvSpPr/>
          <p:nvPr/>
        </p:nvSpPr>
        <p:spPr>
          <a:xfrm>
            <a:off x="4867534" y="2697480"/>
            <a:ext cx="192024" cy="914"/>
          </a:xfrm>
          <a:prstGeom prst="line">
            <a:avLst/>
          </a:prstGeom>
          <a:noFill/>
          <a:ln w="19050">
            <a:solidFill>
              <a:srgbClr val="6E7C81"/>
            </a:solidFill>
            <a:prstDash val="solid"/>
            <a:tailEnd type="triangle"/>
          </a:ln>
        </p:spPr>
      </p:sp>
      <p:sp>
        <p:nvSpPr>
          <p:cNvPr id="14" name="Shape 11"/>
          <p:cNvSpPr/>
          <p:nvPr/>
        </p:nvSpPr>
        <p:spPr>
          <a:xfrm>
            <a:off x="5077846" y="2194560"/>
            <a:ext cx="2036003" cy="1005840"/>
          </a:xfrm>
          <a:prstGeom prst="roundRect">
            <a:avLst>
              <a:gd name="adj" fmla="val 10909"/>
            </a:avLst>
          </a:prstGeom>
          <a:solidFill>
            <a:srgbClr val="2F6B3A"/>
          </a:solidFill>
          <a:ln w="9525">
            <a:solidFill>
              <a:srgbClr val="2F6B3A"/>
            </a:solidFill>
            <a:prstDash val="solid"/>
          </a:ln>
        </p:spPr>
      </p:sp>
      <p:sp>
        <p:nvSpPr>
          <p:cNvPr id="15" name="Text 12"/>
          <p:cNvSpPr txBox="1"/>
          <p:nvPr/>
        </p:nvSpPr>
        <p:spPr>
          <a:xfrm>
            <a:off x="5077846" y="2194560"/>
            <a:ext cx="2036003" cy="10058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Diagnosticer</a:t>
            </a:r>
            <a:endParaRPr lang="en-US" sz="1800" dirty="0"/>
          </a:p>
        </p:txBody>
      </p:sp>
      <p:sp>
        <p:nvSpPr>
          <p:cNvPr id="16" name="Shape 13"/>
          <p:cNvSpPr/>
          <p:nvPr/>
        </p:nvSpPr>
        <p:spPr>
          <a:xfrm>
            <a:off x="7132137" y="2697480"/>
            <a:ext cx="192024" cy="914"/>
          </a:xfrm>
          <a:prstGeom prst="line">
            <a:avLst/>
          </a:prstGeom>
          <a:noFill/>
          <a:ln w="19050">
            <a:solidFill>
              <a:srgbClr val="6E7C81"/>
            </a:solidFill>
            <a:prstDash val="solid"/>
            <a:tailEnd type="triangle"/>
          </a:ln>
        </p:spPr>
      </p:sp>
      <p:sp>
        <p:nvSpPr>
          <p:cNvPr id="17" name="Shape 14"/>
          <p:cNvSpPr/>
          <p:nvPr/>
        </p:nvSpPr>
        <p:spPr>
          <a:xfrm>
            <a:off x="7342449" y="2194560"/>
            <a:ext cx="2036003" cy="1005840"/>
          </a:xfrm>
          <a:prstGeom prst="roundRect">
            <a:avLst>
              <a:gd name="adj" fmla="val 10909"/>
            </a:avLst>
          </a:prstGeom>
          <a:solidFill>
            <a:srgbClr val="2F6B3A"/>
          </a:solidFill>
          <a:ln w="9525">
            <a:solidFill>
              <a:srgbClr val="2F6B3A"/>
            </a:solidFill>
            <a:prstDash val="solid"/>
          </a:ln>
        </p:spPr>
      </p:sp>
      <p:sp>
        <p:nvSpPr>
          <p:cNvPr id="18" name="Text 15"/>
          <p:cNvSpPr txBox="1"/>
          <p:nvPr/>
        </p:nvSpPr>
        <p:spPr>
          <a:xfrm>
            <a:off x="7342449" y="2194560"/>
            <a:ext cx="2036003" cy="10058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Eskaler</a:t>
            </a:r>
            <a:endParaRPr lang="en-US" sz="1800" dirty="0"/>
          </a:p>
        </p:txBody>
      </p:sp>
      <p:sp>
        <p:nvSpPr>
          <p:cNvPr id="19" name="Shape 16"/>
          <p:cNvSpPr/>
          <p:nvPr/>
        </p:nvSpPr>
        <p:spPr>
          <a:xfrm>
            <a:off x="9396740" y="2697480"/>
            <a:ext cx="192024" cy="914"/>
          </a:xfrm>
          <a:prstGeom prst="line">
            <a:avLst/>
          </a:prstGeom>
          <a:noFill/>
          <a:ln w="19050">
            <a:solidFill>
              <a:srgbClr val="6E7C81"/>
            </a:solidFill>
            <a:prstDash val="solid"/>
            <a:tailEnd type="triangle"/>
          </a:ln>
        </p:spPr>
      </p:sp>
      <p:sp>
        <p:nvSpPr>
          <p:cNvPr id="20" name="Shape 17"/>
          <p:cNvSpPr/>
          <p:nvPr/>
        </p:nvSpPr>
        <p:spPr>
          <a:xfrm>
            <a:off x="9607052" y="2194560"/>
            <a:ext cx="2036003" cy="1005840"/>
          </a:xfrm>
          <a:prstGeom prst="roundRect">
            <a:avLst>
              <a:gd name="adj" fmla="val 10909"/>
            </a:avLst>
          </a:prstGeom>
          <a:solidFill>
            <a:srgbClr val="2F6B3A"/>
          </a:solidFill>
          <a:ln w="9525">
            <a:solidFill>
              <a:srgbClr val="2F6B3A"/>
            </a:solidFill>
            <a:prstDash val="solid"/>
          </a:ln>
        </p:spPr>
      </p:sp>
      <p:sp>
        <p:nvSpPr>
          <p:cNvPr id="21" name="Text 18"/>
          <p:cNvSpPr txBox="1"/>
          <p:nvPr/>
        </p:nvSpPr>
        <p:spPr>
          <a:xfrm>
            <a:off x="9607052" y="2194560"/>
            <a:ext cx="2036003" cy="10058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Løs og luk</a:t>
            </a:r>
            <a:endParaRPr lang="en-US" sz="1800" dirty="0"/>
          </a:p>
        </p:txBody>
      </p:sp>
      <p:sp>
        <p:nvSpPr>
          <p:cNvPr id="22" name="Text 19"/>
          <p:cNvSpPr txBox="1"/>
          <p:nvPr/>
        </p:nvSpPr>
        <p:spPr>
          <a:xfrm>
            <a:off x="548640" y="3383280"/>
            <a:ext cx="11094415" cy="365760"/>
          </a:xfrm>
          <a:prstGeom prst="rect">
            <a:avLst/>
          </a:prstGeom>
          <a:noFill/>
          <a:ln/>
        </p:spPr>
        <p:txBody>
          <a:bodyPr wrap="square" lIns="0" tIns="0" rIns="0" bIns="0" rtlCol="0" anchor="t"/>
          <a:lstStyle/>
          <a:p>
            <a:pPr algn="ctr" indent="0" marL="0">
              <a:buNone/>
            </a:pPr>
            <a:r>
              <a:rPr lang="en-US" sz="1600" dirty="0">
                <a:solidFill>
                  <a:srgbClr val="526066"/>
                </a:solidFill>
                <a:latin typeface="Arial" pitchFamily="34" charset="0"/>
                <a:ea typeface="Arial" pitchFamily="34" charset="-122"/>
                <a:cs typeface="Arial" pitchFamily="34" charset="-120"/>
              </a:rPr>
              <a:t>L1 servicedesk  ·  L2 specialister  ·  L3 udviklere i R&amp;D</a:t>
            </a:r>
            <a:endParaRPr lang="en-US" sz="1600" dirty="0"/>
          </a:p>
        </p:txBody>
      </p:sp>
      <p:sp>
        <p:nvSpPr>
          <p:cNvPr id="23" name="Shape 20"/>
          <p:cNvSpPr/>
          <p:nvPr/>
        </p:nvSpPr>
        <p:spPr>
          <a:xfrm>
            <a:off x="548640" y="4023360"/>
            <a:ext cx="11094415" cy="2011680"/>
          </a:xfrm>
          <a:prstGeom prst="roundRect">
            <a:avLst>
              <a:gd name="adj" fmla="val 5455"/>
            </a:avLst>
          </a:prstGeom>
          <a:solidFill>
            <a:srgbClr val="FCFDFD"/>
          </a:solidFill>
          <a:ln w="9525">
            <a:solidFill>
              <a:srgbClr val="DDE4E6"/>
            </a:solidFill>
            <a:prstDash val="solid"/>
          </a:ln>
        </p:spPr>
      </p:sp>
      <p:sp>
        <p:nvSpPr>
          <p:cNvPr id="24" name="Shape 21"/>
          <p:cNvSpPr/>
          <p:nvPr/>
        </p:nvSpPr>
        <p:spPr>
          <a:xfrm>
            <a:off x="868680" y="4297680"/>
            <a:ext cx="594360" cy="594360"/>
          </a:xfrm>
          <a:prstGeom prst="ellipse">
            <a:avLst/>
          </a:prstGeom>
          <a:solidFill>
            <a:srgbClr val="B93A32"/>
          </a:solidFill>
          <a:ln w="12700">
            <a:solidFill>
              <a:srgbClr val="B93A32"/>
            </a:solidFill>
            <a:prstDash val="solid"/>
          </a:ln>
        </p:spPr>
      </p:sp>
      <p:pic>
        <p:nvPicPr>
          <p:cNvPr id="25" name="Image 0" descr="preencoded.png">    </p:cNvPr>
          <p:cNvPicPr>
            <a:picLocks noChangeAspect="1"/>
          </p:cNvPicPr>
          <p:nvPr/>
        </p:nvPicPr>
        <p:blipFill>
          <a:blip r:embed="rId1"/>
          <a:stretch>
            <a:fillRect/>
          </a:stretch>
        </p:blipFill>
        <p:spPr>
          <a:xfrm>
            <a:off x="1011326" y="4440326"/>
            <a:ext cx="309067" cy="309067"/>
          </a:xfrm>
          <a:prstGeom prst="rect">
            <a:avLst/>
          </a:prstGeom>
        </p:spPr>
      </p:pic>
      <p:sp>
        <p:nvSpPr>
          <p:cNvPr id="26" name="Text 22"/>
          <p:cNvSpPr txBox="1"/>
          <p:nvPr/>
        </p:nvSpPr>
        <p:spPr>
          <a:xfrm>
            <a:off x="1691640" y="4206240"/>
            <a:ext cx="5486400" cy="457200"/>
          </a:xfrm>
          <a:prstGeom prst="rect">
            <a:avLst/>
          </a:prstGeom>
          <a:noFill/>
          <a:ln/>
        </p:spPr>
        <p:txBody>
          <a:bodyPr wrap="square" lIns="0" tIns="0" rIns="0" bIns="0" rtlCol="0" anchor="t"/>
          <a:lstStyle/>
          <a:p>
            <a:pPr indent="0" marL="0">
              <a:buNone/>
            </a:pPr>
            <a:r>
              <a:rPr lang="en-US" sz="2100" dirty="0">
                <a:solidFill>
                  <a:srgbClr val="17221A"/>
                </a:solidFill>
                <a:latin typeface="Georgia" pitchFamily="34" charset="0"/>
                <a:ea typeface="Georgia" pitchFamily="34" charset="-122"/>
                <a:cs typeface="Georgia" pitchFamily="34" charset="-120"/>
              </a:rPr>
              <a:t>Kvægstald, sommernat</a:t>
            </a:r>
            <a:endParaRPr lang="en-US" sz="2100" dirty="0"/>
          </a:p>
        </p:txBody>
      </p:sp>
      <p:sp>
        <p:nvSpPr>
          <p:cNvPr id="27" name="Text 23"/>
          <p:cNvSpPr txBox="1"/>
          <p:nvPr/>
        </p:nvSpPr>
        <p:spPr>
          <a:xfrm>
            <a:off x="1691640" y="4709160"/>
            <a:ext cx="9631375" cy="123444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Prioritet 1: sensorerne sender ikke data</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L2: fejl i gatewayens mobilforbindelse, reservegateway</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Workaround: landmanden fører selv tilsyn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Problem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5</a:t>
            </a:r>
            <a:endParaRPr lang="en-US" sz="1000" dirty="0"/>
          </a:p>
        </p:txBody>
      </p:sp>
      <p:sp>
        <p:nvSpPr>
          <p:cNvPr id="7" name="Text 4"/>
          <p:cNvSpPr txBox="1"/>
          <p:nvPr/>
        </p:nvSpPr>
        <p:spPr>
          <a:xfrm>
            <a:off x="548640" y="1508760"/>
            <a:ext cx="11094415" cy="457200"/>
          </a:xfrm>
          <a:prstGeom prst="rect">
            <a:avLst/>
          </a:prstGeom>
          <a:noFill/>
          <a:ln/>
        </p:spPr>
        <p:txBody>
          <a:bodyPr wrap="square" lIns="0" tIns="0" rIns="0" bIns="0" rtlCol="0" anchor="t"/>
          <a:lstStyle/>
          <a:p>
            <a:pPr indent="0" marL="0">
              <a:buNone/>
            </a:pPr>
            <a:r>
              <a:rPr lang="en-US" sz="2100" i="1" dirty="0">
                <a:solidFill>
                  <a:srgbClr val="2F6B3A"/>
                </a:solidFill>
                <a:latin typeface="Georgia" pitchFamily="34" charset="0"/>
                <a:ea typeface="Georgia" pitchFamily="34" charset="-122"/>
                <a:cs typeface="Georgia" pitchFamily="34" charset="-120"/>
              </a:rPr>
              <a:t>Find årsagen, så det ikke sker igen</a:t>
            </a:r>
            <a:endParaRPr lang="en-US" sz="2100" dirty="0"/>
          </a:p>
        </p:txBody>
      </p:sp>
      <p:sp>
        <p:nvSpPr>
          <p:cNvPr id="8" name="Shape 5"/>
          <p:cNvSpPr/>
          <p:nvPr/>
        </p:nvSpPr>
        <p:spPr>
          <a:xfrm>
            <a:off x="548640" y="2148840"/>
            <a:ext cx="3515258" cy="1417320"/>
          </a:xfrm>
          <a:prstGeom prst="roundRect">
            <a:avLst>
              <a:gd name="adj" fmla="val 7742"/>
            </a:avLst>
          </a:prstGeom>
          <a:solidFill>
            <a:srgbClr val="FCFDFD"/>
          </a:solidFill>
          <a:ln w="9525">
            <a:solidFill>
              <a:srgbClr val="DDE4E6"/>
            </a:solidFill>
            <a:prstDash val="solid"/>
          </a:ln>
        </p:spPr>
      </p:sp>
      <p:sp>
        <p:nvSpPr>
          <p:cNvPr id="9" name="Text 6"/>
          <p:cNvSpPr txBox="1"/>
          <p:nvPr/>
        </p:nvSpPr>
        <p:spPr>
          <a:xfrm>
            <a:off x="822960" y="2286000"/>
            <a:ext cx="2966618" cy="41148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Identification</a:t>
            </a:r>
            <a:endParaRPr lang="en-US" sz="1900" dirty="0"/>
          </a:p>
        </p:txBody>
      </p:sp>
      <p:sp>
        <p:nvSpPr>
          <p:cNvPr id="10" name="Text 7"/>
          <p:cNvSpPr txBox="1"/>
          <p:nvPr/>
        </p:nvSpPr>
        <p:spPr>
          <a:xfrm>
            <a:off x="822960" y="2743200"/>
            <a:ext cx="2966618" cy="73152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Mønster i gentagne incidents</a:t>
            </a:r>
            <a:endParaRPr lang="en-US" sz="1500" dirty="0"/>
          </a:p>
        </p:txBody>
      </p:sp>
      <p:sp>
        <p:nvSpPr>
          <p:cNvPr id="11" name="Shape 8"/>
          <p:cNvSpPr/>
          <p:nvPr/>
        </p:nvSpPr>
        <p:spPr>
          <a:xfrm>
            <a:off x="4338218" y="2148840"/>
            <a:ext cx="3515258" cy="1417320"/>
          </a:xfrm>
          <a:prstGeom prst="roundRect">
            <a:avLst>
              <a:gd name="adj" fmla="val 7742"/>
            </a:avLst>
          </a:prstGeom>
          <a:solidFill>
            <a:srgbClr val="FCFDFD"/>
          </a:solidFill>
          <a:ln w="9525">
            <a:solidFill>
              <a:srgbClr val="DDE4E6"/>
            </a:solidFill>
            <a:prstDash val="solid"/>
          </a:ln>
        </p:spPr>
      </p:sp>
      <p:sp>
        <p:nvSpPr>
          <p:cNvPr id="12" name="Text 9"/>
          <p:cNvSpPr txBox="1"/>
          <p:nvPr/>
        </p:nvSpPr>
        <p:spPr>
          <a:xfrm>
            <a:off x="4612538" y="2286000"/>
            <a:ext cx="2966618" cy="41148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Control</a:t>
            </a:r>
            <a:endParaRPr lang="en-US" sz="1900" dirty="0"/>
          </a:p>
        </p:txBody>
      </p:sp>
      <p:sp>
        <p:nvSpPr>
          <p:cNvPr id="13" name="Text 10"/>
          <p:cNvSpPr txBox="1"/>
          <p:nvPr/>
        </p:nvSpPr>
        <p:spPr>
          <a:xfrm>
            <a:off x="4612538" y="2743200"/>
            <a:ext cx="2966618" cy="73152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Root cause, workaround, known error</a:t>
            </a:r>
            <a:endParaRPr lang="en-US" sz="1500" dirty="0"/>
          </a:p>
        </p:txBody>
      </p:sp>
      <p:sp>
        <p:nvSpPr>
          <p:cNvPr id="14" name="Shape 11"/>
          <p:cNvSpPr/>
          <p:nvPr/>
        </p:nvSpPr>
        <p:spPr>
          <a:xfrm>
            <a:off x="8127797" y="2148840"/>
            <a:ext cx="3515258" cy="1417320"/>
          </a:xfrm>
          <a:prstGeom prst="roundRect">
            <a:avLst>
              <a:gd name="adj" fmla="val 7742"/>
            </a:avLst>
          </a:prstGeom>
          <a:solidFill>
            <a:srgbClr val="FCFDFD"/>
          </a:solidFill>
          <a:ln w="9525">
            <a:solidFill>
              <a:srgbClr val="DDE4E6"/>
            </a:solidFill>
            <a:prstDash val="solid"/>
          </a:ln>
        </p:spPr>
      </p:sp>
      <p:sp>
        <p:nvSpPr>
          <p:cNvPr id="15" name="Text 12"/>
          <p:cNvSpPr txBox="1"/>
          <p:nvPr/>
        </p:nvSpPr>
        <p:spPr>
          <a:xfrm>
            <a:off x="8402117" y="2286000"/>
            <a:ext cx="2966618" cy="41148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Error control</a:t>
            </a:r>
            <a:endParaRPr lang="en-US" sz="1900" dirty="0"/>
          </a:p>
        </p:txBody>
      </p:sp>
      <p:sp>
        <p:nvSpPr>
          <p:cNvPr id="16" name="Text 13"/>
          <p:cNvSpPr txBox="1"/>
          <p:nvPr/>
        </p:nvSpPr>
        <p:spPr>
          <a:xfrm>
            <a:off x="8402117" y="2743200"/>
            <a:ext cx="2966618" cy="731520"/>
          </a:xfrm>
          <a:prstGeom prst="rect">
            <a:avLst/>
          </a:prstGeom>
          <a:noFill/>
          <a:ln/>
        </p:spPr>
        <p:txBody>
          <a:bodyPr wrap="square" lIns="0" tIns="0" rIns="0" bIns="0" rtlCol="0" anchor="t"/>
          <a:lstStyle/>
          <a:p>
            <a:pPr indent="0" marL="0">
              <a:buNone/>
            </a:pPr>
            <a:r>
              <a:rPr lang="en-US" sz="1500" dirty="0">
                <a:solidFill>
                  <a:srgbClr val="526066"/>
                </a:solidFill>
                <a:latin typeface="Arial" pitchFamily="34" charset="0"/>
                <a:ea typeface="Arial" pitchFamily="34" charset="-122"/>
                <a:cs typeface="Arial" pitchFamily="34" charset="-120"/>
              </a:rPr>
              <a:t>Permanent løsning via Change Control</a:t>
            </a:r>
            <a:endParaRPr lang="en-US" sz="1500" dirty="0"/>
          </a:p>
        </p:txBody>
      </p:sp>
      <p:sp>
        <p:nvSpPr>
          <p:cNvPr id="17" name="Shape 14"/>
          <p:cNvSpPr/>
          <p:nvPr/>
        </p:nvSpPr>
        <p:spPr>
          <a:xfrm>
            <a:off x="548640" y="3886200"/>
            <a:ext cx="5387188" cy="2148840"/>
          </a:xfrm>
          <a:prstGeom prst="roundRect">
            <a:avLst>
              <a:gd name="adj" fmla="val 5106"/>
            </a:avLst>
          </a:prstGeom>
          <a:solidFill>
            <a:srgbClr val="FCFDFD"/>
          </a:solidFill>
          <a:ln w="9525">
            <a:solidFill>
              <a:srgbClr val="DDE4E6"/>
            </a:solidFill>
            <a:prstDash val="solid"/>
          </a:ln>
        </p:spPr>
      </p:sp>
      <p:sp>
        <p:nvSpPr>
          <p:cNvPr id="18" name="Text 15"/>
          <p:cNvSpPr txBox="1"/>
          <p:nvPr/>
        </p:nvSpPr>
        <p:spPr>
          <a:xfrm>
            <a:off x="868680" y="4069080"/>
            <a:ext cx="4747108" cy="411480"/>
          </a:xfrm>
          <a:prstGeom prst="rect">
            <a:avLst/>
          </a:prstGeom>
          <a:noFill/>
          <a:ln/>
        </p:spPr>
        <p:txBody>
          <a:bodyPr wrap="square" lIns="0" tIns="0" rIns="0" bIns="0" rtlCol="0" anchor="t"/>
          <a:lstStyle/>
          <a:p>
            <a:pPr indent="0" marL="0">
              <a:buNone/>
            </a:pPr>
            <a:r>
              <a:rPr lang="en-US" sz="2100" dirty="0">
                <a:solidFill>
                  <a:srgbClr val="17221A"/>
                </a:solidFill>
                <a:latin typeface="Georgia" pitchFamily="34" charset="0"/>
                <a:ea typeface="Georgia" pitchFamily="34" charset="-122"/>
                <a:cs typeface="Georgia" pitchFamily="34" charset="-120"/>
              </a:rPr>
              <a:t>Firmwarefejlen</a:t>
            </a:r>
            <a:endParaRPr lang="en-US" sz="2100" dirty="0"/>
          </a:p>
        </p:txBody>
      </p:sp>
      <p:sp>
        <p:nvSpPr>
          <p:cNvPr id="19" name="Text 16"/>
          <p:cNvSpPr txBox="1"/>
          <p:nvPr/>
        </p:nvSpPr>
        <p:spPr>
          <a:xfrm>
            <a:off x="868680" y="4572000"/>
            <a:ext cx="4747108" cy="13716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15 kunder mister forbindelsen om natten</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Årsag: strømsparetilstand</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Rettelse via Change Control</a:t>
            </a:r>
            <a:endParaRPr lang="en-US" sz="1600" dirty="0"/>
          </a:p>
        </p:txBody>
      </p:sp>
      <p:sp>
        <p:nvSpPr>
          <p:cNvPr id="20" name="Shape 17"/>
          <p:cNvSpPr/>
          <p:nvPr/>
        </p:nvSpPr>
        <p:spPr>
          <a:xfrm>
            <a:off x="6255868" y="3886200"/>
            <a:ext cx="5387188" cy="2148840"/>
          </a:xfrm>
          <a:prstGeom prst="roundRect">
            <a:avLst>
              <a:gd name="adj" fmla="val 5106"/>
            </a:avLst>
          </a:prstGeom>
          <a:solidFill>
            <a:srgbClr val="E9F4EA"/>
          </a:solidFill>
          <a:ln w="9525">
            <a:solidFill>
              <a:srgbClr val="A9D3B0"/>
            </a:solidFill>
            <a:prstDash val="solid"/>
          </a:ln>
        </p:spPr>
      </p:sp>
      <p:sp>
        <p:nvSpPr>
          <p:cNvPr id="21" name="Text 18"/>
          <p:cNvSpPr txBox="1"/>
          <p:nvPr/>
        </p:nvSpPr>
        <p:spPr>
          <a:xfrm>
            <a:off x="6575908" y="4069080"/>
            <a:ext cx="4747108" cy="411480"/>
          </a:xfrm>
          <a:prstGeom prst="rect">
            <a:avLst/>
          </a:prstGeom>
          <a:noFill/>
          <a:ln/>
        </p:spPr>
        <p:txBody>
          <a:bodyPr wrap="square" lIns="0" tIns="0" rIns="0" bIns="0" rtlCol="0" anchor="t"/>
          <a:lstStyle/>
          <a:p>
            <a:pPr indent="0" marL="0">
              <a:buNone/>
            </a:pPr>
            <a:r>
              <a:rPr lang="en-US" sz="2100" dirty="0">
                <a:solidFill>
                  <a:srgbClr val="1E4A26"/>
                </a:solidFill>
                <a:latin typeface="Georgia" pitchFamily="34" charset="0"/>
                <a:ea typeface="Georgia" pitchFamily="34" charset="-122"/>
                <a:cs typeface="Georgia" pitchFamily="34" charset="-120"/>
              </a:rPr>
              <a:t>Incident og problem</a:t>
            </a:r>
            <a:endParaRPr lang="en-US" sz="2100" dirty="0"/>
          </a:p>
        </p:txBody>
      </p:sp>
      <p:sp>
        <p:nvSpPr>
          <p:cNvPr id="22" name="Text 19"/>
          <p:cNvSpPr txBox="1"/>
          <p:nvPr/>
        </p:nvSpPr>
        <p:spPr>
          <a:xfrm>
            <a:off x="6575908" y="4572000"/>
            <a:ext cx="4747108" cy="13716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1E4A26"/>
                </a:solidFill>
                <a:latin typeface="Arial" pitchFamily="34" charset="0"/>
                <a:ea typeface="Arial" pitchFamily="34" charset="-122"/>
                <a:cs typeface="Arial" pitchFamily="34" charset="-120"/>
              </a:rPr>
              <a:t>Incident genopretter servicen</a:t>
            </a:r>
            <a:endParaRPr lang="en-US" sz="1600" dirty="0"/>
          </a:p>
          <a:p>
            <a:pPr marL="342900" indent="-342900">
              <a:spcAft>
                <a:spcPts val="400"/>
              </a:spcAft>
              <a:buSzPct val="100000"/>
              <a:buChar char="•"/>
            </a:pPr>
            <a:r>
              <a:rPr lang="en-US" sz="1600" dirty="0">
                <a:solidFill>
                  <a:srgbClr val="1E4A26"/>
                </a:solidFill>
                <a:latin typeface="Arial" pitchFamily="34" charset="0"/>
                <a:ea typeface="Arial" pitchFamily="34" charset="-122"/>
                <a:cs typeface="Arial" pitchFamily="34" charset="-120"/>
              </a:rPr>
              <a:t>Problem fjerner årsagen</a:t>
            </a:r>
            <a:endParaRPr lang="en-US" sz="1600" dirty="0"/>
          </a:p>
          <a:p>
            <a:pPr marL="342900" indent="-342900">
              <a:spcAft>
                <a:spcPts val="400"/>
              </a:spcAft>
              <a:buSzPct val="100000"/>
              <a:buChar char="•"/>
            </a:pPr>
            <a:r>
              <a:rPr lang="en-US" sz="1600" dirty="0">
                <a:solidFill>
                  <a:srgbClr val="1E4A26"/>
                </a:solidFill>
                <a:latin typeface="Arial" pitchFamily="34" charset="0"/>
                <a:ea typeface="Arial" pitchFamily="34" charset="-122"/>
                <a:cs typeface="Arial" pitchFamily="34" charset="-120"/>
              </a:rPr>
              <a:t>Known errors gør næste fix hurtigere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5</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De fire dimensioner</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548640" y="1691640"/>
            <a:ext cx="5387188" cy="1600200"/>
          </a:xfrm>
          <a:prstGeom prst="roundRect">
            <a:avLst>
              <a:gd name="adj" fmla="val 6857"/>
            </a:avLst>
          </a:prstGeom>
          <a:solidFill>
            <a:srgbClr val="FCFDFD"/>
          </a:solidFill>
          <a:ln w="9525">
            <a:solidFill>
              <a:srgbClr val="DDE4E6"/>
            </a:solidFill>
            <a:prstDash val="solid"/>
          </a:ln>
        </p:spPr>
      </p:sp>
      <p:sp>
        <p:nvSpPr>
          <p:cNvPr id="8" name="Shape 5"/>
          <p:cNvSpPr/>
          <p:nvPr/>
        </p:nvSpPr>
        <p:spPr>
          <a:xfrm>
            <a:off x="822960" y="2148840"/>
            <a:ext cx="685800" cy="685800"/>
          </a:xfrm>
          <a:prstGeom prst="ellipse">
            <a:avLst/>
          </a:prstGeom>
          <a:solidFill>
            <a:srgbClr val="2F6B3A"/>
          </a:solidFill>
          <a:ln w="12700">
            <a:solidFill>
              <a:srgbClr val="2F6B3A"/>
            </a:solidFill>
            <a:prstDash val="solid"/>
          </a:ln>
        </p:spPr>
      </p:sp>
      <p:pic>
        <p:nvPicPr>
          <p:cNvPr id="9" name="Image 0" descr="preencoded.png">    </p:cNvPr>
          <p:cNvPicPr>
            <a:picLocks noChangeAspect="1"/>
          </p:cNvPicPr>
          <p:nvPr/>
        </p:nvPicPr>
        <p:blipFill>
          <a:blip r:embed="rId1"/>
          <a:stretch>
            <a:fillRect/>
          </a:stretch>
        </p:blipFill>
        <p:spPr>
          <a:xfrm>
            <a:off x="987552" y="2313432"/>
            <a:ext cx="356616" cy="356616"/>
          </a:xfrm>
          <a:prstGeom prst="rect">
            <a:avLst/>
          </a:prstGeom>
        </p:spPr>
      </p:pic>
      <p:sp>
        <p:nvSpPr>
          <p:cNvPr id="10" name="Text 6"/>
          <p:cNvSpPr txBox="1"/>
          <p:nvPr/>
        </p:nvSpPr>
        <p:spPr>
          <a:xfrm>
            <a:off x="1737360" y="2011680"/>
            <a:ext cx="4015588" cy="45720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Mennesker</a:t>
            </a:r>
            <a:endParaRPr lang="en-US" sz="1900" dirty="0"/>
          </a:p>
        </p:txBody>
      </p:sp>
      <p:sp>
        <p:nvSpPr>
          <p:cNvPr id="11" name="Text 7"/>
          <p:cNvSpPr txBox="1"/>
          <p:nvPr/>
        </p:nvSpPr>
        <p:spPr>
          <a:xfrm>
            <a:off x="1737360" y="2514600"/>
            <a:ext cx="4015588" cy="548640"/>
          </a:xfrm>
          <a:prstGeom prst="rect">
            <a:avLst/>
          </a:prstGeom>
          <a:noFill/>
          <a:ln/>
        </p:spPr>
        <p:txBody>
          <a:bodyPr wrap="square" lIns="0" tIns="0" rIns="0" bIns="0" rtlCol="0" anchor="t"/>
          <a:lstStyle/>
          <a:p>
            <a:pPr indent="0" marL="0">
              <a:buNone/>
            </a:pPr>
            <a:r>
              <a:rPr lang="en-US" sz="1600" dirty="0">
                <a:solidFill>
                  <a:srgbClr val="526066"/>
                </a:solidFill>
                <a:latin typeface="Arial" pitchFamily="34" charset="0"/>
                <a:ea typeface="Arial" pitchFamily="34" charset="-122"/>
                <a:cs typeface="Arial" pitchFamily="34" charset="-120"/>
              </a:rPr>
              <a:t>Klare roller, ingen "dem og os"</a:t>
            </a:r>
            <a:endParaRPr lang="en-US" sz="1600" dirty="0"/>
          </a:p>
        </p:txBody>
      </p:sp>
      <p:sp>
        <p:nvSpPr>
          <p:cNvPr id="12" name="Shape 8"/>
          <p:cNvSpPr/>
          <p:nvPr/>
        </p:nvSpPr>
        <p:spPr>
          <a:xfrm>
            <a:off x="6255868" y="1691640"/>
            <a:ext cx="5387188" cy="1600200"/>
          </a:xfrm>
          <a:prstGeom prst="roundRect">
            <a:avLst>
              <a:gd name="adj" fmla="val 6857"/>
            </a:avLst>
          </a:prstGeom>
          <a:solidFill>
            <a:srgbClr val="FCFDFD"/>
          </a:solidFill>
          <a:ln w="9525">
            <a:solidFill>
              <a:srgbClr val="DDE4E6"/>
            </a:solidFill>
            <a:prstDash val="solid"/>
          </a:ln>
        </p:spPr>
      </p:sp>
      <p:sp>
        <p:nvSpPr>
          <p:cNvPr id="13" name="Shape 9"/>
          <p:cNvSpPr/>
          <p:nvPr/>
        </p:nvSpPr>
        <p:spPr>
          <a:xfrm>
            <a:off x="6530188" y="2148840"/>
            <a:ext cx="685800" cy="685800"/>
          </a:xfrm>
          <a:prstGeom prst="ellipse">
            <a:avLst/>
          </a:prstGeom>
          <a:solidFill>
            <a:srgbClr val="2F6B3A"/>
          </a:solidFill>
          <a:ln w="12700">
            <a:solidFill>
              <a:srgbClr val="2F6B3A"/>
            </a:solidFill>
            <a:prstDash val="solid"/>
          </a:ln>
        </p:spPr>
      </p:sp>
      <p:pic>
        <p:nvPicPr>
          <p:cNvPr id="14" name="Image 1" descr="preencoded.png">    </p:cNvPr>
          <p:cNvPicPr>
            <a:picLocks noChangeAspect="1"/>
          </p:cNvPicPr>
          <p:nvPr/>
        </p:nvPicPr>
        <p:blipFill>
          <a:blip r:embed="rId2"/>
          <a:stretch>
            <a:fillRect/>
          </a:stretch>
        </p:blipFill>
        <p:spPr>
          <a:xfrm>
            <a:off x="6694780" y="2313432"/>
            <a:ext cx="356616" cy="356616"/>
          </a:xfrm>
          <a:prstGeom prst="rect">
            <a:avLst/>
          </a:prstGeom>
        </p:spPr>
      </p:pic>
      <p:sp>
        <p:nvSpPr>
          <p:cNvPr id="15" name="Text 10"/>
          <p:cNvSpPr txBox="1"/>
          <p:nvPr/>
        </p:nvSpPr>
        <p:spPr>
          <a:xfrm>
            <a:off x="7444588" y="2011680"/>
            <a:ext cx="4015588" cy="45720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Information og teknologi</a:t>
            </a:r>
            <a:endParaRPr lang="en-US" sz="1900" dirty="0"/>
          </a:p>
        </p:txBody>
      </p:sp>
      <p:sp>
        <p:nvSpPr>
          <p:cNvPr id="16" name="Text 11"/>
          <p:cNvSpPr txBox="1"/>
          <p:nvPr/>
        </p:nvSpPr>
        <p:spPr>
          <a:xfrm>
            <a:off x="7444588" y="2514600"/>
            <a:ext cx="4015588" cy="548640"/>
          </a:xfrm>
          <a:prstGeom prst="rect">
            <a:avLst/>
          </a:prstGeom>
          <a:noFill/>
          <a:ln/>
        </p:spPr>
        <p:txBody>
          <a:bodyPr wrap="square" lIns="0" tIns="0" rIns="0" bIns="0" rtlCol="0" anchor="t"/>
          <a:lstStyle/>
          <a:p>
            <a:pPr indent="0" marL="0">
              <a:buNone/>
            </a:pPr>
            <a:r>
              <a:rPr lang="en-US" sz="1600" dirty="0">
                <a:solidFill>
                  <a:srgbClr val="526066"/>
                </a:solidFill>
                <a:latin typeface="Arial" pitchFamily="34" charset="0"/>
                <a:ea typeface="Arial" pitchFamily="34" charset="-122"/>
                <a:cs typeface="Arial" pitchFamily="34" charset="-120"/>
              </a:rPr>
              <a:t>Sensordata, GDPR, skalering</a:t>
            </a:r>
            <a:endParaRPr lang="en-US" sz="1600" dirty="0"/>
          </a:p>
        </p:txBody>
      </p:sp>
      <p:sp>
        <p:nvSpPr>
          <p:cNvPr id="17" name="Shape 12"/>
          <p:cNvSpPr/>
          <p:nvPr/>
        </p:nvSpPr>
        <p:spPr>
          <a:xfrm>
            <a:off x="548640" y="3520440"/>
            <a:ext cx="5387188" cy="1600200"/>
          </a:xfrm>
          <a:prstGeom prst="roundRect">
            <a:avLst>
              <a:gd name="adj" fmla="val 6857"/>
            </a:avLst>
          </a:prstGeom>
          <a:solidFill>
            <a:srgbClr val="FCFDFD"/>
          </a:solidFill>
          <a:ln w="9525">
            <a:solidFill>
              <a:srgbClr val="DDE4E6"/>
            </a:solidFill>
            <a:prstDash val="solid"/>
          </a:ln>
        </p:spPr>
      </p:sp>
      <p:sp>
        <p:nvSpPr>
          <p:cNvPr id="18" name="Shape 13"/>
          <p:cNvSpPr/>
          <p:nvPr/>
        </p:nvSpPr>
        <p:spPr>
          <a:xfrm>
            <a:off x="822960" y="3977640"/>
            <a:ext cx="685800" cy="685800"/>
          </a:xfrm>
          <a:prstGeom prst="ellipse">
            <a:avLst/>
          </a:prstGeom>
          <a:solidFill>
            <a:srgbClr val="2F6B3A"/>
          </a:solidFill>
          <a:ln w="12700">
            <a:solidFill>
              <a:srgbClr val="2F6B3A"/>
            </a:solidFill>
            <a:prstDash val="solid"/>
          </a:ln>
        </p:spPr>
      </p:sp>
      <p:pic>
        <p:nvPicPr>
          <p:cNvPr id="19" name="Image 2" descr="preencoded.png">    </p:cNvPr>
          <p:cNvPicPr>
            <a:picLocks noChangeAspect="1"/>
          </p:cNvPicPr>
          <p:nvPr/>
        </p:nvPicPr>
        <p:blipFill>
          <a:blip r:embed="rId3"/>
          <a:stretch>
            <a:fillRect/>
          </a:stretch>
        </p:blipFill>
        <p:spPr>
          <a:xfrm>
            <a:off x="987552" y="4142232"/>
            <a:ext cx="356616" cy="356616"/>
          </a:xfrm>
          <a:prstGeom prst="rect">
            <a:avLst/>
          </a:prstGeom>
        </p:spPr>
      </p:pic>
      <p:sp>
        <p:nvSpPr>
          <p:cNvPr id="20" name="Text 14"/>
          <p:cNvSpPr txBox="1"/>
          <p:nvPr/>
        </p:nvSpPr>
        <p:spPr>
          <a:xfrm>
            <a:off x="1737360" y="3840480"/>
            <a:ext cx="4015588" cy="45720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Partnere og leverandører</a:t>
            </a:r>
            <a:endParaRPr lang="en-US" sz="1900" dirty="0"/>
          </a:p>
        </p:txBody>
      </p:sp>
      <p:sp>
        <p:nvSpPr>
          <p:cNvPr id="21" name="Text 15"/>
          <p:cNvSpPr txBox="1"/>
          <p:nvPr/>
        </p:nvSpPr>
        <p:spPr>
          <a:xfrm>
            <a:off x="1737360" y="4343400"/>
            <a:ext cx="4015588" cy="548640"/>
          </a:xfrm>
          <a:prstGeom prst="rect">
            <a:avLst/>
          </a:prstGeom>
          <a:noFill/>
          <a:ln/>
        </p:spPr>
        <p:txBody>
          <a:bodyPr wrap="square" lIns="0" tIns="0" rIns="0" bIns="0" rtlCol="0" anchor="t"/>
          <a:lstStyle/>
          <a:p>
            <a:pPr indent="0" marL="0">
              <a:buNone/>
            </a:pPr>
            <a:r>
              <a:rPr lang="en-US" sz="1600" dirty="0">
                <a:solidFill>
                  <a:srgbClr val="526066"/>
                </a:solidFill>
                <a:latin typeface="Arial" pitchFamily="34" charset="0"/>
                <a:ea typeface="Arial" pitchFamily="34" charset="-122"/>
                <a:cs typeface="Arial" pitchFamily="34" charset="-120"/>
              </a:rPr>
              <a:t>Deres nedetid er vores</a:t>
            </a:r>
            <a:endParaRPr lang="en-US" sz="1600" dirty="0"/>
          </a:p>
        </p:txBody>
      </p:sp>
      <p:sp>
        <p:nvSpPr>
          <p:cNvPr id="22" name="Shape 16"/>
          <p:cNvSpPr/>
          <p:nvPr/>
        </p:nvSpPr>
        <p:spPr>
          <a:xfrm>
            <a:off x="6255868" y="3520440"/>
            <a:ext cx="5387188" cy="1600200"/>
          </a:xfrm>
          <a:prstGeom prst="roundRect">
            <a:avLst>
              <a:gd name="adj" fmla="val 6857"/>
            </a:avLst>
          </a:prstGeom>
          <a:solidFill>
            <a:srgbClr val="FCFDFD"/>
          </a:solidFill>
          <a:ln w="9525">
            <a:solidFill>
              <a:srgbClr val="DDE4E6"/>
            </a:solidFill>
            <a:prstDash val="solid"/>
          </a:ln>
        </p:spPr>
      </p:sp>
      <p:sp>
        <p:nvSpPr>
          <p:cNvPr id="23" name="Shape 17"/>
          <p:cNvSpPr/>
          <p:nvPr/>
        </p:nvSpPr>
        <p:spPr>
          <a:xfrm>
            <a:off x="6530188" y="3977640"/>
            <a:ext cx="685800" cy="685800"/>
          </a:xfrm>
          <a:prstGeom prst="ellipse">
            <a:avLst/>
          </a:prstGeom>
          <a:solidFill>
            <a:srgbClr val="2F6B3A"/>
          </a:solidFill>
          <a:ln w="12700">
            <a:solidFill>
              <a:srgbClr val="2F6B3A"/>
            </a:solidFill>
            <a:prstDash val="solid"/>
          </a:ln>
        </p:spPr>
      </p:sp>
      <p:pic>
        <p:nvPicPr>
          <p:cNvPr id="24" name="Image 3" descr="preencoded.png">    </p:cNvPr>
          <p:cNvPicPr>
            <a:picLocks noChangeAspect="1"/>
          </p:cNvPicPr>
          <p:nvPr/>
        </p:nvPicPr>
        <p:blipFill>
          <a:blip r:embed="rId4"/>
          <a:stretch>
            <a:fillRect/>
          </a:stretch>
        </p:blipFill>
        <p:spPr>
          <a:xfrm>
            <a:off x="6694780" y="4142232"/>
            <a:ext cx="356616" cy="356616"/>
          </a:xfrm>
          <a:prstGeom prst="rect">
            <a:avLst/>
          </a:prstGeom>
        </p:spPr>
      </p:pic>
      <p:sp>
        <p:nvSpPr>
          <p:cNvPr id="25" name="Text 18"/>
          <p:cNvSpPr txBox="1"/>
          <p:nvPr/>
        </p:nvSpPr>
        <p:spPr>
          <a:xfrm>
            <a:off x="7444588" y="3840480"/>
            <a:ext cx="4015588" cy="457200"/>
          </a:xfrm>
          <a:prstGeom prst="rect">
            <a:avLst/>
          </a:prstGeom>
          <a:noFill/>
          <a:ln/>
        </p:spPr>
        <p:txBody>
          <a:bodyPr wrap="square" lIns="0" tIns="0" rIns="0" bIns="0" rtlCol="0" anchor="t"/>
          <a:lstStyle/>
          <a:p>
            <a:pPr indent="0" marL="0">
              <a:buNone/>
            </a:pPr>
            <a:r>
              <a:rPr lang="en-US" sz="1900" b="1" dirty="0">
                <a:solidFill>
                  <a:srgbClr val="17221A"/>
                </a:solidFill>
                <a:latin typeface="Arial" pitchFamily="34" charset="0"/>
                <a:ea typeface="Arial" pitchFamily="34" charset="-122"/>
                <a:cs typeface="Arial" pitchFamily="34" charset="-120"/>
              </a:rPr>
              <a:t>Værdistrømme og processer</a:t>
            </a:r>
            <a:endParaRPr lang="en-US" sz="1900" dirty="0"/>
          </a:p>
        </p:txBody>
      </p:sp>
      <p:sp>
        <p:nvSpPr>
          <p:cNvPr id="26" name="Text 19"/>
          <p:cNvSpPr txBox="1"/>
          <p:nvPr/>
        </p:nvSpPr>
        <p:spPr>
          <a:xfrm>
            <a:off x="7444588" y="4343400"/>
            <a:ext cx="4015588" cy="548640"/>
          </a:xfrm>
          <a:prstGeom prst="rect">
            <a:avLst/>
          </a:prstGeom>
          <a:noFill/>
          <a:ln/>
        </p:spPr>
        <p:txBody>
          <a:bodyPr wrap="square" lIns="0" tIns="0" rIns="0" bIns="0" rtlCol="0" anchor="t"/>
          <a:lstStyle/>
          <a:p>
            <a:pPr indent="0" marL="0">
              <a:buNone/>
            </a:pPr>
            <a:r>
              <a:rPr lang="en-US" sz="1600" dirty="0">
                <a:solidFill>
                  <a:srgbClr val="526066"/>
                </a:solidFill>
                <a:latin typeface="Arial" pitchFamily="34" charset="0"/>
                <a:ea typeface="Arial" pitchFamily="34" charset="-122"/>
                <a:cs typeface="Arial" pitchFamily="34" charset="-120"/>
              </a:rPr>
              <a:t>Ventetid i overgangene</a:t>
            </a:r>
            <a:endParaRPr lang="en-US" sz="1600" dirty="0"/>
          </a:p>
        </p:txBody>
      </p:sp>
      <p:sp>
        <p:nvSpPr>
          <p:cNvPr id="27" name="Shape 20"/>
          <p:cNvSpPr/>
          <p:nvPr/>
        </p:nvSpPr>
        <p:spPr>
          <a:xfrm>
            <a:off x="548640" y="5440680"/>
            <a:ext cx="11094415" cy="685800"/>
          </a:xfrm>
          <a:prstGeom prst="roundRect">
            <a:avLst>
              <a:gd name="adj" fmla="val 16000"/>
            </a:avLst>
          </a:prstGeom>
          <a:solidFill>
            <a:srgbClr val="E9F4EA"/>
          </a:solidFill>
          <a:ln w="9525">
            <a:solidFill>
              <a:srgbClr val="A9D3B0"/>
            </a:solidFill>
            <a:prstDash val="solid"/>
          </a:ln>
        </p:spPr>
      </p:sp>
      <p:sp>
        <p:nvSpPr>
          <p:cNvPr id="28" name="Text 21"/>
          <p:cNvSpPr txBox="1"/>
          <p:nvPr/>
        </p:nvSpPr>
        <p:spPr>
          <a:xfrm>
            <a:off x="822960" y="5440680"/>
            <a:ext cx="10545775" cy="685800"/>
          </a:xfrm>
          <a:prstGeom prst="rect">
            <a:avLst/>
          </a:prstGeom>
          <a:noFill/>
          <a:ln/>
        </p:spPr>
        <p:txBody>
          <a:bodyPr wrap="square" lIns="0" tIns="0" rIns="0" bIns="0" rtlCol="0" anchor="ctr"/>
          <a:lstStyle/>
          <a:p>
            <a:pPr indent="0" marL="0">
              <a:buNone/>
            </a:pPr>
            <a:r>
              <a:rPr lang="en-US" sz="1600" b="1" dirty="0">
                <a:solidFill>
                  <a:srgbClr val="1E4A26"/>
                </a:solidFill>
                <a:latin typeface="Arial" pitchFamily="34" charset="0"/>
                <a:ea typeface="Arial" pitchFamily="34" charset="-122"/>
                <a:cs typeface="Arial" pitchFamily="34" charset="-120"/>
              </a:rPr>
              <a:t>Udenfor  </a:t>
            </a:r>
            <a:pPr indent="0" marL="0">
              <a:buNone/>
            </a:pPr>
            <a:r>
              <a:rPr lang="en-US" sz="1600" dirty="0">
                <a:solidFill>
                  <a:srgbClr val="1E4A26"/>
                </a:solidFill>
                <a:latin typeface="Arial" pitchFamily="34" charset="0"/>
                <a:ea typeface="Arial" pitchFamily="34" charset="-122"/>
                <a:cs typeface="Arial" pitchFamily="34" charset="-120"/>
              </a:rPr>
              <a:t>GDPR, NIS2 og krav om bæredygtighed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Green-IT, Hans Petur</dc:title>
  <dc:subject>PptxGenJS Presentation</dc:subject>
  <dc:creator>Hans Petur vid Streym Hansen</dc:creator>
  <cp:lastModifiedBy>Hans Petur vid Streym Hansen</cp:lastModifiedBy>
  <cp:revision>1</cp:revision>
  <dcterms:created xsi:type="dcterms:W3CDTF">2026-10-08T07:34:19Z</dcterms:created>
  <dcterms:modified xsi:type="dcterms:W3CDTF">2026-10-08T07:34:19Z</dcterms:modified>
</cp:coreProperties>
</file>